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71" r:id="rId10"/>
    <p:sldId id="272" r:id="rId11"/>
    <p:sldId id="273" r:id="rId12"/>
    <p:sldId id="274" r:id="rId14"/>
    <p:sldId id="262" r:id="rId15"/>
    <p:sldId id="276" r:id="rId16"/>
    <p:sldId id="277" r:id="rId17"/>
    <p:sldId id="264" r:id="rId18"/>
    <p:sldId id="278" r:id="rId19"/>
    <p:sldId id="280" r:id="rId20"/>
    <p:sldId id="266" r:id="rId2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609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1219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8281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24377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30473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36569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42665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4876165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F26F2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1pPr>
    <a:lvl2pPr indent="2286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2pPr>
    <a:lvl3pPr indent="4572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3pPr>
    <a:lvl4pPr indent="6858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4pPr>
    <a:lvl5pPr indent="9144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5pPr>
    <a:lvl6pPr indent="11430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6pPr>
    <a:lvl7pPr indent="13716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7pPr>
    <a:lvl8pPr indent="16002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8pPr>
    <a:lvl9pPr indent="1828800" defTabSz="1219200" latinLnBrk="0">
      <a:defRPr sz="1600">
        <a:solidFill>
          <a:schemeClr val="accent6"/>
        </a:solidFill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6768" y="116632"/>
            <a:ext cx="1834534" cy="44493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文本"/>
          <p:cNvSpPr txBox="1"/>
          <p:nvPr>
            <p:ph type="title" hasCustomPrompt="1"/>
          </p:nvPr>
        </p:nvSpPr>
        <p:spPr>
          <a:xfrm>
            <a:off x="1523603" y="1122362"/>
            <a:ext cx="9141619" cy="2387601"/>
          </a:xfrm>
          <a:prstGeom prst="rect">
            <a:avLst/>
          </a:prstGeom>
        </p:spPr>
        <p:txBody>
          <a:bodyPr anchor="b">
            <a:normAutofit/>
          </a:bodyPr>
          <a:lstStyle>
            <a:lvl1pPr defTabSz="914400">
              <a:lnSpc>
                <a:spcPct val="90000"/>
              </a:lnSpc>
              <a:defRPr sz="59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28" name="正文级别 1…"/>
          <p:cNvSpPr txBox="1"/>
          <p:nvPr>
            <p:ph type="body" sz="quarter" idx="1" hasCustomPrompt="1"/>
          </p:nvPr>
        </p:nvSpPr>
        <p:spPr>
          <a:xfrm>
            <a:off x="1523603" y="3602037"/>
            <a:ext cx="9141619" cy="16557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>
              <a:lnSpc>
                <a:spcPct val="90000"/>
              </a:lnSpc>
              <a:buSzTx/>
              <a:buFontTx/>
              <a:buNone/>
              <a:defRPr sz="2300">
                <a:solidFill>
                  <a:schemeClr val="accent6"/>
                </a:solidFill>
              </a:defRPr>
            </a:lvl1pPr>
            <a:lvl2pPr marL="0" indent="457200" algn="ctr" defTabSz="914400">
              <a:lnSpc>
                <a:spcPct val="90000"/>
              </a:lnSpc>
              <a:buSzTx/>
              <a:buFontTx/>
              <a:buNone/>
              <a:defRPr sz="2300">
                <a:solidFill>
                  <a:schemeClr val="accent6"/>
                </a:solidFill>
              </a:defRPr>
            </a:lvl2pPr>
            <a:lvl3pPr marL="0" indent="914400" algn="ctr" defTabSz="914400">
              <a:lnSpc>
                <a:spcPct val="90000"/>
              </a:lnSpc>
              <a:buSzTx/>
              <a:buFontTx/>
              <a:buNone/>
              <a:defRPr sz="2300">
                <a:solidFill>
                  <a:schemeClr val="accent6"/>
                </a:solidFill>
              </a:defRPr>
            </a:lvl3pPr>
            <a:lvl4pPr marL="0" indent="1370965" algn="ctr" defTabSz="914400">
              <a:lnSpc>
                <a:spcPct val="90000"/>
              </a:lnSpc>
              <a:buSzTx/>
              <a:buFontTx/>
              <a:buNone/>
              <a:defRPr sz="2300">
                <a:solidFill>
                  <a:schemeClr val="accent6"/>
                </a:solidFill>
              </a:defRPr>
            </a:lvl4pPr>
            <a:lvl5pPr marL="0" indent="1828165" algn="ctr" defTabSz="914400">
              <a:lnSpc>
                <a:spcPct val="90000"/>
              </a:lnSpc>
              <a:buSzTx/>
              <a:buFontTx/>
              <a:buNone/>
              <a:defRPr sz="2300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9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文本"/>
          <p:cNvSpPr txBox="1"/>
          <p:nvPr>
            <p:ph type="title" hasCustomPrompt="1"/>
          </p:nvPr>
        </p:nvSpPr>
        <p:spPr>
          <a:xfrm>
            <a:off x="837981" y="365125"/>
            <a:ext cx="10512864" cy="13255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defRPr sz="43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37" name="正文级别 1…"/>
          <p:cNvSpPr txBox="1"/>
          <p:nvPr>
            <p:ph type="body" idx="1" hasCustomPrompt="1"/>
          </p:nvPr>
        </p:nvSpPr>
        <p:spPr>
          <a:xfrm>
            <a:off x="837981" y="1825625"/>
            <a:ext cx="10512864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defTabSz="914400">
              <a:lnSpc>
                <a:spcPct val="90000"/>
              </a:lnSpc>
              <a:defRPr sz="2700">
                <a:solidFill>
                  <a:schemeClr val="accent6"/>
                </a:solidFill>
              </a:defRPr>
            </a:lvl1pPr>
            <a:lvl2pPr marL="725170" indent="-26797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2pPr>
            <a:lvl3pPr marL="1238885" indent="-324485" defTabSz="914400">
              <a:lnSpc>
                <a:spcPct val="90000"/>
              </a:lnSpc>
              <a:defRPr sz="2700">
                <a:solidFill>
                  <a:schemeClr val="accent6"/>
                </a:solidFill>
              </a:defRPr>
            </a:lvl3pPr>
            <a:lvl4pPr marL="1734185" indent="-36322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4pPr>
            <a:lvl5pPr marL="2191385" indent="-36322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8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文本"/>
          <p:cNvSpPr txBox="1"/>
          <p:nvPr>
            <p:ph type="title" hasCustomPrompt="1"/>
          </p:nvPr>
        </p:nvSpPr>
        <p:spPr>
          <a:xfrm>
            <a:off x="831632" y="1709739"/>
            <a:ext cx="10512864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>
              <a:lnSpc>
                <a:spcPct val="90000"/>
              </a:lnSpc>
              <a:defRPr sz="59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46" name="正文级别 1…"/>
          <p:cNvSpPr txBox="1"/>
          <p:nvPr>
            <p:ph type="body" sz="quarter" idx="1" hasCustomPrompt="1"/>
          </p:nvPr>
        </p:nvSpPr>
        <p:spPr>
          <a:xfrm>
            <a:off x="831632" y="4589464"/>
            <a:ext cx="10512864" cy="15001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914400">
              <a:lnSpc>
                <a:spcPct val="90000"/>
              </a:lnSpc>
              <a:buSzTx/>
              <a:buFontTx/>
              <a:buNone/>
              <a:defRPr sz="2300">
                <a:solidFill>
                  <a:srgbClr val="888888"/>
                </a:solidFill>
              </a:defRPr>
            </a:lvl1pPr>
            <a:lvl2pPr marL="0" indent="457200" defTabSz="914400">
              <a:lnSpc>
                <a:spcPct val="90000"/>
              </a:lnSpc>
              <a:buSzTx/>
              <a:buFontTx/>
              <a:buNone/>
              <a:defRPr sz="2300">
                <a:solidFill>
                  <a:srgbClr val="888888"/>
                </a:solidFill>
              </a:defRPr>
            </a:lvl2pPr>
            <a:lvl3pPr marL="0" indent="914400" defTabSz="914400">
              <a:lnSpc>
                <a:spcPct val="90000"/>
              </a:lnSpc>
              <a:buSzTx/>
              <a:buFontTx/>
              <a:buNone/>
              <a:defRPr sz="2300">
                <a:solidFill>
                  <a:srgbClr val="888888"/>
                </a:solidFill>
              </a:defRPr>
            </a:lvl3pPr>
            <a:lvl4pPr marL="0" indent="1370965" defTabSz="914400">
              <a:lnSpc>
                <a:spcPct val="90000"/>
              </a:lnSpc>
              <a:buSzTx/>
              <a:buFontTx/>
              <a:buNone/>
              <a:defRPr sz="2300">
                <a:solidFill>
                  <a:srgbClr val="888888"/>
                </a:solidFill>
              </a:defRPr>
            </a:lvl4pPr>
            <a:lvl5pPr marL="0" indent="1828165" defTabSz="914400">
              <a:lnSpc>
                <a:spcPct val="90000"/>
              </a:lnSpc>
              <a:buSzTx/>
              <a:buFontTx/>
              <a:buNone/>
              <a:defRPr sz="23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7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标题文本"/>
          <p:cNvSpPr txBox="1"/>
          <p:nvPr>
            <p:ph type="title" hasCustomPrompt="1"/>
          </p:nvPr>
        </p:nvSpPr>
        <p:spPr>
          <a:xfrm>
            <a:off x="837981" y="365125"/>
            <a:ext cx="10512864" cy="13255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defRPr sz="43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55" name="正文级别 1…"/>
          <p:cNvSpPr txBox="1"/>
          <p:nvPr>
            <p:ph type="body" sz="half" idx="1" hasCustomPrompt="1"/>
          </p:nvPr>
        </p:nvSpPr>
        <p:spPr>
          <a:xfrm>
            <a:off x="837981" y="1825625"/>
            <a:ext cx="5180252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defTabSz="914400">
              <a:lnSpc>
                <a:spcPct val="90000"/>
              </a:lnSpc>
              <a:defRPr sz="2700">
                <a:solidFill>
                  <a:schemeClr val="accent6"/>
                </a:solidFill>
              </a:defRPr>
            </a:lvl1pPr>
            <a:lvl2pPr marL="725170" indent="-26797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2pPr>
            <a:lvl3pPr marL="1238885" indent="-324485" defTabSz="914400">
              <a:lnSpc>
                <a:spcPct val="90000"/>
              </a:lnSpc>
              <a:defRPr sz="2700">
                <a:solidFill>
                  <a:schemeClr val="accent6"/>
                </a:solidFill>
              </a:defRPr>
            </a:lvl3pPr>
            <a:lvl4pPr marL="1734185" indent="-36322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4pPr>
            <a:lvl5pPr marL="2191385" indent="-363220" defTabSz="914400">
              <a:lnSpc>
                <a:spcPct val="90000"/>
              </a:lnSpc>
              <a:buChar char="•"/>
              <a:defRPr sz="2700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6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标题文本"/>
          <p:cNvSpPr txBox="1"/>
          <p:nvPr>
            <p:ph type="title" hasCustomPrompt="1"/>
          </p:nvPr>
        </p:nvSpPr>
        <p:spPr>
          <a:xfrm>
            <a:off x="839569" y="365125"/>
            <a:ext cx="10512863" cy="13255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defRPr sz="43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64" name="正文级别 1…"/>
          <p:cNvSpPr txBox="1"/>
          <p:nvPr>
            <p:ph type="body" sz="quarter" idx="1" hasCustomPrompt="1"/>
          </p:nvPr>
        </p:nvSpPr>
        <p:spPr>
          <a:xfrm>
            <a:off x="839569" y="1681163"/>
            <a:ext cx="5156446" cy="8239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lvl1pPr>
            <a:lvl2pPr marL="0" indent="457200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lvl2pPr>
            <a:lvl3pPr marL="0" indent="914400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lvl3pPr>
            <a:lvl4pPr marL="0" indent="1370965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lvl4pPr>
            <a:lvl5pPr marL="0" indent="1828165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5" name="Text Placeholder 4"/>
          <p:cNvSpPr/>
          <p:nvPr>
            <p:ph type="body" sz="quarter" idx="21"/>
          </p:nvPr>
        </p:nvSpPr>
        <p:spPr>
          <a:xfrm>
            <a:off x="6170593" y="1681163"/>
            <a:ext cx="5181839" cy="823913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 defTabSz="914400">
              <a:lnSpc>
                <a:spcPct val="90000"/>
              </a:lnSpc>
              <a:buSzTx/>
              <a:buFontTx/>
              <a:buNone/>
              <a:defRPr sz="2300" b="1">
                <a:solidFill>
                  <a:schemeClr val="accent6"/>
                </a:solidFill>
              </a:defRPr>
            </a:pPr>
          </a:p>
        </p:txBody>
      </p:sp>
      <p:sp>
        <p:nvSpPr>
          <p:cNvPr id="66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标题文本"/>
          <p:cNvSpPr txBox="1"/>
          <p:nvPr>
            <p:ph type="title" hasCustomPrompt="1"/>
          </p:nvPr>
        </p:nvSpPr>
        <p:spPr>
          <a:xfrm>
            <a:off x="837981" y="365125"/>
            <a:ext cx="10512864" cy="13255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defRPr sz="43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文本"/>
          <p:cNvSpPr txBox="1"/>
          <p:nvPr>
            <p:ph type="title" hasCustomPrompt="1"/>
          </p:nvPr>
        </p:nvSpPr>
        <p:spPr>
          <a:xfrm>
            <a:off x="839569" y="457200"/>
            <a:ext cx="3931215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>
              <a:lnSpc>
                <a:spcPct val="90000"/>
              </a:lnSpc>
              <a:defRPr sz="31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89" name="正文级别 1…"/>
          <p:cNvSpPr txBox="1"/>
          <p:nvPr>
            <p:ph type="body" sz="half" idx="1" hasCustomPrompt="1"/>
          </p:nvPr>
        </p:nvSpPr>
        <p:spPr>
          <a:xfrm>
            <a:off x="5181837" y="987425"/>
            <a:ext cx="6170595" cy="487362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defTabSz="914400">
              <a:lnSpc>
                <a:spcPct val="90000"/>
              </a:lnSpc>
              <a:defRPr sz="3100">
                <a:solidFill>
                  <a:schemeClr val="accent6"/>
                </a:solidFill>
              </a:defRPr>
            </a:lvl1pPr>
            <a:lvl2pPr marL="719455" indent="-262255" defTabSz="914400">
              <a:lnSpc>
                <a:spcPct val="90000"/>
              </a:lnSpc>
              <a:buChar char="•"/>
              <a:defRPr sz="3100">
                <a:solidFill>
                  <a:schemeClr val="accent6"/>
                </a:solidFill>
              </a:defRPr>
            </a:lvl2pPr>
            <a:lvl3pPr marL="1222375" indent="-307975" defTabSz="914400">
              <a:lnSpc>
                <a:spcPct val="90000"/>
              </a:lnSpc>
              <a:defRPr sz="3100">
                <a:solidFill>
                  <a:schemeClr val="accent6"/>
                </a:solidFill>
              </a:defRPr>
            </a:lvl3pPr>
            <a:lvl4pPr marL="1744345" indent="-372745" defTabSz="914400">
              <a:lnSpc>
                <a:spcPct val="90000"/>
              </a:lnSpc>
              <a:buChar char="•"/>
              <a:defRPr sz="3100">
                <a:solidFill>
                  <a:schemeClr val="accent6"/>
                </a:solidFill>
              </a:defRPr>
            </a:lvl4pPr>
            <a:lvl5pPr marL="2200910" indent="-372745" defTabSz="914400">
              <a:lnSpc>
                <a:spcPct val="90000"/>
              </a:lnSpc>
              <a:buChar char="•"/>
              <a:defRPr sz="3100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0" name="Text Placeholder 3"/>
          <p:cNvSpPr/>
          <p:nvPr>
            <p:ph type="body" sz="quarter" idx="21"/>
          </p:nvPr>
        </p:nvSpPr>
        <p:spPr>
          <a:xfrm>
            <a:off x="839569" y="2057400"/>
            <a:ext cx="3931215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pPr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标题文本"/>
          <p:cNvSpPr txBox="1"/>
          <p:nvPr>
            <p:ph type="title" hasCustomPrompt="1"/>
          </p:nvPr>
        </p:nvSpPr>
        <p:spPr>
          <a:xfrm>
            <a:off x="839569" y="457200"/>
            <a:ext cx="3931215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>
              <a:lnSpc>
                <a:spcPct val="90000"/>
              </a:lnSpc>
              <a:defRPr sz="3100">
                <a:solidFill>
                  <a:schemeClr val="accent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  <p:sp>
        <p:nvSpPr>
          <p:cNvPr id="99" name="Picture Placeholder 2"/>
          <p:cNvSpPr/>
          <p:nvPr>
            <p:ph type="pic" sz="half" idx="21"/>
          </p:nvPr>
        </p:nvSpPr>
        <p:spPr>
          <a:xfrm>
            <a:off x="5181837" y="987425"/>
            <a:ext cx="6170595" cy="4873626"/>
          </a:xfrm>
          <a:prstGeom prst="rect">
            <a:avLst/>
          </a:prstGeom>
        </p:spPr>
        <p:txBody>
          <a:bodyPr lIns="91439" rIns="91439"/>
          <a:lstStyle/>
          <a:p/>
        </p:txBody>
      </p:sp>
      <p:sp>
        <p:nvSpPr>
          <p:cNvPr id="100" name="正文级别 1…"/>
          <p:cNvSpPr txBox="1"/>
          <p:nvPr>
            <p:ph type="body" sz="quarter" idx="1" hasCustomPrompt="1"/>
          </p:nvPr>
        </p:nvSpPr>
        <p:spPr>
          <a:xfrm>
            <a:off x="839569" y="2057400"/>
            <a:ext cx="3931215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lvl1pPr>
            <a:lvl2pPr marL="0" indent="457200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lvl2pPr>
            <a:lvl3pPr marL="0" indent="914400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lvl3pPr>
            <a:lvl4pPr marL="0" indent="1370965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lvl4pPr>
            <a:lvl5pPr marL="0" indent="1828165" defTabSz="914400">
              <a:lnSpc>
                <a:spcPct val="90000"/>
              </a:lnSpc>
              <a:buSzTx/>
              <a:buFontTx/>
              <a:buNone/>
              <a:defRPr sz="1600">
                <a:solidFill>
                  <a:schemeClr val="accent6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xfrm>
            <a:off x="11092219" y="6414761"/>
            <a:ext cx="258624" cy="24830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Picture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标题文本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幻灯片编号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0" marR="0" indent="609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0" marR="0" indent="1219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0" marR="0" indent="1828165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0" marR="0" indent="2437765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8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9pPr>
    </p:titleStyle>
    <p:bodyStyle>
      <a:lvl1pPr marL="457200" marR="0" indent="-45720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1pPr>
      <a:lvl2pPr marL="1042035" marR="0" indent="-43243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–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2pPr>
      <a:lvl3pPr marL="1631950" marR="0" indent="-412750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3pPr>
      <a:lvl4pPr marL="2320290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–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4pPr>
      <a:lvl5pPr marL="2929890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»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5pPr>
      <a:lvl6pPr marL="3539490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6pPr>
      <a:lvl7pPr marL="4149090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7pPr>
      <a:lvl8pPr marL="4758690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8pPr>
      <a:lvl9pPr marL="5367655" marR="0" indent="-492125" algn="l" defTabSz="914400" rtl="0" latinLnBrk="0">
        <a:lnSpc>
          <a:spcPct val="10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4200" b="0" i="0" u="none" strike="noStrike" cap="none" spc="0" baseline="0">
          <a:solidFill>
            <a:srgbClr val="F26F20"/>
          </a:solidFill>
          <a:uFillTx/>
          <a:latin typeface="+mj-lt"/>
          <a:ea typeface="+mj-ea"/>
          <a:cs typeface="+mj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609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1219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8281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24377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30473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36569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42665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4876165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矩形 3"/>
          <p:cNvSpPr/>
          <p:nvPr/>
        </p:nvSpPr>
        <p:spPr>
          <a:xfrm>
            <a:off x="0" y="1556791"/>
            <a:ext cx="12188825" cy="2664298"/>
          </a:xfrm>
          <a:prstGeom prst="rect">
            <a:avLst/>
          </a:prstGeom>
          <a:solidFill>
            <a:srgbClr val="F26F20"/>
          </a:solidFill>
          <a:ln w="12700">
            <a:miter lim="400000"/>
          </a:ln>
          <a:effectLst>
            <a:outerShdw blurRad="50800" dist="38100" dir="5400000" rotWithShape="0">
              <a:schemeClr val="accent6">
                <a:alpha val="2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grpSp>
        <p:nvGrpSpPr>
          <p:cNvPr id="113" name="组合 10"/>
          <p:cNvGrpSpPr/>
          <p:nvPr/>
        </p:nvGrpSpPr>
        <p:grpSpPr>
          <a:xfrm>
            <a:off x="765820" y="746483"/>
            <a:ext cx="4032450" cy="4033908"/>
            <a:chOff x="0" y="0"/>
            <a:chExt cx="4032448" cy="4033906"/>
          </a:xfrm>
        </p:grpSpPr>
        <p:sp>
          <p:nvSpPr>
            <p:cNvPr id="111" name="同心圆 11"/>
            <p:cNvSpPr/>
            <p:nvPr/>
          </p:nvSpPr>
          <p:spPr>
            <a:xfrm>
              <a:off x="-1" y="-1"/>
              <a:ext cx="4032450" cy="4033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54" y="10800"/>
                  </a:moveTo>
                  <a:cubicBezTo>
                    <a:pt x="1054" y="16183"/>
                    <a:pt x="5417" y="20547"/>
                    <a:pt x="10800" y="20547"/>
                  </a:cubicBezTo>
                  <a:cubicBezTo>
                    <a:pt x="16183" y="20547"/>
                    <a:pt x="20546" y="16183"/>
                    <a:pt x="20546" y="10800"/>
                  </a:cubicBezTo>
                  <a:cubicBezTo>
                    <a:pt x="20546" y="5417"/>
                    <a:pt x="16183" y="1053"/>
                    <a:pt x="10800" y="1053"/>
                  </a:cubicBezTo>
                  <a:cubicBezTo>
                    <a:pt x="5417" y="1053"/>
                    <a:pt x="1054" y="5417"/>
                    <a:pt x="1054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5000">
                  <a:srgbClr val="F2F2F2"/>
                </a:gs>
                <a:gs pos="100000">
                  <a:schemeClr val="accent3">
                    <a:lumOff val="34999"/>
                  </a:schemeClr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112" name="椭圆 12"/>
            <p:cNvSpPr/>
            <p:nvPr/>
          </p:nvSpPr>
          <p:spPr>
            <a:xfrm>
              <a:off x="88009" y="88041"/>
              <a:ext cx="3856429" cy="3857821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grpSp>
        <p:nvGrpSpPr>
          <p:cNvPr id="116" name="Group 13"/>
          <p:cNvGrpSpPr/>
          <p:nvPr/>
        </p:nvGrpSpPr>
        <p:grpSpPr>
          <a:xfrm>
            <a:off x="9490777" y="6022959"/>
            <a:ext cx="380507" cy="380106"/>
            <a:chOff x="-9" y="-9"/>
            <a:chExt cx="380505" cy="380105"/>
          </a:xfrm>
        </p:grpSpPr>
        <p:sp>
          <p:nvSpPr>
            <p:cNvPr id="114" name="AutoShape 14"/>
            <p:cNvSpPr/>
            <p:nvPr/>
          </p:nvSpPr>
          <p:spPr>
            <a:xfrm>
              <a:off x="-10" y="-10"/>
              <a:ext cx="380506" cy="3801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>
              <a:outerShdw blurRad="88900" dist="38100" dir="7680000" rotWithShape="0">
                <a:schemeClr val="accent6">
                  <a:alpha val="31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15" name="AutoShape 15"/>
            <p:cNvSpPr/>
            <p:nvPr/>
          </p:nvSpPr>
          <p:spPr>
            <a:xfrm>
              <a:off x="112624" y="111544"/>
              <a:ext cx="155277" cy="15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28" y="11544"/>
                  </a:moveTo>
                  <a:cubicBezTo>
                    <a:pt x="21492" y="11931"/>
                    <a:pt x="21571" y="12338"/>
                    <a:pt x="21571" y="12759"/>
                  </a:cubicBezTo>
                  <a:cubicBezTo>
                    <a:pt x="21571" y="13465"/>
                    <a:pt x="21388" y="14106"/>
                    <a:pt x="21017" y="14679"/>
                  </a:cubicBezTo>
                  <a:cubicBezTo>
                    <a:pt x="21111" y="15216"/>
                    <a:pt x="21077" y="15746"/>
                    <a:pt x="20924" y="16286"/>
                  </a:cubicBezTo>
                  <a:cubicBezTo>
                    <a:pt x="20769" y="16820"/>
                    <a:pt x="20512" y="17288"/>
                    <a:pt x="20141" y="17698"/>
                  </a:cubicBezTo>
                  <a:cubicBezTo>
                    <a:pt x="20105" y="18452"/>
                    <a:pt x="19901" y="19082"/>
                    <a:pt x="19531" y="19581"/>
                  </a:cubicBezTo>
                  <a:cubicBezTo>
                    <a:pt x="19161" y="20081"/>
                    <a:pt x="18700" y="20482"/>
                    <a:pt x="18146" y="20784"/>
                  </a:cubicBezTo>
                  <a:cubicBezTo>
                    <a:pt x="17593" y="21089"/>
                    <a:pt x="16982" y="21298"/>
                    <a:pt x="16321" y="21420"/>
                  </a:cubicBezTo>
                  <a:cubicBezTo>
                    <a:pt x="15660" y="21541"/>
                    <a:pt x="15010" y="21600"/>
                    <a:pt x="14380" y="21600"/>
                  </a:cubicBezTo>
                  <a:cubicBezTo>
                    <a:pt x="13730" y="21600"/>
                    <a:pt x="13077" y="21555"/>
                    <a:pt x="12424" y="21462"/>
                  </a:cubicBezTo>
                  <a:cubicBezTo>
                    <a:pt x="11772" y="21363"/>
                    <a:pt x="11127" y="21236"/>
                    <a:pt x="10497" y="21075"/>
                  </a:cubicBezTo>
                  <a:cubicBezTo>
                    <a:pt x="9864" y="20895"/>
                    <a:pt x="9237" y="20703"/>
                    <a:pt x="8610" y="20494"/>
                  </a:cubicBezTo>
                  <a:cubicBezTo>
                    <a:pt x="7982" y="20287"/>
                    <a:pt x="7341" y="20183"/>
                    <a:pt x="6680" y="20183"/>
                  </a:cubicBezTo>
                  <a:lnTo>
                    <a:pt x="1607" y="20183"/>
                  </a:lnTo>
                  <a:cubicBezTo>
                    <a:pt x="1167" y="20183"/>
                    <a:pt x="785" y="20030"/>
                    <a:pt x="471" y="19714"/>
                  </a:cubicBezTo>
                  <a:cubicBezTo>
                    <a:pt x="158" y="19406"/>
                    <a:pt x="0" y="19025"/>
                    <a:pt x="0" y="18573"/>
                  </a:cubicBezTo>
                  <a:lnTo>
                    <a:pt x="0" y="9880"/>
                  </a:lnTo>
                  <a:cubicBezTo>
                    <a:pt x="0" y="9440"/>
                    <a:pt x="158" y="9064"/>
                    <a:pt x="471" y="8754"/>
                  </a:cubicBezTo>
                  <a:cubicBezTo>
                    <a:pt x="785" y="8440"/>
                    <a:pt x="1167" y="8285"/>
                    <a:pt x="1607" y="8285"/>
                  </a:cubicBezTo>
                  <a:lnTo>
                    <a:pt x="6315" y="8285"/>
                  </a:lnTo>
                  <a:cubicBezTo>
                    <a:pt x="6558" y="8160"/>
                    <a:pt x="6750" y="8022"/>
                    <a:pt x="6897" y="7872"/>
                  </a:cubicBezTo>
                  <a:cubicBezTo>
                    <a:pt x="7041" y="7723"/>
                    <a:pt x="7197" y="7548"/>
                    <a:pt x="7369" y="7342"/>
                  </a:cubicBezTo>
                  <a:cubicBezTo>
                    <a:pt x="7513" y="7161"/>
                    <a:pt x="7663" y="6986"/>
                    <a:pt x="7810" y="6819"/>
                  </a:cubicBezTo>
                  <a:cubicBezTo>
                    <a:pt x="7957" y="6653"/>
                    <a:pt x="8112" y="6483"/>
                    <a:pt x="8276" y="6311"/>
                  </a:cubicBezTo>
                  <a:cubicBezTo>
                    <a:pt x="8570" y="5997"/>
                    <a:pt x="8918" y="5690"/>
                    <a:pt x="9302" y="5385"/>
                  </a:cubicBezTo>
                  <a:cubicBezTo>
                    <a:pt x="9692" y="5085"/>
                    <a:pt x="9989" y="4749"/>
                    <a:pt x="10195" y="4379"/>
                  </a:cubicBezTo>
                  <a:cubicBezTo>
                    <a:pt x="10339" y="4117"/>
                    <a:pt x="10443" y="3826"/>
                    <a:pt x="10506" y="3507"/>
                  </a:cubicBezTo>
                  <a:cubicBezTo>
                    <a:pt x="10565" y="3188"/>
                    <a:pt x="10627" y="2866"/>
                    <a:pt x="10675" y="2538"/>
                  </a:cubicBezTo>
                  <a:cubicBezTo>
                    <a:pt x="10726" y="2216"/>
                    <a:pt x="10780" y="1900"/>
                    <a:pt x="10845" y="1592"/>
                  </a:cubicBezTo>
                  <a:cubicBezTo>
                    <a:pt x="10907" y="1287"/>
                    <a:pt x="11014" y="1016"/>
                    <a:pt x="11161" y="776"/>
                  </a:cubicBezTo>
                  <a:cubicBezTo>
                    <a:pt x="11311" y="536"/>
                    <a:pt x="11523" y="350"/>
                    <a:pt x="11800" y="208"/>
                  </a:cubicBezTo>
                  <a:cubicBezTo>
                    <a:pt x="12074" y="67"/>
                    <a:pt x="12441" y="0"/>
                    <a:pt x="12902" y="0"/>
                  </a:cubicBezTo>
                  <a:cubicBezTo>
                    <a:pt x="13450" y="0"/>
                    <a:pt x="13956" y="112"/>
                    <a:pt x="14411" y="344"/>
                  </a:cubicBezTo>
                  <a:cubicBezTo>
                    <a:pt x="14869" y="573"/>
                    <a:pt x="15250" y="881"/>
                    <a:pt x="15567" y="1270"/>
                  </a:cubicBezTo>
                  <a:cubicBezTo>
                    <a:pt x="15880" y="1657"/>
                    <a:pt x="16126" y="2101"/>
                    <a:pt x="16304" y="2600"/>
                  </a:cubicBezTo>
                  <a:cubicBezTo>
                    <a:pt x="16479" y="3103"/>
                    <a:pt x="16570" y="3609"/>
                    <a:pt x="16570" y="4123"/>
                  </a:cubicBezTo>
                  <a:cubicBezTo>
                    <a:pt x="16570" y="4653"/>
                    <a:pt x="16491" y="5162"/>
                    <a:pt x="16332" y="5645"/>
                  </a:cubicBezTo>
                  <a:cubicBezTo>
                    <a:pt x="16174" y="6125"/>
                    <a:pt x="15982" y="6610"/>
                    <a:pt x="15759" y="7096"/>
                  </a:cubicBezTo>
                  <a:cubicBezTo>
                    <a:pt x="16072" y="7079"/>
                    <a:pt x="16389" y="7057"/>
                    <a:pt x="16705" y="7034"/>
                  </a:cubicBezTo>
                  <a:cubicBezTo>
                    <a:pt x="17019" y="7011"/>
                    <a:pt x="17335" y="7000"/>
                    <a:pt x="17652" y="7000"/>
                  </a:cubicBezTo>
                  <a:cubicBezTo>
                    <a:pt x="18149" y="7000"/>
                    <a:pt x="18630" y="7048"/>
                    <a:pt x="19099" y="7144"/>
                  </a:cubicBezTo>
                  <a:cubicBezTo>
                    <a:pt x="19568" y="7237"/>
                    <a:pt x="19986" y="7395"/>
                    <a:pt x="20356" y="7616"/>
                  </a:cubicBezTo>
                  <a:cubicBezTo>
                    <a:pt x="20726" y="7839"/>
                    <a:pt x="21026" y="8144"/>
                    <a:pt x="21255" y="8528"/>
                  </a:cubicBezTo>
                  <a:cubicBezTo>
                    <a:pt x="21486" y="8918"/>
                    <a:pt x="21600" y="9409"/>
                    <a:pt x="21600" y="10002"/>
                  </a:cubicBezTo>
                  <a:cubicBezTo>
                    <a:pt x="21600" y="10265"/>
                    <a:pt x="21580" y="10519"/>
                    <a:pt x="21535" y="10773"/>
                  </a:cubicBezTo>
                  <a:cubicBezTo>
                    <a:pt x="21484" y="11031"/>
                    <a:pt x="21419" y="11285"/>
                    <a:pt x="21328" y="11544"/>
                  </a:cubicBezTo>
                  <a:moveTo>
                    <a:pt x="4258" y="18520"/>
                  </a:moveTo>
                  <a:cubicBezTo>
                    <a:pt x="4555" y="18520"/>
                    <a:pt x="4809" y="18418"/>
                    <a:pt x="5024" y="18215"/>
                  </a:cubicBezTo>
                  <a:cubicBezTo>
                    <a:pt x="5233" y="18014"/>
                    <a:pt x="5340" y="17760"/>
                    <a:pt x="5340" y="17455"/>
                  </a:cubicBezTo>
                  <a:cubicBezTo>
                    <a:pt x="5340" y="17156"/>
                    <a:pt x="5233" y="16901"/>
                    <a:pt x="5024" y="16687"/>
                  </a:cubicBezTo>
                  <a:cubicBezTo>
                    <a:pt x="4812" y="16478"/>
                    <a:pt x="4557" y="16373"/>
                    <a:pt x="4258" y="16373"/>
                  </a:cubicBezTo>
                  <a:cubicBezTo>
                    <a:pt x="3941" y="16373"/>
                    <a:pt x="3684" y="16478"/>
                    <a:pt x="3486" y="16687"/>
                  </a:cubicBezTo>
                  <a:cubicBezTo>
                    <a:pt x="3289" y="16901"/>
                    <a:pt x="3190" y="17156"/>
                    <a:pt x="3190" y="17455"/>
                  </a:cubicBezTo>
                  <a:cubicBezTo>
                    <a:pt x="3190" y="17768"/>
                    <a:pt x="3289" y="18025"/>
                    <a:pt x="3486" y="18223"/>
                  </a:cubicBezTo>
                  <a:cubicBezTo>
                    <a:pt x="3681" y="18421"/>
                    <a:pt x="3939" y="18520"/>
                    <a:pt x="4258" y="18520"/>
                  </a:cubicBezTo>
                  <a:moveTo>
                    <a:pt x="19164" y="14343"/>
                  </a:moveTo>
                  <a:cubicBezTo>
                    <a:pt x="19703" y="13902"/>
                    <a:pt x="19975" y="13346"/>
                    <a:pt x="19975" y="12680"/>
                  </a:cubicBezTo>
                  <a:cubicBezTo>
                    <a:pt x="19975" y="12474"/>
                    <a:pt x="19918" y="12282"/>
                    <a:pt x="19805" y="12098"/>
                  </a:cubicBezTo>
                  <a:cubicBezTo>
                    <a:pt x="19695" y="11920"/>
                    <a:pt x="19576" y="11762"/>
                    <a:pt x="19446" y="11624"/>
                  </a:cubicBezTo>
                  <a:cubicBezTo>
                    <a:pt x="19590" y="11364"/>
                    <a:pt x="19720" y="11107"/>
                    <a:pt x="19833" y="10850"/>
                  </a:cubicBezTo>
                  <a:cubicBezTo>
                    <a:pt x="19944" y="10592"/>
                    <a:pt x="20003" y="10312"/>
                    <a:pt x="20003" y="10002"/>
                  </a:cubicBezTo>
                  <a:cubicBezTo>
                    <a:pt x="20003" y="9688"/>
                    <a:pt x="19924" y="9440"/>
                    <a:pt x="19766" y="9251"/>
                  </a:cubicBezTo>
                  <a:cubicBezTo>
                    <a:pt x="19607" y="9070"/>
                    <a:pt x="19415" y="8929"/>
                    <a:pt x="19184" y="8833"/>
                  </a:cubicBezTo>
                  <a:cubicBezTo>
                    <a:pt x="18955" y="8739"/>
                    <a:pt x="18698" y="8683"/>
                    <a:pt x="18418" y="8663"/>
                  </a:cubicBezTo>
                  <a:cubicBezTo>
                    <a:pt x="18138" y="8643"/>
                    <a:pt x="17884" y="8635"/>
                    <a:pt x="17649" y="8635"/>
                  </a:cubicBezTo>
                  <a:cubicBezTo>
                    <a:pt x="17242" y="8635"/>
                    <a:pt x="16835" y="8649"/>
                    <a:pt x="16423" y="8677"/>
                  </a:cubicBezTo>
                  <a:cubicBezTo>
                    <a:pt x="16010" y="8706"/>
                    <a:pt x="15606" y="8720"/>
                    <a:pt x="15199" y="8720"/>
                  </a:cubicBezTo>
                  <a:cubicBezTo>
                    <a:pt x="14917" y="8720"/>
                    <a:pt x="14643" y="8706"/>
                    <a:pt x="14366" y="8677"/>
                  </a:cubicBezTo>
                  <a:cubicBezTo>
                    <a:pt x="14089" y="8649"/>
                    <a:pt x="13829" y="8584"/>
                    <a:pt x="13574" y="8474"/>
                  </a:cubicBezTo>
                  <a:cubicBezTo>
                    <a:pt x="13574" y="8104"/>
                    <a:pt x="13645" y="7754"/>
                    <a:pt x="13792" y="7421"/>
                  </a:cubicBezTo>
                  <a:cubicBezTo>
                    <a:pt x="13936" y="7087"/>
                    <a:pt x="14094" y="6751"/>
                    <a:pt x="14275" y="6413"/>
                  </a:cubicBezTo>
                  <a:cubicBezTo>
                    <a:pt x="14448" y="6074"/>
                    <a:pt x="14606" y="5721"/>
                    <a:pt x="14747" y="5351"/>
                  </a:cubicBezTo>
                  <a:cubicBezTo>
                    <a:pt x="14886" y="4984"/>
                    <a:pt x="14953" y="4574"/>
                    <a:pt x="14953" y="4122"/>
                  </a:cubicBezTo>
                  <a:cubicBezTo>
                    <a:pt x="14953" y="3823"/>
                    <a:pt x="14905" y="3529"/>
                    <a:pt x="14812" y="3236"/>
                  </a:cubicBezTo>
                  <a:cubicBezTo>
                    <a:pt x="14716" y="2945"/>
                    <a:pt x="14583" y="2677"/>
                    <a:pt x="14411" y="2439"/>
                  </a:cubicBezTo>
                  <a:cubicBezTo>
                    <a:pt x="14238" y="2199"/>
                    <a:pt x="14027" y="2002"/>
                    <a:pt x="13775" y="1843"/>
                  </a:cubicBezTo>
                  <a:cubicBezTo>
                    <a:pt x="13521" y="1688"/>
                    <a:pt x="13230" y="1606"/>
                    <a:pt x="12893" y="1606"/>
                  </a:cubicBezTo>
                  <a:lnTo>
                    <a:pt x="12744" y="1606"/>
                  </a:lnTo>
                  <a:cubicBezTo>
                    <a:pt x="12681" y="1606"/>
                    <a:pt x="12631" y="1617"/>
                    <a:pt x="12594" y="1634"/>
                  </a:cubicBezTo>
                  <a:cubicBezTo>
                    <a:pt x="12523" y="1671"/>
                    <a:pt x="12481" y="1705"/>
                    <a:pt x="12472" y="1742"/>
                  </a:cubicBezTo>
                  <a:cubicBezTo>
                    <a:pt x="12464" y="1778"/>
                    <a:pt x="12450" y="1838"/>
                    <a:pt x="12430" y="1920"/>
                  </a:cubicBezTo>
                  <a:cubicBezTo>
                    <a:pt x="12323" y="2450"/>
                    <a:pt x="12221" y="3007"/>
                    <a:pt x="12128" y="3586"/>
                  </a:cubicBezTo>
                  <a:cubicBezTo>
                    <a:pt x="12034" y="4167"/>
                    <a:pt x="11854" y="4698"/>
                    <a:pt x="11596" y="5176"/>
                  </a:cubicBezTo>
                  <a:cubicBezTo>
                    <a:pt x="11334" y="5636"/>
                    <a:pt x="11000" y="6034"/>
                    <a:pt x="10596" y="6367"/>
                  </a:cubicBezTo>
                  <a:cubicBezTo>
                    <a:pt x="10189" y="6701"/>
                    <a:pt x="9802" y="7051"/>
                    <a:pt x="9432" y="7421"/>
                  </a:cubicBezTo>
                  <a:cubicBezTo>
                    <a:pt x="9169" y="7700"/>
                    <a:pt x="8949" y="7954"/>
                    <a:pt x="8771" y="8183"/>
                  </a:cubicBezTo>
                  <a:cubicBezTo>
                    <a:pt x="8593" y="8412"/>
                    <a:pt x="8403" y="8632"/>
                    <a:pt x="8211" y="8833"/>
                  </a:cubicBezTo>
                  <a:cubicBezTo>
                    <a:pt x="8016" y="9036"/>
                    <a:pt x="7799" y="9222"/>
                    <a:pt x="7556" y="9400"/>
                  </a:cubicBezTo>
                  <a:cubicBezTo>
                    <a:pt x="7313" y="9575"/>
                    <a:pt x="7019" y="9736"/>
                    <a:pt x="6674" y="9880"/>
                  </a:cubicBezTo>
                  <a:lnTo>
                    <a:pt x="6646" y="9880"/>
                  </a:lnTo>
                  <a:lnTo>
                    <a:pt x="6646" y="18573"/>
                  </a:lnTo>
                  <a:cubicBezTo>
                    <a:pt x="7279" y="18573"/>
                    <a:pt x="7889" y="18650"/>
                    <a:pt x="8485" y="18796"/>
                  </a:cubicBezTo>
                  <a:cubicBezTo>
                    <a:pt x="9081" y="18946"/>
                    <a:pt x="9683" y="19104"/>
                    <a:pt x="10294" y="19271"/>
                  </a:cubicBezTo>
                  <a:cubicBezTo>
                    <a:pt x="10901" y="19440"/>
                    <a:pt x="11537" y="19593"/>
                    <a:pt x="12207" y="19742"/>
                  </a:cubicBezTo>
                  <a:cubicBezTo>
                    <a:pt x="12874" y="19892"/>
                    <a:pt x="13594" y="19966"/>
                    <a:pt x="14374" y="19966"/>
                  </a:cubicBezTo>
                  <a:cubicBezTo>
                    <a:pt x="14781" y="19966"/>
                    <a:pt x="15222" y="19940"/>
                    <a:pt x="15699" y="19886"/>
                  </a:cubicBezTo>
                  <a:cubicBezTo>
                    <a:pt x="16177" y="19830"/>
                    <a:pt x="16626" y="19711"/>
                    <a:pt x="17047" y="19528"/>
                  </a:cubicBezTo>
                  <a:cubicBezTo>
                    <a:pt x="17468" y="19344"/>
                    <a:pt x="17816" y="19087"/>
                    <a:pt x="18101" y="18763"/>
                  </a:cubicBezTo>
                  <a:cubicBezTo>
                    <a:pt x="18387" y="18441"/>
                    <a:pt x="18525" y="18011"/>
                    <a:pt x="18525" y="17478"/>
                  </a:cubicBezTo>
                  <a:cubicBezTo>
                    <a:pt x="18525" y="17387"/>
                    <a:pt x="18522" y="17305"/>
                    <a:pt x="18517" y="17226"/>
                  </a:cubicBezTo>
                  <a:cubicBezTo>
                    <a:pt x="18503" y="17153"/>
                    <a:pt x="18488" y="17071"/>
                    <a:pt x="18471" y="16981"/>
                  </a:cubicBezTo>
                  <a:cubicBezTo>
                    <a:pt x="18785" y="16837"/>
                    <a:pt x="19028" y="16597"/>
                    <a:pt x="19195" y="16263"/>
                  </a:cubicBezTo>
                  <a:cubicBezTo>
                    <a:pt x="19364" y="15930"/>
                    <a:pt x="19446" y="15594"/>
                    <a:pt x="19446" y="15264"/>
                  </a:cubicBezTo>
                  <a:cubicBezTo>
                    <a:pt x="19449" y="14913"/>
                    <a:pt x="19350" y="14606"/>
                    <a:pt x="19164" y="14343"/>
                  </a:cubicBezTo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grpSp>
        <p:nvGrpSpPr>
          <p:cNvPr id="119" name="Group 16"/>
          <p:cNvGrpSpPr/>
          <p:nvPr/>
        </p:nvGrpSpPr>
        <p:grpSpPr>
          <a:xfrm>
            <a:off x="10028727" y="6022959"/>
            <a:ext cx="379881" cy="380106"/>
            <a:chOff x="-9" y="-9"/>
            <a:chExt cx="379880" cy="380105"/>
          </a:xfrm>
        </p:grpSpPr>
        <p:sp>
          <p:nvSpPr>
            <p:cNvPr id="117" name="AutoShape 17"/>
            <p:cNvSpPr/>
            <p:nvPr/>
          </p:nvSpPr>
          <p:spPr>
            <a:xfrm>
              <a:off x="-10" y="-10"/>
              <a:ext cx="379882" cy="3801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>
              <a:outerShdw blurRad="88900" dist="38100" dir="7680000" rotWithShape="0">
                <a:schemeClr val="accent6">
                  <a:alpha val="31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18" name="AutoShape 18"/>
            <p:cNvSpPr/>
            <p:nvPr/>
          </p:nvSpPr>
          <p:spPr>
            <a:xfrm>
              <a:off x="115531" y="104258"/>
              <a:ext cx="155022" cy="155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6949"/>
                  </a:moveTo>
                  <a:cubicBezTo>
                    <a:pt x="21600" y="7542"/>
                    <a:pt x="21407" y="8153"/>
                    <a:pt x="21017" y="8781"/>
                  </a:cubicBezTo>
                  <a:cubicBezTo>
                    <a:pt x="20628" y="9416"/>
                    <a:pt x="20109" y="10015"/>
                    <a:pt x="19458" y="10585"/>
                  </a:cubicBezTo>
                  <a:cubicBezTo>
                    <a:pt x="18806" y="11153"/>
                    <a:pt x="18040" y="11652"/>
                    <a:pt x="17159" y="12084"/>
                  </a:cubicBezTo>
                  <a:cubicBezTo>
                    <a:pt x="16275" y="12513"/>
                    <a:pt x="15327" y="12821"/>
                    <a:pt x="14315" y="12997"/>
                  </a:cubicBezTo>
                  <a:cubicBezTo>
                    <a:pt x="13880" y="13091"/>
                    <a:pt x="13492" y="13285"/>
                    <a:pt x="13151" y="13579"/>
                  </a:cubicBezTo>
                  <a:cubicBezTo>
                    <a:pt x="12809" y="13873"/>
                    <a:pt x="12641" y="14205"/>
                    <a:pt x="12641" y="14572"/>
                  </a:cubicBezTo>
                  <a:cubicBezTo>
                    <a:pt x="12641" y="14901"/>
                    <a:pt x="12713" y="15141"/>
                    <a:pt x="12865" y="15294"/>
                  </a:cubicBezTo>
                  <a:cubicBezTo>
                    <a:pt x="13015" y="15450"/>
                    <a:pt x="13177" y="15597"/>
                    <a:pt x="13364" y="15729"/>
                  </a:cubicBezTo>
                  <a:cubicBezTo>
                    <a:pt x="13546" y="15867"/>
                    <a:pt x="13717" y="16011"/>
                    <a:pt x="13874" y="16170"/>
                  </a:cubicBezTo>
                  <a:cubicBezTo>
                    <a:pt x="14032" y="16331"/>
                    <a:pt x="14125" y="16575"/>
                    <a:pt x="14160" y="16904"/>
                  </a:cubicBezTo>
                  <a:cubicBezTo>
                    <a:pt x="14195" y="17118"/>
                    <a:pt x="14187" y="17341"/>
                    <a:pt x="14133" y="17565"/>
                  </a:cubicBezTo>
                  <a:cubicBezTo>
                    <a:pt x="14099" y="17697"/>
                    <a:pt x="14200" y="17806"/>
                    <a:pt x="14432" y="17894"/>
                  </a:cubicBezTo>
                  <a:cubicBezTo>
                    <a:pt x="14667" y="17982"/>
                    <a:pt x="14956" y="18070"/>
                    <a:pt x="15295" y="18155"/>
                  </a:cubicBezTo>
                  <a:cubicBezTo>
                    <a:pt x="15637" y="18237"/>
                    <a:pt x="15987" y="18343"/>
                    <a:pt x="16344" y="18469"/>
                  </a:cubicBezTo>
                  <a:cubicBezTo>
                    <a:pt x="16705" y="18596"/>
                    <a:pt x="16975" y="18757"/>
                    <a:pt x="17164" y="18954"/>
                  </a:cubicBezTo>
                  <a:cubicBezTo>
                    <a:pt x="17266" y="19051"/>
                    <a:pt x="17351" y="19233"/>
                    <a:pt x="17415" y="19512"/>
                  </a:cubicBezTo>
                  <a:cubicBezTo>
                    <a:pt x="17477" y="19791"/>
                    <a:pt x="17519" y="20091"/>
                    <a:pt x="17535" y="20417"/>
                  </a:cubicBezTo>
                  <a:cubicBezTo>
                    <a:pt x="17554" y="20728"/>
                    <a:pt x="17527" y="21001"/>
                    <a:pt x="17463" y="21242"/>
                  </a:cubicBezTo>
                  <a:cubicBezTo>
                    <a:pt x="17394" y="21480"/>
                    <a:pt x="17268" y="21600"/>
                    <a:pt x="17089" y="21600"/>
                  </a:cubicBezTo>
                  <a:lnTo>
                    <a:pt x="4496" y="21600"/>
                  </a:lnTo>
                  <a:cubicBezTo>
                    <a:pt x="4328" y="21600"/>
                    <a:pt x="4205" y="21480"/>
                    <a:pt x="4130" y="21242"/>
                  </a:cubicBezTo>
                  <a:cubicBezTo>
                    <a:pt x="4061" y="21001"/>
                    <a:pt x="4032" y="20728"/>
                    <a:pt x="4048" y="20417"/>
                  </a:cubicBezTo>
                  <a:cubicBezTo>
                    <a:pt x="4066" y="20091"/>
                    <a:pt x="4109" y="19791"/>
                    <a:pt x="4170" y="19512"/>
                  </a:cubicBezTo>
                  <a:cubicBezTo>
                    <a:pt x="4235" y="19233"/>
                    <a:pt x="4317" y="19051"/>
                    <a:pt x="4421" y="18954"/>
                  </a:cubicBezTo>
                  <a:cubicBezTo>
                    <a:pt x="4616" y="18769"/>
                    <a:pt x="4889" y="18607"/>
                    <a:pt x="5239" y="18475"/>
                  </a:cubicBezTo>
                  <a:cubicBezTo>
                    <a:pt x="5588" y="18346"/>
                    <a:pt x="5933" y="18237"/>
                    <a:pt x="6269" y="18155"/>
                  </a:cubicBezTo>
                  <a:cubicBezTo>
                    <a:pt x="6606" y="18070"/>
                    <a:pt x="6897" y="17985"/>
                    <a:pt x="7145" y="17902"/>
                  </a:cubicBezTo>
                  <a:cubicBezTo>
                    <a:pt x="7394" y="17817"/>
                    <a:pt x="7498" y="17706"/>
                    <a:pt x="7463" y="17565"/>
                  </a:cubicBezTo>
                  <a:cubicBezTo>
                    <a:pt x="7428" y="17433"/>
                    <a:pt x="7412" y="17312"/>
                    <a:pt x="7412" y="17206"/>
                  </a:cubicBezTo>
                  <a:lnTo>
                    <a:pt x="7412" y="16904"/>
                  </a:lnTo>
                  <a:cubicBezTo>
                    <a:pt x="7428" y="16575"/>
                    <a:pt x="7519" y="16331"/>
                    <a:pt x="7687" y="16170"/>
                  </a:cubicBezTo>
                  <a:cubicBezTo>
                    <a:pt x="7853" y="16011"/>
                    <a:pt x="8034" y="15867"/>
                    <a:pt x="8224" y="15729"/>
                  </a:cubicBezTo>
                  <a:cubicBezTo>
                    <a:pt x="8416" y="15594"/>
                    <a:pt x="8584" y="15447"/>
                    <a:pt x="8729" y="15294"/>
                  </a:cubicBezTo>
                  <a:cubicBezTo>
                    <a:pt x="8873" y="15141"/>
                    <a:pt x="8945" y="14901"/>
                    <a:pt x="8945" y="14572"/>
                  </a:cubicBezTo>
                  <a:cubicBezTo>
                    <a:pt x="8945" y="14205"/>
                    <a:pt x="8777" y="13876"/>
                    <a:pt x="8440" y="13579"/>
                  </a:cubicBezTo>
                  <a:cubicBezTo>
                    <a:pt x="8104" y="13282"/>
                    <a:pt x="7706" y="13091"/>
                    <a:pt x="7247" y="12997"/>
                  </a:cubicBezTo>
                  <a:cubicBezTo>
                    <a:pt x="6251" y="12812"/>
                    <a:pt x="5311" y="12498"/>
                    <a:pt x="4435" y="12063"/>
                  </a:cubicBezTo>
                  <a:cubicBezTo>
                    <a:pt x="3554" y="11629"/>
                    <a:pt x="2790" y="11129"/>
                    <a:pt x="2133" y="10570"/>
                  </a:cubicBezTo>
                  <a:cubicBezTo>
                    <a:pt x="1479" y="10012"/>
                    <a:pt x="958" y="9416"/>
                    <a:pt x="574" y="8781"/>
                  </a:cubicBezTo>
                  <a:cubicBezTo>
                    <a:pt x="189" y="8153"/>
                    <a:pt x="0" y="7542"/>
                    <a:pt x="0" y="6949"/>
                  </a:cubicBezTo>
                  <a:lnTo>
                    <a:pt x="0" y="4320"/>
                  </a:lnTo>
                  <a:cubicBezTo>
                    <a:pt x="0" y="4009"/>
                    <a:pt x="93" y="3756"/>
                    <a:pt x="285" y="3553"/>
                  </a:cubicBezTo>
                  <a:cubicBezTo>
                    <a:pt x="475" y="3354"/>
                    <a:pt x="712" y="3254"/>
                    <a:pt x="998" y="3254"/>
                  </a:cubicBezTo>
                  <a:lnTo>
                    <a:pt x="5124" y="3254"/>
                  </a:lnTo>
                  <a:cubicBezTo>
                    <a:pt x="5108" y="3139"/>
                    <a:pt x="5097" y="3025"/>
                    <a:pt x="5097" y="2901"/>
                  </a:cubicBezTo>
                  <a:lnTo>
                    <a:pt x="5097" y="2505"/>
                  </a:lnTo>
                  <a:cubicBezTo>
                    <a:pt x="5097" y="2005"/>
                    <a:pt x="5118" y="1594"/>
                    <a:pt x="5156" y="1265"/>
                  </a:cubicBezTo>
                  <a:cubicBezTo>
                    <a:pt x="5193" y="939"/>
                    <a:pt x="5260" y="684"/>
                    <a:pt x="5353" y="499"/>
                  </a:cubicBezTo>
                  <a:cubicBezTo>
                    <a:pt x="5444" y="320"/>
                    <a:pt x="5580" y="187"/>
                    <a:pt x="5754" y="111"/>
                  </a:cubicBezTo>
                  <a:cubicBezTo>
                    <a:pt x="5928" y="38"/>
                    <a:pt x="6165" y="0"/>
                    <a:pt x="6464" y="0"/>
                  </a:cubicBezTo>
                  <a:lnTo>
                    <a:pt x="15132" y="0"/>
                  </a:lnTo>
                  <a:cubicBezTo>
                    <a:pt x="15410" y="0"/>
                    <a:pt x="15645" y="38"/>
                    <a:pt x="15829" y="111"/>
                  </a:cubicBezTo>
                  <a:cubicBezTo>
                    <a:pt x="16011" y="187"/>
                    <a:pt x="16149" y="320"/>
                    <a:pt x="16243" y="499"/>
                  </a:cubicBezTo>
                  <a:cubicBezTo>
                    <a:pt x="16336" y="684"/>
                    <a:pt x="16403" y="939"/>
                    <a:pt x="16435" y="1265"/>
                  </a:cubicBezTo>
                  <a:cubicBezTo>
                    <a:pt x="16470" y="1594"/>
                    <a:pt x="16486" y="2006"/>
                    <a:pt x="16486" y="2505"/>
                  </a:cubicBezTo>
                  <a:lnTo>
                    <a:pt x="16486" y="2863"/>
                  </a:lnTo>
                  <a:cubicBezTo>
                    <a:pt x="16486" y="2989"/>
                    <a:pt x="16478" y="3119"/>
                    <a:pt x="16459" y="3251"/>
                  </a:cubicBezTo>
                  <a:lnTo>
                    <a:pt x="20603" y="3251"/>
                  </a:lnTo>
                  <a:cubicBezTo>
                    <a:pt x="20884" y="3251"/>
                    <a:pt x="21119" y="3351"/>
                    <a:pt x="21314" y="3550"/>
                  </a:cubicBezTo>
                  <a:cubicBezTo>
                    <a:pt x="21503" y="3753"/>
                    <a:pt x="21599" y="4006"/>
                    <a:pt x="21599" y="4317"/>
                  </a:cubicBezTo>
                  <a:lnTo>
                    <a:pt x="21599" y="6949"/>
                  </a:lnTo>
                  <a:lnTo>
                    <a:pt x="21600" y="6949"/>
                  </a:lnTo>
                  <a:close/>
                  <a:moveTo>
                    <a:pt x="6283" y="10550"/>
                  </a:moveTo>
                  <a:cubicBezTo>
                    <a:pt x="6072" y="9798"/>
                    <a:pt x="5882" y="8978"/>
                    <a:pt x="5714" y="8082"/>
                  </a:cubicBezTo>
                  <a:cubicBezTo>
                    <a:pt x="5548" y="7189"/>
                    <a:pt x="5407" y="6299"/>
                    <a:pt x="5287" y="5415"/>
                  </a:cubicBezTo>
                  <a:lnTo>
                    <a:pt x="1962" y="5415"/>
                  </a:lnTo>
                  <a:lnTo>
                    <a:pt x="1962" y="6949"/>
                  </a:lnTo>
                  <a:cubicBezTo>
                    <a:pt x="1962" y="7137"/>
                    <a:pt x="2064" y="7389"/>
                    <a:pt x="2264" y="7709"/>
                  </a:cubicBezTo>
                  <a:cubicBezTo>
                    <a:pt x="2462" y="8029"/>
                    <a:pt x="2753" y="8358"/>
                    <a:pt x="3126" y="8699"/>
                  </a:cubicBezTo>
                  <a:cubicBezTo>
                    <a:pt x="3500" y="9040"/>
                    <a:pt x="3954" y="9381"/>
                    <a:pt x="4488" y="9707"/>
                  </a:cubicBezTo>
                  <a:cubicBezTo>
                    <a:pt x="5022" y="10033"/>
                    <a:pt x="5618" y="10315"/>
                    <a:pt x="6283" y="10550"/>
                  </a:cubicBezTo>
                  <a:moveTo>
                    <a:pt x="19629" y="5415"/>
                  </a:moveTo>
                  <a:lnTo>
                    <a:pt x="16280" y="5415"/>
                  </a:lnTo>
                  <a:cubicBezTo>
                    <a:pt x="16179" y="6299"/>
                    <a:pt x="16043" y="7189"/>
                    <a:pt x="15877" y="8082"/>
                  </a:cubicBezTo>
                  <a:cubicBezTo>
                    <a:pt x="15712" y="8978"/>
                    <a:pt x="15522" y="9798"/>
                    <a:pt x="15308" y="10550"/>
                  </a:cubicBezTo>
                  <a:cubicBezTo>
                    <a:pt x="15973" y="10315"/>
                    <a:pt x="16574" y="10033"/>
                    <a:pt x="17105" y="9707"/>
                  </a:cubicBezTo>
                  <a:cubicBezTo>
                    <a:pt x="17637" y="9381"/>
                    <a:pt x="18091" y="9040"/>
                    <a:pt x="18467" y="8699"/>
                  </a:cubicBezTo>
                  <a:cubicBezTo>
                    <a:pt x="18844" y="8358"/>
                    <a:pt x="19130" y="8029"/>
                    <a:pt x="19330" y="7709"/>
                  </a:cubicBezTo>
                  <a:cubicBezTo>
                    <a:pt x="19530" y="7389"/>
                    <a:pt x="19629" y="7137"/>
                    <a:pt x="19629" y="6949"/>
                  </a:cubicBezTo>
                  <a:lnTo>
                    <a:pt x="19629" y="5415"/>
                  </a:ln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grpSp>
        <p:nvGrpSpPr>
          <p:cNvPr id="122" name="Group 19"/>
          <p:cNvGrpSpPr/>
          <p:nvPr/>
        </p:nvGrpSpPr>
        <p:grpSpPr>
          <a:xfrm>
            <a:off x="10566052" y="6022959"/>
            <a:ext cx="379882" cy="380106"/>
            <a:chOff x="-9" y="-9"/>
            <a:chExt cx="379880" cy="380105"/>
          </a:xfrm>
        </p:grpSpPr>
        <p:sp>
          <p:nvSpPr>
            <p:cNvPr id="120" name="AutoShape 20"/>
            <p:cNvSpPr/>
            <p:nvPr/>
          </p:nvSpPr>
          <p:spPr>
            <a:xfrm>
              <a:off x="-10" y="-10"/>
              <a:ext cx="379882" cy="3801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>
              <a:outerShdw blurRad="88900" dist="38100" dir="7680000" rotWithShape="0">
                <a:schemeClr val="accent6">
                  <a:alpha val="31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1" name="AutoShape 21"/>
            <p:cNvSpPr/>
            <p:nvPr/>
          </p:nvSpPr>
          <p:spPr>
            <a:xfrm>
              <a:off x="115109" y="123842"/>
              <a:ext cx="149682" cy="1209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263" y="3222"/>
                  </a:moveTo>
                  <a:cubicBezTo>
                    <a:pt x="20632" y="3222"/>
                    <a:pt x="20946" y="3384"/>
                    <a:pt x="21208" y="3713"/>
                  </a:cubicBezTo>
                  <a:cubicBezTo>
                    <a:pt x="21470" y="4042"/>
                    <a:pt x="21600" y="4427"/>
                    <a:pt x="21600" y="4865"/>
                  </a:cubicBezTo>
                  <a:lnTo>
                    <a:pt x="21600" y="19984"/>
                  </a:lnTo>
                  <a:cubicBezTo>
                    <a:pt x="21600" y="20421"/>
                    <a:pt x="21470" y="20803"/>
                    <a:pt x="21208" y="21121"/>
                  </a:cubicBezTo>
                  <a:cubicBezTo>
                    <a:pt x="20946" y="21441"/>
                    <a:pt x="20632" y="21600"/>
                    <a:pt x="20263" y="21600"/>
                  </a:cubicBezTo>
                  <a:lnTo>
                    <a:pt x="1348" y="21600"/>
                  </a:lnTo>
                  <a:cubicBezTo>
                    <a:pt x="981" y="21600"/>
                    <a:pt x="663" y="21441"/>
                    <a:pt x="399" y="21121"/>
                  </a:cubicBezTo>
                  <a:cubicBezTo>
                    <a:pt x="134" y="20803"/>
                    <a:pt x="0" y="20421"/>
                    <a:pt x="0" y="19984"/>
                  </a:cubicBezTo>
                  <a:lnTo>
                    <a:pt x="0" y="4865"/>
                  </a:lnTo>
                  <a:cubicBezTo>
                    <a:pt x="0" y="4427"/>
                    <a:pt x="134" y="4042"/>
                    <a:pt x="399" y="3713"/>
                  </a:cubicBezTo>
                  <a:cubicBezTo>
                    <a:pt x="663" y="3384"/>
                    <a:pt x="981" y="3222"/>
                    <a:pt x="1348" y="3222"/>
                  </a:cubicBezTo>
                  <a:lnTo>
                    <a:pt x="5638" y="3222"/>
                  </a:lnTo>
                  <a:lnTo>
                    <a:pt x="6318" y="1460"/>
                  </a:lnTo>
                  <a:cubicBezTo>
                    <a:pt x="6458" y="1057"/>
                    <a:pt x="6717" y="713"/>
                    <a:pt x="7089" y="425"/>
                  </a:cubicBezTo>
                  <a:cubicBezTo>
                    <a:pt x="7466" y="143"/>
                    <a:pt x="7838" y="0"/>
                    <a:pt x="8203" y="0"/>
                  </a:cubicBezTo>
                  <a:lnTo>
                    <a:pt x="13396" y="0"/>
                  </a:lnTo>
                  <a:cubicBezTo>
                    <a:pt x="13763" y="0"/>
                    <a:pt x="14135" y="143"/>
                    <a:pt x="14510" y="425"/>
                  </a:cubicBezTo>
                  <a:cubicBezTo>
                    <a:pt x="14884" y="713"/>
                    <a:pt x="15146" y="1057"/>
                    <a:pt x="15293" y="1460"/>
                  </a:cubicBezTo>
                  <a:lnTo>
                    <a:pt x="15961" y="3222"/>
                  </a:lnTo>
                  <a:lnTo>
                    <a:pt x="20263" y="3222"/>
                  </a:lnTo>
                  <a:close/>
                  <a:moveTo>
                    <a:pt x="10806" y="19185"/>
                  </a:moveTo>
                  <a:cubicBezTo>
                    <a:pt x="11572" y="19185"/>
                    <a:pt x="12299" y="19002"/>
                    <a:pt x="12987" y="18650"/>
                  </a:cubicBezTo>
                  <a:cubicBezTo>
                    <a:pt x="13672" y="18294"/>
                    <a:pt x="14270" y="17810"/>
                    <a:pt x="14774" y="17196"/>
                  </a:cubicBezTo>
                  <a:cubicBezTo>
                    <a:pt x="15278" y="16582"/>
                    <a:pt x="15677" y="15862"/>
                    <a:pt x="15974" y="15048"/>
                  </a:cubicBezTo>
                  <a:cubicBezTo>
                    <a:pt x="16270" y="14234"/>
                    <a:pt x="16419" y="13356"/>
                    <a:pt x="16419" y="12421"/>
                  </a:cubicBezTo>
                  <a:cubicBezTo>
                    <a:pt x="16419" y="11499"/>
                    <a:pt x="16270" y="10623"/>
                    <a:pt x="15974" y="9795"/>
                  </a:cubicBezTo>
                  <a:cubicBezTo>
                    <a:pt x="15677" y="8966"/>
                    <a:pt x="15278" y="8249"/>
                    <a:pt x="14774" y="7644"/>
                  </a:cubicBezTo>
                  <a:cubicBezTo>
                    <a:pt x="14270" y="7036"/>
                    <a:pt x="13672" y="6557"/>
                    <a:pt x="12987" y="6199"/>
                  </a:cubicBezTo>
                  <a:cubicBezTo>
                    <a:pt x="12299" y="5843"/>
                    <a:pt x="11572" y="5667"/>
                    <a:pt x="10806" y="5667"/>
                  </a:cubicBezTo>
                  <a:cubicBezTo>
                    <a:pt x="10039" y="5667"/>
                    <a:pt x="9312" y="5846"/>
                    <a:pt x="8619" y="6199"/>
                  </a:cubicBezTo>
                  <a:cubicBezTo>
                    <a:pt x="7929" y="6557"/>
                    <a:pt x="7332" y="7036"/>
                    <a:pt x="6827" y="7644"/>
                  </a:cubicBezTo>
                  <a:cubicBezTo>
                    <a:pt x="6323" y="8249"/>
                    <a:pt x="5922" y="8963"/>
                    <a:pt x="5625" y="9789"/>
                  </a:cubicBezTo>
                  <a:cubicBezTo>
                    <a:pt x="5329" y="10612"/>
                    <a:pt x="5180" y="11490"/>
                    <a:pt x="5180" y="12421"/>
                  </a:cubicBezTo>
                  <a:cubicBezTo>
                    <a:pt x="5180" y="13356"/>
                    <a:pt x="5329" y="14234"/>
                    <a:pt x="5625" y="15048"/>
                  </a:cubicBezTo>
                  <a:cubicBezTo>
                    <a:pt x="5922" y="15862"/>
                    <a:pt x="6323" y="16582"/>
                    <a:pt x="6827" y="17196"/>
                  </a:cubicBezTo>
                  <a:cubicBezTo>
                    <a:pt x="7332" y="17810"/>
                    <a:pt x="7929" y="18294"/>
                    <a:pt x="8619" y="18650"/>
                  </a:cubicBezTo>
                  <a:cubicBezTo>
                    <a:pt x="9312" y="19005"/>
                    <a:pt x="10039" y="19185"/>
                    <a:pt x="10806" y="19185"/>
                  </a:cubicBezTo>
                  <a:moveTo>
                    <a:pt x="10806" y="7832"/>
                  </a:moveTo>
                  <a:cubicBezTo>
                    <a:pt x="11337" y="7832"/>
                    <a:pt x="11834" y="7953"/>
                    <a:pt x="12294" y="8191"/>
                  </a:cubicBezTo>
                  <a:cubicBezTo>
                    <a:pt x="12754" y="8432"/>
                    <a:pt x="13158" y="8755"/>
                    <a:pt x="13501" y="9169"/>
                  </a:cubicBezTo>
                  <a:cubicBezTo>
                    <a:pt x="13846" y="9583"/>
                    <a:pt x="14118" y="10068"/>
                    <a:pt x="14316" y="10623"/>
                  </a:cubicBezTo>
                  <a:cubicBezTo>
                    <a:pt x="14515" y="11184"/>
                    <a:pt x="14615" y="11781"/>
                    <a:pt x="14615" y="12421"/>
                  </a:cubicBezTo>
                  <a:cubicBezTo>
                    <a:pt x="14615" y="13056"/>
                    <a:pt x="14515" y="13649"/>
                    <a:pt x="14316" y="14205"/>
                  </a:cubicBezTo>
                  <a:cubicBezTo>
                    <a:pt x="14118" y="14757"/>
                    <a:pt x="13846" y="15245"/>
                    <a:pt x="13501" y="15668"/>
                  </a:cubicBezTo>
                  <a:cubicBezTo>
                    <a:pt x="13158" y="16091"/>
                    <a:pt x="12752" y="16420"/>
                    <a:pt x="12289" y="16661"/>
                  </a:cubicBezTo>
                  <a:cubicBezTo>
                    <a:pt x="11824" y="16899"/>
                    <a:pt x="11330" y="17016"/>
                    <a:pt x="10806" y="17016"/>
                  </a:cubicBezTo>
                  <a:cubicBezTo>
                    <a:pt x="10274" y="17016"/>
                    <a:pt x="9777" y="16899"/>
                    <a:pt x="9312" y="16661"/>
                  </a:cubicBezTo>
                  <a:cubicBezTo>
                    <a:pt x="8847" y="16420"/>
                    <a:pt x="8443" y="16091"/>
                    <a:pt x="8100" y="15668"/>
                  </a:cubicBezTo>
                  <a:cubicBezTo>
                    <a:pt x="7755" y="15245"/>
                    <a:pt x="7483" y="14754"/>
                    <a:pt x="7285" y="14199"/>
                  </a:cubicBezTo>
                  <a:cubicBezTo>
                    <a:pt x="7084" y="13641"/>
                    <a:pt x="6984" y="13044"/>
                    <a:pt x="6984" y="12421"/>
                  </a:cubicBezTo>
                  <a:cubicBezTo>
                    <a:pt x="6984" y="11781"/>
                    <a:pt x="7084" y="11184"/>
                    <a:pt x="7285" y="10623"/>
                  </a:cubicBezTo>
                  <a:cubicBezTo>
                    <a:pt x="7483" y="10068"/>
                    <a:pt x="7755" y="9583"/>
                    <a:pt x="8100" y="9169"/>
                  </a:cubicBezTo>
                  <a:cubicBezTo>
                    <a:pt x="8443" y="8755"/>
                    <a:pt x="8847" y="8431"/>
                    <a:pt x="9312" y="8191"/>
                  </a:cubicBezTo>
                  <a:cubicBezTo>
                    <a:pt x="9777" y="7953"/>
                    <a:pt x="10274" y="7832"/>
                    <a:pt x="10806" y="7832"/>
                  </a:cubicBezTo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grpSp>
        <p:nvGrpSpPr>
          <p:cNvPr id="125" name="Group 22"/>
          <p:cNvGrpSpPr/>
          <p:nvPr/>
        </p:nvGrpSpPr>
        <p:grpSpPr>
          <a:xfrm>
            <a:off x="11103377" y="6022959"/>
            <a:ext cx="379882" cy="380106"/>
            <a:chOff x="-9" y="-9"/>
            <a:chExt cx="379880" cy="380105"/>
          </a:xfrm>
        </p:grpSpPr>
        <p:sp>
          <p:nvSpPr>
            <p:cNvPr id="123" name="AutoShape 23"/>
            <p:cNvSpPr/>
            <p:nvPr/>
          </p:nvSpPr>
          <p:spPr>
            <a:xfrm>
              <a:off x="-10" y="-10"/>
              <a:ext cx="379882" cy="380106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>
              <a:outerShdw blurRad="88900" dist="38100" dir="7680000" rotWithShape="0">
                <a:schemeClr val="accent6">
                  <a:alpha val="31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24" name="AutoShape 24"/>
            <p:cNvSpPr/>
            <p:nvPr/>
          </p:nvSpPr>
          <p:spPr>
            <a:xfrm>
              <a:off x="115531" y="130544"/>
              <a:ext cx="149682" cy="1165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82" y="15633"/>
                  </a:moveTo>
                  <a:cubicBezTo>
                    <a:pt x="11211" y="15633"/>
                    <a:pt x="11622" y="15565"/>
                    <a:pt x="12011" y="15416"/>
                  </a:cubicBezTo>
                  <a:cubicBezTo>
                    <a:pt x="12403" y="15272"/>
                    <a:pt x="12778" y="15084"/>
                    <a:pt x="13138" y="14855"/>
                  </a:cubicBezTo>
                  <a:cubicBezTo>
                    <a:pt x="13498" y="14626"/>
                    <a:pt x="13845" y="14361"/>
                    <a:pt x="14181" y="14073"/>
                  </a:cubicBezTo>
                  <a:cubicBezTo>
                    <a:pt x="14516" y="13774"/>
                    <a:pt x="14844" y="13471"/>
                    <a:pt x="15168" y="13160"/>
                  </a:cubicBezTo>
                  <a:cubicBezTo>
                    <a:pt x="16142" y="12226"/>
                    <a:pt x="17126" y="11306"/>
                    <a:pt x="18120" y="10410"/>
                  </a:cubicBezTo>
                  <a:cubicBezTo>
                    <a:pt x="19112" y="9515"/>
                    <a:pt x="20113" y="8616"/>
                    <a:pt x="21120" y="7714"/>
                  </a:cubicBezTo>
                  <a:cubicBezTo>
                    <a:pt x="21198" y="7640"/>
                    <a:pt x="21279" y="7570"/>
                    <a:pt x="21360" y="7496"/>
                  </a:cubicBezTo>
                  <a:cubicBezTo>
                    <a:pt x="21443" y="7429"/>
                    <a:pt x="21524" y="7347"/>
                    <a:pt x="21600" y="7250"/>
                  </a:cubicBezTo>
                  <a:lnTo>
                    <a:pt x="21600" y="19981"/>
                  </a:lnTo>
                  <a:cubicBezTo>
                    <a:pt x="21600" y="20416"/>
                    <a:pt x="21470" y="20800"/>
                    <a:pt x="21208" y="21118"/>
                  </a:cubicBezTo>
                  <a:cubicBezTo>
                    <a:pt x="20946" y="21438"/>
                    <a:pt x="20632" y="21600"/>
                    <a:pt x="20265" y="21600"/>
                  </a:cubicBezTo>
                  <a:lnTo>
                    <a:pt x="1346" y="21600"/>
                  </a:lnTo>
                  <a:cubicBezTo>
                    <a:pt x="979" y="21600"/>
                    <a:pt x="663" y="21438"/>
                    <a:pt x="396" y="21118"/>
                  </a:cubicBezTo>
                  <a:cubicBezTo>
                    <a:pt x="132" y="20803"/>
                    <a:pt x="0" y="20419"/>
                    <a:pt x="0" y="19981"/>
                  </a:cubicBezTo>
                  <a:lnTo>
                    <a:pt x="0" y="7250"/>
                  </a:lnTo>
                  <a:cubicBezTo>
                    <a:pt x="75" y="7347"/>
                    <a:pt x="156" y="7429"/>
                    <a:pt x="239" y="7496"/>
                  </a:cubicBezTo>
                  <a:cubicBezTo>
                    <a:pt x="320" y="7570"/>
                    <a:pt x="401" y="7640"/>
                    <a:pt x="479" y="7714"/>
                  </a:cubicBezTo>
                  <a:cubicBezTo>
                    <a:pt x="1488" y="8616"/>
                    <a:pt x="2487" y="9514"/>
                    <a:pt x="3481" y="10410"/>
                  </a:cubicBezTo>
                  <a:cubicBezTo>
                    <a:pt x="4473" y="11306"/>
                    <a:pt x="5457" y="12223"/>
                    <a:pt x="6434" y="13160"/>
                  </a:cubicBezTo>
                  <a:cubicBezTo>
                    <a:pt x="6738" y="13454"/>
                    <a:pt x="7058" y="13744"/>
                    <a:pt x="7394" y="14038"/>
                  </a:cubicBezTo>
                  <a:cubicBezTo>
                    <a:pt x="7729" y="14338"/>
                    <a:pt x="8079" y="14599"/>
                    <a:pt x="8437" y="14840"/>
                  </a:cubicBezTo>
                  <a:cubicBezTo>
                    <a:pt x="8797" y="15075"/>
                    <a:pt x="9174" y="15269"/>
                    <a:pt x="9568" y="15413"/>
                  </a:cubicBezTo>
                  <a:cubicBezTo>
                    <a:pt x="9965" y="15563"/>
                    <a:pt x="10371" y="15633"/>
                    <a:pt x="10782" y="15633"/>
                  </a:cubicBezTo>
                  <a:moveTo>
                    <a:pt x="10782" y="12413"/>
                  </a:moveTo>
                  <a:cubicBezTo>
                    <a:pt x="10540" y="12413"/>
                    <a:pt x="10278" y="12334"/>
                    <a:pt x="9996" y="12167"/>
                  </a:cubicBezTo>
                  <a:cubicBezTo>
                    <a:pt x="9715" y="12005"/>
                    <a:pt x="9441" y="11806"/>
                    <a:pt x="9171" y="11576"/>
                  </a:cubicBezTo>
                  <a:cubicBezTo>
                    <a:pt x="8900" y="11347"/>
                    <a:pt x="8638" y="11106"/>
                    <a:pt x="8380" y="10854"/>
                  </a:cubicBezTo>
                  <a:cubicBezTo>
                    <a:pt x="8121" y="10601"/>
                    <a:pt x="7896" y="10390"/>
                    <a:pt x="7700" y="10222"/>
                  </a:cubicBezTo>
                  <a:cubicBezTo>
                    <a:pt x="6752" y="9356"/>
                    <a:pt x="5819" y="8507"/>
                    <a:pt x="4891" y="7664"/>
                  </a:cubicBezTo>
                  <a:cubicBezTo>
                    <a:pt x="3966" y="6815"/>
                    <a:pt x="3023" y="5960"/>
                    <a:pt x="2061" y="5087"/>
                  </a:cubicBezTo>
                  <a:cubicBezTo>
                    <a:pt x="1882" y="4920"/>
                    <a:pt x="1672" y="4691"/>
                    <a:pt x="1434" y="4406"/>
                  </a:cubicBezTo>
                  <a:cubicBezTo>
                    <a:pt x="1194" y="4118"/>
                    <a:pt x="974" y="3804"/>
                    <a:pt x="766" y="3460"/>
                  </a:cubicBezTo>
                  <a:cubicBezTo>
                    <a:pt x="560" y="3110"/>
                    <a:pt x="384" y="2761"/>
                    <a:pt x="239" y="2405"/>
                  </a:cubicBezTo>
                  <a:cubicBezTo>
                    <a:pt x="95" y="2050"/>
                    <a:pt x="22" y="1724"/>
                    <a:pt x="22" y="1436"/>
                  </a:cubicBezTo>
                  <a:cubicBezTo>
                    <a:pt x="22" y="1051"/>
                    <a:pt x="164" y="713"/>
                    <a:pt x="443" y="425"/>
                  </a:cubicBezTo>
                  <a:cubicBezTo>
                    <a:pt x="727" y="143"/>
                    <a:pt x="1025" y="0"/>
                    <a:pt x="1346" y="0"/>
                  </a:cubicBezTo>
                  <a:lnTo>
                    <a:pt x="20265" y="0"/>
                  </a:lnTo>
                  <a:cubicBezTo>
                    <a:pt x="20583" y="0"/>
                    <a:pt x="20882" y="143"/>
                    <a:pt x="21161" y="425"/>
                  </a:cubicBezTo>
                  <a:cubicBezTo>
                    <a:pt x="21438" y="713"/>
                    <a:pt x="21577" y="1051"/>
                    <a:pt x="21577" y="1436"/>
                  </a:cubicBezTo>
                  <a:cubicBezTo>
                    <a:pt x="21577" y="1724"/>
                    <a:pt x="21504" y="2050"/>
                    <a:pt x="21360" y="2405"/>
                  </a:cubicBezTo>
                  <a:cubicBezTo>
                    <a:pt x="21215" y="2761"/>
                    <a:pt x="21039" y="3110"/>
                    <a:pt x="20833" y="3460"/>
                  </a:cubicBezTo>
                  <a:cubicBezTo>
                    <a:pt x="20627" y="3804"/>
                    <a:pt x="20402" y="4121"/>
                    <a:pt x="20175" y="4406"/>
                  </a:cubicBezTo>
                  <a:cubicBezTo>
                    <a:pt x="19927" y="4691"/>
                    <a:pt x="19717" y="4923"/>
                    <a:pt x="19538" y="5087"/>
                  </a:cubicBezTo>
                  <a:cubicBezTo>
                    <a:pt x="18578" y="5948"/>
                    <a:pt x="17633" y="6803"/>
                    <a:pt x="16708" y="7652"/>
                  </a:cubicBezTo>
                  <a:cubicBezTo>
                    <a:pt x="15782" y="8501"/>
                    <a:pt x="14844" y="9356"/>
                    <a:pt x="13899" y="10222"/>
                  </a:cubicBezTo>
                  <a:cubicBezTo>
                    <a:pt x="13703" y="10390"/>
                    <a:pt x="13481" y="10601"/>
                    <a:pt x="13226" y="10854"/>
                  </a:cubicBezTo>
                  <a:cubicBezTo>
                    <a:pt x="12971" y="11106"/>
                    <a:pt x="12709" y="11347"/>
                    <a:pt x="12435" y="11576"/>
                  </a:cubicBezTo>
                  <a:cubicBezTo>
                    <a:pt x="12161" y="11806"/>
                    <a:pt x="11884" y="12005"/>
                    <a:pt x="11603" y="12167"/>
                  </a:cubicBezTo>
                  <a:cubicBezTo>
                    <a:pt x="11321" y="12334"/>
                    <a:pt x="11064" y="12413"/>
                    <a:pt x="10829" y="12413"/>
                  </a:cubicBezTo>
                  <a:lnTo>
                    <a:pt x="10782" y="12413"/>
                  </a:ln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126" name="Rectangle 4"/>
          <p:cNvSpPr txBox="1"/>
          <p:nvPr/>
        </p:nvSpPr>
        <p:spPr>
          <a:xfrm>
            <a:off x="1110424" y="6094263"/>
            <a:ext cx="4020025" cy="351155"/>
          </a:xfrm>
          <a:prstGeom prst="rect">
            <a:avLst/>
          </a:prstGeom>
          <a:ln w="12700">
            <a:miter lim="400000"/>
          </a:ln>
        </p:spPr>
        <p:txBody>
          <a:bodyPr lIns="45707" tIns="45707" rIns="45707" bIns="45707" anchor="ctr">
            <a:spAutoFit/>
          </a:bodyPr>
          <a:lstStyle/>
          <a:p>
            <a:pPr>
              <a:defRPr sz="1700">
                <a:solidFill>
                  <a:srgbClr val="7F7F7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  <a:r>
              <a:t>汇报人：代用名      时间：202</a:t>
            </a:r>
            <a:r>
              <a:rPr lang="en-US"/>
              <a:t>6</a:t>
            </a:r>
            <a:r>
              <a:t>.</a:t>
            </a:r>
            <a:r>
              <a:rPr lang="en-US"/>
              <a:t>4</a:t>
            </a:r>
            <a:r>
              <a:t>.</a:t>
            </a:r>
            <a:r>
              <a:rPr lang="en-US"/>
              <a:t>7</a:t>
            </a:r>
            <a:endParaRPr lang="en-US"/>
          </a:p>
        </p:txBody>
      </p:sp>
      <p:sp>
        <p:nvSpPr>
          <p:cNvPr id="127" name="Freeform 15"/>
          <p:cNvSpPr/>
          <p:nvPr/>
        </p:nvSpPr>
        <p:spPr>
          <a:xfrm>
            <a:off x="722889" y="6086349"/>
            <a:ext cx="267392" cy="366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5554"/>
                </a:moveTo>
                <a:cubicBezTo>
                  <a:pt x="21600" y="10183"/>
                  <a:pt x="21600" y="10183"/>
                  <a:pt x="21600" y="10183"/>
                </a:cubicBezTo>
                <a:cubicBezTo>
                  <a:pt x="21600" y="12343"/>
                  <a:pt x="20329" y="14503"/>
                  <a:pt x="18635" y="16046"/>
                </a:cubicBezTo>
                <a:cubicBezTo>
                  <a:pt x="16941" y="16971"/>
                  <a:pt x="14400" y="17897"/>
                  <a:pt x="12282" y="18206"/>
                </a:cubicBezTo>
                <a:cubicBezTo>
                  <a:pt x="12282" y="19749"/>
                  <a:pt x="12282" y="19749"/>
                  <a:pt x="12282" y="19749"/>
                </a:cubicBezTo>
                <a:cubicBezTo>
                  <a:pt x="17788" y="19749"/>
                  <a:pt x="17788" y="19749"/>
                  <a:pt x="17788" y="19749"/>
                </a:cubicBezTo>
                <a:cubicBezTo>
                  <a:pt x="17788" y="21600"/>
                  <a:pt x="17788" y="21600"/>
                  <a:pt x="17788" y="21600"/>
                </a:cubicBezTo>
                <a:cubicBezTo>
                  <a:pt x="4235" y="21600"/>
                  <a:pt x="4235" y="21600"/>
                  <a:pt x="4235" y="21600"/>
                </a:cubicBezTo>
                <a:cubicBezTo>
                  <a:pt x="4235" y="19749"/>
                  <a:pt x="4235" y="19749"/>
                  <a:pt x="4235" y="19749"/>
                </a:cubicBezTo>
                <a:cubicBezTo>
                  <a:pt x="9318" y="19749"/>
                  <a:pt x="9318" y="19749"/>
                  <a:pt x="9318" y="19749"/>
                </a:cubicBezTo>
                <a:cubicBezTo>
                  <a:pt x="9318" y="18206"/>
                  <a:pt x="9318" y="18206"/>
                  <a:pt x="9318" y="18206"/>
                </a:cubicBezTo>
                <a:cubicBezTo>
                  <a:pt x="6776" y="17897"/>
                  <a:pt x="4659" y="16971"/>
                  <a:pt x="2965" y="16046"/>
                </a:cubicBezTo>
                <a:cubicBezTo>
                  <a:pt x="1271" y="14503"/>
                  <a:pt x="0" y="12343"/>
                  <a:pt x="0" y="10183"/>
                </a:cubicBezTo>
                <a:cubicBezTo>
                  <a:pt x="0" y="5554"/>
                  <a:pt x="0" y="5554"/>
                  <a:pt x="0" y="5554"/>
                </a:cubicBezTo>
                <a:cubicBezTo>
                  <a:pt x="2541" y="5554"/>
                  <a:pt x="2541" y="5554"/>
                  <a:pt x="2541" y="5554"/>
                </a:cubicBezTo>
                <a:cubicBezTo>
                  <a:pt x="2541" y="10183"/>
                  <a:pt x="2541" y="10183"/>
                  <a:pt x="2541" y="10183"/>
                </a:cubicBezTo>
                <a:cubicBezTo>
                  <a:pt x="2541" y="12034"/>
                  <a:pt x="3388" y="13269"/>
                  <a:pt x="5082" y="14503"/>
                </a:cubicBezTo>
                <a:cubicBezTo>
                  <a:pt x="6353" y="15429"/>
                  <a:pt x="8471" y="16354"/>
                  <a:pt x="11012" y="16354"/>
                </a:cubicBezTo>
                <a:cubicBezTo>
                  <a:pt x="13129" y="16354"/>
                  <a:pt x="15247" y="15429"/>
                  <a:pt x="16518" y="14503"/>
                </a:cubicBezTo>
                <a:cubicBezTo>
                  <a:pt x="18212" y="13269"/>
                  <a:pt x="19059" y="12034"/>
                  <a:pt x="19059" y="10183"/>
                </a:cubicBezTo>
                <a:cubicBezTo>
                  <a:pt x="19059" y="5554"/>
                  <a:pt x="19059" y="5554"/>
                  <a:pt x="19059" y="5554"/>
                </a:cubicBezTo>
                <a:cubicBezTo>
                  <a:pt x="21600" y="5554"/>
                  <a:pt x="21600" y="5554"/>
                  <a:pt x="21600" y="5554"/>
                </a:cubicBezTo>
                <a:close/>
                <a:moveTo>
                  <a:pt x="11435" y="0"/>
                </a:moveTo>
                <a:cubicBezTo>
                  <a:pt x="11435" y="2469"/>
                  <a:pt x="11435" y="2469"/>
                  <a:pt x="11435" y="2469"/>
                </a:cubicBezTo>
                <a:cubicBezTo>
                  <a:pt x="10165" y="2469"/>
                  <a:pt x="10165" y="2469"/>
                  <a:pt x="10165" y="2469"/>
                </a:cubicBezTo>
                <a:cubicBezTo>
                  <a:pt x="10165" y="0"/>
                  <a:pt x="10165" y="0"/>
                  <a:pt x="10165" y="0"/>
                </a:cubicBezTo>
                <a:cubicBezTo>
                  <a:pt x="9318" y="0"/>
                  <a:pt x="8894" y="309"/>
                  <a:pt x="8471" y="309"/>
                </a:cubicBezTo>
                <a:cubicBezTo>
                  <a:pt x="8471" y="2469"/>
                  <a:pt x="8471" y="2469"/>
                  <a:pt x="8471" y="2469"/>
                </a:cubicBezTo>
                <a:cubicBezTo>
                  <a:pt x="6776" y="2469"/>
                  <a:pt x="6776" y="2469"/>
                  <a:pt x="6776" y="2469"/>
                </a:cubicBezTo>
                <a:cubicBezTo>
                  <a:pt x="6776" y="926"/>
                  <a:pt x="6776" y="926"/>
                  <a:pt x="6776" y="926"/>
                </a:cubicBezTo>
                <a:cubicBezTo>
                  <a:pt x="5506" y="1851"/>
                  <a:pt x="4659" y="3086"/>
                  <a:pt x="4659" y="4629"/>
                </a:cubicBezTo>
                <a:cubicBezTo>
                  <a:pt x="4659" y="4937"/>
                  <a:pt x="4659" y="4937"/>
                  <a:pt x="4659" y="4937"/>
                </a:cubicBezTo>
                <a:cubicBezTo>
                  <a:pt x="6353" y="4937"/>
                  <a:pt x="6353" y="4937"/>
                  <a:pt x="6353" y="4937"/>
                </a:cubicBezTo>
                <a:cubicBezTo>
                  <a:pt x="6353" y="5863"/>
                  <a:pt x="6353" y="5863"/>
                  <a:pt x="6353" y="5863"/>
                </a:cubicBezTo>
                <a:cubicBezTo>
                  <a:pt x="4659" y="5863"/>
                  <a:pt x="4659" y="5863"/>
                  <a:pt x="4659" y="5863"/>
                </a:cubicBezTo>
                <a:cubicBezTo>
                  <a:pt x="4659" y="7097"/>
                  <a:pt x="4659" y="7097"/>
                  <a:pt x="4659" y="7097"/>
                </a:cubicBezTo>
                <a:cubicBezTo>
                  <a:pt x="6353" y="7097"/>
                  <a:pt x="6353" y="7097"/>
                  <a:pt x="6353" y="7097"/>
                </a:cubicBezTo>
                <a:cubicBezTo>
                  <a:pt x="6353" y="8023"/>
                  <a:pt x="6353" y="8023"/>
                  <a:pt x="6353" y="8023"/>
                </a:cubicBezTo>
                <a:cubicBezTo>
                  <a:pt x="4659" y="8023"/>
                  <a:pt x="4659" y="8023"/>
                  <a:pt x="4659" y="8023"/>
                </a:cubicBezTo>
                <a:cubicBezTo>
                  <a:pt x="4659" y="9257"/>
                  <a:pt x="4659" y="9257"/>
                  <a:pt x="4659" y="9257"/>
                </a:cubicBezTo>
                <a:cubicBezTo>
                  <a:pt x="6353" y="9257"/>
                  <a:pt x="6353" y="9257"/>
                  <a:pt x="6353" y="9257"/>
                </a:cubicBezTo>
                <a:cubicBezTo>
                  <a:pt x="6353" y="10491"/>
                  <a:pt x="6353" y="10491"/>
                  <a:pt x="6353" y="10491"/>
                </a:cubicBezTo>
                <a:cubicBezTo>
                  <a:pt x="4659" y="10491"/>
                  <a:pt x="4659" y="10491"/>
                  <a:pt x="4659" y="10491"/>
                </a:cubicBezTo>
                <a:cubicBezTo>
                  <a:pt x="4659" y="12960"/>
                  <a:pt x="7624" y="14811"/>
                  <a:pt x="11012" y="14811"/>
                </a:cubicBezTo>
                <a:cubicBezTo>
                  <a:pt x="11012" y="14811"/>
                  <a:pt x="11012" y="14811"/>
                  <a:pt x="11012" y="14811"/>
                </a:cubicBezTo>
                <a:cubicBezTo>
                  <a:pt x="13976" y="14811"/>
                  <a:pt x="16941" y="12960"/>
                  <a:pt x="16941" y="10491"/>
                </a:cubicBezTo>
                <a:cubicBezTo>
                  <a:pt x="15247" y="10491"/>
                  <a:pt x="15247" y="10491"/>
                  <a:pt x="15247" y="10491"/>
                </a:cubicBezTo>
                <a:cubicBezTo>
                  <a:pt x="15247" y="9257"/>
                  <a:pt x="15247" y="9257"/>
                  <a:pt x="15247" y="9257"/>
                </a:cubicBezTo>
                <a:cubicBezTo>
                  <a:pt x="16941" y="9257"/>
                  <a:pt x="16941" y="9257"/>
                  <a:pt x="16941" y="9257"/>
                </a:cubicBezTo>
                <a:cubicBezTo>
                  <a:pt x="16941" y="8023"/>
                  <a:pt x="16941" y="8023"/>
                  <a:pt x="16941" y="8023"/>
                </a:cubicBezTo>
                <a:cubicBezTo>
                  <a:pt x="15247" y="8023"/>
                  <a:pt x="15247" y="8023"/>
                  <a:pt x="15247" y="8023"/>
                </a:cubicBezTo>
                <a:cubicBezTo>
                  <a:pt x="15247" y="7097"/>
                  <a:pt x="15247" y="7097"/>
                  <a:pt x="15247" y="7097"/>
                </a:cubicBezTo>
                <a:cubicBezTo>
                  <a:pt x="16941" y="7097"/>
                  <a:pt x="16941" y="7097"/>
                  <a:pt x="16941" y="7097"/>
                </a:cubicBezTo>
                <a:cubicBezTo>
                  <a:pt x="16941" y="5863"/>
                  <a:pt x="16941" y="5863"/>
                  <a:pt x="16941" y="5863"/>
                </a:cubicBezTo>
                <a:cubicBezTo>
                  <a:pt x="15247" y="5863"/>
                  <a:pt x="15247" y="5863"/>
                  <a:pt x="15247" y="5863"/>
                </a:cubicBezTo>
                <a:cubicBezTo>
                  <a:pt x="15247" y="4937"/>
                  <a:pt x="15247" y="4937"/>
                  <a:pt x="15247" y="4937"/>
                </a:cubicBezTo>
                <a:cubicBezTo>
                  <a:pt x="16941" y="4937"/>
                  <a:pt x="16941" y="4937"/>
                  <a:pt x="16941" y="4937"/>
                </a:cubicBezTo>
                <a:cubicBezTo>
                  <a:pt x="16941" y="4629"/>
                  <a:pt x="16941" y="4629"/>
                  <a:pt x="16941" y="4629"/>
                </a:cubicBezTo>
                <a:cubicBezTo>
                  <a:pt x="16941" y="3086"/>
                  <a:pt x="16094" y="1851"/>
                  <a:pt x="14824" y="926"/>
                </a:cubicBezTo>
                <a:cubicBezTo>
                  <a:pt x="14824" y="2469"/>
                  <a:pt x="14824" y="2469"/>
                  <a:pt x="14824" y="2469"/>
                </a:cubicBezTo>
                <a:cubicBezTo>
                  <a:pt x="13129" y="2469"/>
                  <a:pt x="13129" y="2469"/>
                  <a:pt x="13129" y="2469"/>
                </a:cubicBezTo>
                <a:cubicBezTo>
                  <a:pt x="13129" y="309"/>
                  <a:pt x="13129" y="309"/>
                  <a:pt x="13129" y="309"/>
                </a:cubicBezTo>
                <a:cubicBezTo>
                  <a:pt x="12706" y="309"/>
                  <a:pt x="12282" y="0"/>
                  <a:pt x="11435" y="0"/>
                </a:cubicBez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chemeClr val="accent6"/>
                </a:solidFill>
              </a:defRPr>
            </a:pPr>
          </a:p>
        </p:txBody>
      </p:sp>
      <p:pic>
        <p:nvPicPr>
          <p:cNvPr id="128" name="Picture 2" descr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1872" y="347141"/>
            <a:ext cx="2645026" cy="6415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9" name="矩形 70"/>
          <p:cNvSpPr txBox="1"/>
          <p:nvPr/>
        </p:nvSpPr>
        <p:spPr>
          <a:xfrm>
            <a:off x="5520433" y="2228046"/>
            <a:ext cx="5917134" cy="65849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/>
          <a:p>
            <a:pPr>
              <a:defRPr sz="4500">
                <a:solidFill>
                  <a:schemeClr val="accent1">
                    <a:lumOff val="44000"/>
                  </a:schemeClr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t>阿里巴巴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专用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PPT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模板</a:t>
            </a:r>
            <a:endParaRPr>
              <a:latin typeface="Heiti SC Light"/>
              <a:ea typeface="Heiti SC Light"/>
              <a:cs typeface="Heiti SC Light"/>
              <a:sym typeface="Heiti SC Light"/>
            </a:endParaRPr>
          </a:p>
        </p:txBody>
      </p:sp>
      <p:sp>
        <p:nvSpPr>
          <p:cNvPr id="130" name="直接连接符 71"/>
          <p:cNvSpPr/>
          <p:nvPr/>
        </p:nvSpPr>
        <p:spPr>
          <a:xfrm>
            <a:off x="5575825" y="2999237"/>
            <a:ext cx="5661667" cy="1"/>
          </a:xfrm>
          <a:prstGeom prst="line">
            <a:avLst/>
          </a:prstGeom>
          <a:ln>
            <a:solidFill>
              <a:schemeClr val="accent1">
                <a:lumOff val="44000"/>
              </a:schemeClr>
            </a:solidFill>
          </a:ln>
        </p:spPr>
        <p:txBody>
          <a:bodyPr lIns="45719" rIns="45719"/>
          <a:lstStyle/>
          <a:p/>
        </p:txBody>
      </p:sp>
      <p:pic>
        <p:nvPicPr>
          <p:cNvPr id="131" name="图片 2" descr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861" y="1578249"/>
            <a:ext cx="3562368" cy="2210792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7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dur="indefinite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" presetClass="entr" presetSubtype="4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" presetClass="entr" presetSubtype="2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8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800"/>
                            </p:stCondLst>
                            <p:childTnLst>
                              <p:par>
                                <p:cTn id="28" presetID="22" presetClass="entr" presetSubtype="8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300"/>
                            </p:stCondLst>
                            <p:childTnLst>
                              <p:par>
                                <p:cTn id="32" presetID="23" presetClass="entr" presetSubtype="16" fill="hold" grpId="7" nodeType="afterEffect">
                                  <p:stCondLst>
                                    <p:cond delay="1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indefinite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300"/>
                            </p:stCondLst>
                            <p:childTnLst>
                              <p:par>
                                <p:cTn id="37" presetID="23" presetClass="entr" presetSubtype="16" fill="hold" grpId="8" nodeType="afterEffect">
                                  <p:stCondLst>
                                    <p:cond delay="17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dur="indefinite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550"/>
                            </p:stCondLst>
                            <p:childTnLst>
                              <p:par>
                                <p:cTn id="42" presetID="23" presetClass="entr" presetSubtype="16" fill="hold" grpId="9" nodeType="afterEffect">
                                  <p:stCondLst>
                                    <p:cond delay="20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indefinite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50"/>
                            </p:stCondLst>
                            <p:childTnLst>
                              <p:par>
                                <p:cTn id="47" presetID="23" presetClass="entr" presetSubtype="16" fill="hold" grpId="10" nodeType="afterEffect">
                                  <p:stCondLst>
                                    <p:cond delay="22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800"/>
                            </p:stCondLst>
                            <p:childTnLst>
                              <p:par>
                                <p:cTn id="52" presetID="2" presetClass="entr" presetSubtype="6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300"/>
                            </p:stCondLst>
                            <p:childTnLst>
                              <p:par>
                                <p:cTn id="57" presetID="22" presetClass="entr" presetSubtype="8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" grpId="2" animBg="1" advAuto="0"/>
      <p:bldP spid="128" grpId="1" animBg="1" advAuto="0"/>
      <p:bldP spid="127" grpId="11" animBg="1" advAuto="0"/>
      <p:bldP spid="126" grpId="12" animBg="1" advAuto="0"/>
      <p:bldP spid="131" grpId="4" animBg="1" advAuto="0"/>
      <p:bldP spid="116" grpId="7" animBg="1" advAuto="0"/>
      <p:bldP spid="129" grpId="5" animBg="1" advAuto="0"/>
      <p:bldP spid="119" grpId="8" animBg="1" advAuto="0"/>
      <p:bldP spid="125" grpId="10" animBg="1" advAuto="0"/>
      <p:bldP spid="130" grpId="6" animBg="1" advAuto="0"/>
      <p:bldP spid="113" grpId="3" animBg="1" advAuto="0"/>
      <p:bldP spid="122" grpId="9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图片 44" descr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19775" cy="6858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6" name="组合 45"/>
          <p:cNvGrpSpPr/>
          <p:nvPr/>
        </p:nvGrpSpPr>
        <p:grpSpPr>
          <a:xfrm>
            <a:off x="7462563" y="763673"/>
            <a:ext cx="848515" cy="848512"/>
            <a:chOff x="0" y="0"/>
            <a:chExt cx="848513" cy="848511"/>
          </a:xfrm>
        </p:grpSpPr>
        <p:sp>
          <p:nvSpPr>
            <p:cNvPr id="134" name="椭圆 46"/>
            <p:cNvSpPr/>
            <p:nvPr/>
          </p:nvSpPr>
          <p:spPr>
            <a:xfrm>
              <a:off x="0" y="0"/>
              <a:ext cx="848514" cy="848512"/>
            </a:xfrm>
            <a:prstGeom prst="ellipse">
              <a:avLst/>
            </a:prstGeom>
            <a:gradFill flip="none" rotWithShape="1">
              <a:gsLst>
                <a:gs pos="0">
                  <a:srgbClr val="D9D9D9"/>
                </a:gs>
                <a:gs pos="100000">
                  <a:schemeClr val="accent1">
                    <a:lumOff val="44000"/>
                  </a:schemeClr>
                </a:gs>
              </a:gsLst>
              <a:lin ang="2700000" scaled="0"/>
            </a:gradFill>
            <a:ln w="25400" cap="flat">
              <a:solidFill>
                <a:srgbClr val="ECECEC"/>
              </a:solidFill>
              <a:prstDash val="solid"/>
              <a:round/>
            </a:ln>
            <a:effectLst>
              <a:outerShdw blurRad="88900" dist="63500" dir="2700000" rotWithShape="0">
                <a:schemeClr val="accent6">
                  <a:alpha val="25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 b="1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35" name="文本框 20"/>
            <p:cNvSpPr txBox="1"/>
            <p:nvPr/>
          </p:nvSpPr>
          <p:spPr>
            <a:xfrm>
              <a:off x="98495" y="91213"/>
              <a:ext cx="680964" cy="572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3800">
                  <a:latin typeface="Heiti SC Light"/>
                  <a:ea typeface="Heiti SC Light"/>
                  <a:cs typeface="Heiti SC Light"/>
                  <a:sym typeface="Heiti SC Light"/>
                </a:defRPr>
              </a:lvl1pPr>
            </a:lstStyle>
            <a:p>
              <a:r>
                <a:t>01</a:t>
              </a:r>
            </a:p>
          </p:txBody>
        </p:sp>
      </p:grpSp>
      <p:grpSp>
        <p:nvGrpSpPr>
          <p:cNvPr id="139" name="组合 48"/>
          <p:cNvGrpSpPr/>
          <p:nvPr/>
        </p:nvGrpSpPr>
        <p:grpSpPr>
          <a:xfrm>
            <a:off x="7486276" y="2916722"/>
            <a:ext cx="848515" cy="848513"/>
            <a:chOff x="0" y="0"/>
            <a:chExt cx="848513" cy="848511"/>
          </a:xfrm>
        </p:grpSpPr>
        <p:sp>
          <p:nvSpPr>
            <p:cNvPr id="137" name="椭圆 49"/>
            <p:cNvSpPr/>
            <p:nvPr/>
          </p:nvSpPr>
          <p:spPr>
            <a:xfrm>
              <a:off x="0" y="0"/>
              <a:ext cx="848514" cy="848512"/>
            </a:xfrm>
            <a:prstGeom prst="ellipse">
              <a:avLst/>
            </a:prstGeom>
            <a:gradFill flip="none" rotWithShape="1">
              <a:gsLst>
                <a:gs pos="0">
                  <a:srgbClr val="D9D9D9"/>
                </a:gs>
                <a:gs pos="100000">
                  <a:schemeClr val="accent1">
                    <a:lumOff val="44000"/>
                  </a:schemeClr>
                </a:gs>
              </a:gsLst>
              <a:lin ang="2700000" scaled="0"/>
            </a:gradFill>
            <a:ln w="25400" cap="flat">
              <a:solidFill>
                <a:srgbClr val="ECECEC"/>
              </a:solidFill>
              <a:prstDash val="solid"/>
              <a:round/>
            </a:ln>
            <a:effectLst>
              <a:outerShdw blurRad="88900" dist="63500" dir="2700000" rotWithShape="0">
                <a:schemeClr val="accent6">
                  <a:alpha val="25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 b="1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38" name="文本框 23"/>
            <p:cNvSpPr txBox="1"/>
            <p:nvPr/>
          </p:nvSpPr>
          <p:spPr>
            <a:xfrm>
              <a:off x="81524" y="91214"/>
              <a:ext cx="680964" cy="5722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3800">
                  <a:latin typeface="Heiti SC Light"/>
                  <a:ea typeface="Heiti SC Light"/>
                  <a:cs typeface="Heiti SC Light"/>
                  <a:sym typeface="Heiti SC Light"/>
                </a:defRPr>
              </a:lvl1pPr>
            </a:lstStyle>
            <a:p>
              <a:r>
                <a:t>03</a:t>
              </a:r>
            </a:p>
          </p:txBody>
        </p:sp>
      </p:grpSp>
      <p:grpSp>
        <p:nvGrpSpPr>
          <p:cNvPr id="142" name="组合 51"/>
          <p:cNvGrpSpPr/>
          <p:nvPr/>
        </p:nvGrpSpPr>
        <p:grpSpPr>
          <a:xfrm>
            <a:off x="7486276" y="3983172"/>
            <a:ext cx="848515" cy="848512"/>
            <a:chOff x="0" y="0"/>
            <a:chExt cx="848513" cy="848511"/>
          </a:xfrm>
        </p:grpSpPr>
        <p:sp>
          <p:nvSpPr>
            <p:cNvPr id="140" name="椭圆 52"/>
            <p:cNvSpPr/>
            <p:nvPr/>
          </p:nvSpPr>
          <p:spPr>
            <a:xfrm>
              <a:off x="0" y="0"/>
              <a:ext cx="848514" cy="848512"/>
            </a:xfrm>
            <a:prstGeom prst="ellipse">
              <a:avLst/>
            </a:prstGeom>
            <a:gradFill flip="none" rotWithShape="1">
              <a:gsLst>
                <a:gs pos="0">
                  <a:srgbClr val="D9D9D9"/>
                </a:gs>
                <a:gs pos="100000">
                  <a:schemeClr val="accent1">
                    <a:lumOff val="44000"/>
                  </a:schemeClr>
                </a:gs>
              </a:gsLst>
              <a:lin ang="2700000" scaled="0"/>
            </a:gradFill>
            <a:ln w="25400" cap="flat">
              <a:solidFill>
                <a:srgbClr val="ECECEC"/>
              </a:solidFill>
              <a:prstDash val="solid"/>
              <a:round/>
            </a:ln>
            <a:effectLst>
              <a:outerShdw blurRad="88900" dist="63500" dir="2700000" rotWithShape="0">
                <a:schemeClr val="accent6">
                  <a:alpha val="25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 b="1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41" name="文本框 29"/>
            <p:cNvSpPr txBox="1"/>
            <p:nvPr/>
          </p:nvSpPr>
          <p:spPr>
            <a:xfrm>
              <a:off x="81524" y="66425"/>
              <a:ext cx="680964" cy="572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3800">
                  <a:latin typeface="Heiti SC Light"/>
                  <a:ea typeface="Heiti SC Light"/>
                  <a:cs typeface="Heiti SC Light"/>
                  <a:sym typeface="Heiti SC Light"/>
                </a:defRPr>
              </a:lvl1pPr>
            </a:lstStyle>
            <a:p>
              <a:r>
                <a:t>04</a:t>
              </a:r>
            </a:p>
          </p:txBody>
        </p:sp>
      </p:grpSp>
      <p:grpSp>
        <p:nvGrpSpPr>
          <p:cNvPr id="145" name="组合 54"/>
          <p:cNvGrpSpPr/>
          <p:nvPr/>
        </p:nvGrpSpPr>
        <p:grpSpPr>
          <a:xfrm>
            <a:off x="7496864" y="1850274"/>
            <a:ext cx="848515" cy="848513"/>
            <a:chOff x="0" y="0"/>
            <a:chExt cx="848513" cy="848511"/>
          </a:xfrm>
        </p:grpSpPr>
        <p:sp>
          <p:nvSpPr>
            <p:cNvPr id="143" name="椭圆 55"/>
            <p:cNvSpPr/>
            <p:nvPr/>
          </p:nvSpPr>
          <p:spPr>
            <a:xfrm>
              <a:off x="0" y="0"/>
              <a:ext cx="848514" cy="848512"/>
            </a:xfrm>
            <a:prstGeom prst="ellipse">
              <a:avLst/>
            </a:prstGeom>
            <a:gradFill flip="none" rotWithShape="1">
              <a:gsLst>
                <a:gs pos="0">
                  <a:srgbClr val="D9D9D9"/>
                </a:gs>
                <a:gs pos="100000">
                  <a:schemeClr val="accent1">
                    <a:lumOff val="44000"/>
                  </a:schemeClr>
                </a:gs>
              </a:gsLst>
              <a:lin ang="2700000" scaled="0"/>
            </a:gradFill>
            <a:ln w="25400" cap="flat">
              <a:solidFill>
                <a:srgbClr val="ECECEC"/>
              </a:solidFill>
              <a:prstDash val="solid"/>
              <a:round/>
            </a:ln>
            <a:effectLst>
              <a:outerShdw blurRad="88900" dist="63500" dir="2700000" rotWithShape="0">
                <a:schemeClr val="accent6">
                  <a:alpha val="25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 b="1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44" name="文本框 32"/>
            <p:cNvSpPr txBox="1"/>
            <p:nvPr/>
          </p:nvSpPr>
          <p:spPr>
            <a:xfrm>
              <a:off x="81524" y="68269"/>
              <a:ext cx="680964" cy="572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3800">
                  <a:latin typeface="Heiti SC Light"/>
                  <a:ea typeface="Heiti SC Light"/>
                  <a:cs typeface="Heiti SC Light"/>
                  <a:sym typeface="Heiti SC Light"/>
                </a:defRPr>
              </a:lvl1pPr>
            </a:lstStyle>
            <a:p>
              <a:r>
                <a:t>02</a:t>
              </a:r>
            </a:p>
          </p:txBody>
        </p:sp>
      </p:grpSp>
      <p:sp>
        <p:nvSpPr>
          <p:cNvPr id="146" name="组合 60"/>
          <p:cNvSpPr/>
          <p:nvPr/>
        </p:nvSpPr>
        <p:spPr>
          <a:xfrm>
            <a:off x="8644054" y="904844"/>
            <a:ext cx="247376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项目背景与简介</a:t>
            </a:r>
          </a:p>
        </p:txBody>
      </p:sp>
      <p:sp>
        <p:nvSpPr>
          <p:cNvPr id="147" name="组合 63"/>
          <p:cNvSpPr/>
          <p:nvPr/>
        </p:nvSpPr>
        <p:spPr>
          <a:xfrm>
            <a:off x="8644055" y="1989327"/>
            <a:ext cx="2761596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工作完成情况</a:t>
            </a:r>
          </a:p>
        </p:txBody>
      </p:sp>
      <p:sp>
        <p:nvSpPr>
          <p:cNvPr id="148" name="组合 66"/>
          <p:cNvSpPr/>
          <p:nvPr/>
        </p:nvSpPr>
        <p:spPr>
          <a:xfrm>
            <a:off x="8644054" y="3079660"/>
            <a:ext cx="323512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成果展示</a:t>
            </a:r>
          </a:p>
        </p:txBody>
      </p:sp>
      <p:sp>
        <p:nvSpPr>
          <p:cNvPr id="149" name="组合 69"/>
          <p:cNvSpPr/>
          <p:nvPr/>
        </p:nvSpPr>
        <p:spPr>
          <a:xfrm>
            <a:off x="8644054" y="4146110"/>
            <a:ext cx="2950942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23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总结与展望</a:t>
            </a:r>
          </a:p>
        </p:txBody>
      </p:sp>
      <p:sp>
        <p:nvSpPr>
          <p:cNvPr id="150" name="椭圆 75"/>
          <p:cNvSpPr/>
          <p:nvPr/>
        </p:nvSpPr>
        <p:spPr>
          <a:xfrm>
            <a:off x="5064981" y="1842349"/>
            <a:ext cx="2076935" cy="2076936"/>
          </a:xfrm>
          <a:prstGeom prst="ellipse">
            <a:avLst/>
          </a:prstGeom>
          <a:gradFill>
            <a:gsLst>
              <a:gs pos="0">
                <a:srgbClr val="D9D9D9"/>
              </a:gs>
              <a:gs pos="100000">
                <a:schemeClr val="accent1">
                  <a:lumOff val="44000"/>
                </a:schemeClr>
              </a:gs>
            </a:gsLst>
            <a:lin ang="2700000"/>
          </a:gradFill>
          <a:ln w="38100">
            <a:solidFill>
              <a:srgbClr val="ECECEC"/>
            </a:solidFill>
          </a:ln>
          <a:effectLst>
            <a:outerShdw blurRad="88900" dist="101600" dir="2700000" rotWithShape="0">
              <a:schemeClr val="accent6">
                <a:alpha val="2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2000" b="1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grpSp>
        <p:nvGrpSpPr>
          <p:cNvPr id="153" name="组合 76"/>
          <p:cNvGrpSpPr/>
          <p:nvPr/>
        </p:nvGrpSpPr>
        <p:grpSpPr>
          <a:xfrm>
            <a:off x="5203849" y="2299399"/>
            <a:ext cx="1799199" cy="1168210"/>
            <a:chOff x="0" y="0"/>
            <a:chExt cx="1799198" cy="1168209"/>
          </a:xfrm>
        </p:grpSpPr>
        <p:sp>
          <p:nvSpPr>
            <p:cNvPr id="151" name="文本框 5"/>
            <p:cNvSpPr txBox="1"/>
            <p:nvPr/>
          </p:nvSpPr>
          <p:spPr>
            <a:xfrm>
              <a:off x="0" y="0"/>
              <a:ext cx="1799199" cy="819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5700">
                  <a:latin typeface="Heiti SC Medium"/>
                  <a:ea typeface="Heiti SC Medium"/>
                  <a:cs typeface="Heiti SC Medium"/>
                  <a:sym typeface="Heiti SC Medium"/>
                </a:defRPr>
              </a:lvl1pPr>
            </a:lstStyle>
            <a:p>
              <a:r>
                <a:t>目录</a:t>
              </a:r>
            </a:p>
          </p:txBody>
        </p:sp>
        <p:sp>
          <p:nvSpPr>
            <p:cNvPr id="152" name="矩形 78"/>
            <p:cNvSpPr txBox="1"/>
            <p:nvPr/>
          </p:nvSpPr>
          <p:spPr>
            <a:xfrm>
              <a:off x="211556" y="837925"/>
              <a:ext cx="1369852" cy="3302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900"/>
              </a:lvl1pPr>
            </a:lstStyle>
            <a:p>
              <a:r>
                <a:t>CONTENTS</a:t>
              </a:r>
            </a:p>
          </p:txBody>
        </p:sp>
      </p:grpSp>
      <p:sp>
        <p:nvSpPr>
          <p:cNvPr id="154" name="椭圆 79"/>
          <p:cNvSpPr/>
          <p:nvPr/>
        </p:nvSpPr>
        <p:spPr>
          <a:xfrm>
            <a:off x="3933095" y="3435787"/>
            <a:ext cx="1218799" cy="1218799"/>
          </a:xfrm>
          <a:prstGeom prst="ellipse">
            <a:avLst/>
          </a:prstGeom>
          <a:gradFill>
            <a:gsLst>
              <a:gs pos="0">
                <a:srgbClr val="D9D9D9"/>
              </a:gs>
              <a:gs pos="100000">
                <a:schemeClr val="accent1">
                  <a:lumOff val="44000"/>
                </a:schemeClr>
              </a:gs>
            </a:gsLst>
            <a:lin ang="2700000"/>
          </a:gradFill>
          <a:ln w="38100">
            <a:solidFill>
              <a:srgbClr val="ECECEC"/>
            </a:solidFill>
          </a:ln>
          <a:effectLst>
            <a:outerShdw blurRad="88900" dist="101600" dir="2700000" rotWithShape="0">
              <a:schemeClr val="accent6">
                <a:alpha val="25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2000" b="1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fade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4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2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5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15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dur="indefinite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250"/>
                            </p:stCondLst>
                            <p:childTnLst>
                              <p:par>
                                <p:cTn id="38" presetID="15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indefinite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750"/>
                            </p:stCondLst>
                            <p:childTnLst>
                              <p:par>
                                <p:cTn id="45" presetID="15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50"/>
                            </p:stCondLst>
                            <p:childTnLst>
                              <p:par>
                                <p:cTn id="52" presetID="15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dur="indefinite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750"/>
                            </p:stCondLst>
                            <p:childTnLst>
                              <p:par>
                                <p:cTn id="59" presetID="15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250"/>
                            </p:stCondLst>
                            <p:childTnLst>
                              <p:par>
                                <p:cTn id="66" presetID="15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dur="indefinite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750"/>
                            </p:stCondLst>
                            <p:childTnLst>
                              <p:par>
                                <p:cTn id="73" presetID="15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" grpId="4" animBg="1" advAuto="0"/>
      <p:bldP spid="142" grpId="11" animBg="1" advAuto="0"/>
      <p:bldP spid="145" grpId="7" animBg="1" advAuto="0"/>
      <p:bldP spid="150" grpId="3" animBg="1" advAuto="0"/>
      <p:bldP spid="133" grpId="1" animBg="1" advAuto="0"/>
      <p:bldP spid="147" grpId="8" animBg="1" advAuto="0"/>
      <p:bldP spid="154" grpId="2" animBg="1" advAuto="0"/>
      <p:bldP spid="139" grpId="9" animBg="1" advAuto="0"/>
      <p:bldP spid="136" grpId="5" animBg="1" advAuto="0"/>
      <p:bldP spid="146" grpId="6" animBg="1" advAuto="0"/>
      <p:bldP spid="148" grpId="10" animBg="1" advAuto="0"/>
      <p:bldP spid="149" grpId="12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28"/>
          <p:cNvSpPr/>
          <p:nvPr/>
        </p:nvSpPr>
        <p:spPr>
          <a:xfrm>
            <a:off x="-389" y="0"/>
            <a:ext cx="12189602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57" name="矩形 24"/>
          <p:cNvSpPr/>
          <p:nvPr/>
        </p:nvSpPr>
        <p:spPr>
          <a:xfrm>
            <a:off x="-389" y="1797668"/>
            <a:ext cx="12189602" cy="3454201"/>
          </a:xfrm>
          <a:prstGeom prst="rect">
            <a:avLst/>
          </a:prstGeom>
          <a:solidFill>
            <a:srgbClr val="F26F20">
              <a:alpha val="8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58" name="直接连接符 25"/>
          <p:cNvSpPr/>
          <p:nvPr/>
        </p:nvSpPr>
        <p:spPr>
          <a:xfrm flipH="1">
            <a:off x="4367119" y="2181321"/>
            <a:ext cx="1" cy="2686900"/>
          </a:xfrm>
          <a:prstGeom prst="line">
            <a:avLst/>
          </a:prstGeom>
          <a:ln>
            <a:solidFill>
              <a:schemeClr val="accent1">
                <a:lumOff val="44000"/>
              </a:schemeClr>
            </a:solidFill>
            <a:prstDash val="sysDash"/>
          </a:ln>
        </p:spPr>
        <p:txBody>
          <a:bodyPr lIns="45719" rIns="45719"/>
          <a:lstStyle/>
          <a:p/>
        </p:txBody>
      </p:sp>
      <p:sp>
        <p:nvSpPr>
          <p:cNvPr id="159" name="TextBox 10"/>
          <p:cNvSpPr txBox="1"/>
          <p:nvPr/>
        </p:nvSpPr>
        <p:spPr>
          <a:xfrm>
            <a:off x="5031966" y="2421350"/>
            <a:ext cx="6705205" cy="7697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chemeClr val="accent1">
                    <a:lumOff val="44000"/>
                  </a:schemeClr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t>第一部分 </a:t>
            </a:r>
            <a:r>
              <a:rPr sz="3100"/>
              <a:t>| </a:t>
            </a:r>
            <a:r>
              <a:rPr sz="5300"/>
              <a:t>项目背景与简介</a:t>
            </a:r>
            <a:endParaRPr sz="5300"/>
          </a:p>
        </p:txBody>
      </p:sp>
      <p:grpSp>
        <p:nvGrpSpPr>
          <p:cNvPr id="162" name="组合 2"/>
          <p:cNvGrpSpPr/>
          <p:nvPr/>
        </p:nvGrpSpPr>
        <p:grpSpPr>
          <a:xfrm>
            <a:off x="1575943" y="2565268"/>
            <a:ext cx="1919004" cy="1919002"/>
            <a:chOff x="0" y="0"/>
            <a:chExt cx="1919002" cy="1919000"/>
          </a:xfrm>
        </p:grpSpPr>
        <p:sp>
          <p:nvSpPr>
            <p:cNvPr id="160" name="椭圆 29"/>
            <p:cNvSpPr/>
            <p:nvPr/>
          </p:nvSpPr>
          <p:spPr>
            <a:xfrm>
              <a:off x="-1" y="-1"/>
              <a:ext cx="1919004" cy="1919002"/>
            </a:xfrm>
            <a:prstGeom prst="ellipse">
              <a:avLst/>
            </a:prstGeom>
            <a:gradFill flip="none" rotWithShape="1">
              <a:gsLst>
                <a:gs pos="0">
                  <a:srgbClr val="E0E0E0"/>
                </a:gs>
                <a:gs pos="100000">
                  <a:schemeClr val="accent1">
                    <a:lumOff val="44000"/>
                  </a:schemeClr>
                </a:gs>
              </a:gsLst>
              <a:lin ang="8100000" scaled="0"/>
            </a:gradFill>
            <a:ln w="63500" cap="flat">
              <a:solidFill>
                <a:srgbClr val="ECECEC"/>
              </a:solidFill>
              <a:prstDash val="solid"/>
              <a:round/>
            </a:ln>
            <a:effectLst>
              <a:outerShdw blurRad="254000" dist="279400" dir="8100000" rotWithShape="0">
                <a:schemeClr val="accent6">
                  <a:alpha val="40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61" name="KSO_Shape"/>
            <p:cNvSpPr/>
            <p:nvPr/>
          </p:nvSpPr>
          <p:spPr>
            <a:xfrm>
              <a:off x="417964" y="498297"/>
              <a:ext cx="1083073" cy="922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776" y="15750"/>
                  </a:moveTo>
                  <a:lnTo>
                    <a:pt x="4779" y="16016"/>
                  </a:lnTo>
                  <a:lnTo>
                    <a:pt x="4789" y="16270"/>
                  </a:lnTo>
                  <a:lnTo>
                    <a:pt x="4799" y="16524"/>
                  </a:lnTo>
                  <a:lnTo>
                    <a:pt x="4808" y="16771"/>
                  </a:lnTo>
                  <a:lnTo>
                    <a:pt x="4821" y="17010"/>
                  </a:lnTo>
                  <a:lnTo>
                    <a:pt x="4841" y="17245"/>
                  </a:lnTo>
                  <a:lnTo>
                    <a:pt x="4860" y="17469"/>
                  </a:lnTo>
                  <a:lnTo>
                    <a:pt x="4879" y="17693"/>
                  </a:lnTo>
                  <a:lnTo>
                    <a:pt x="4899" y="17905"/>
                  </a:lnTo>
                  <a:lnTo>
                    <a:pt x="4924" y="18114"/>
                  </a:lnTo>
                  <a:lnTo>
                    <a:pt x="4953" y="18311"/>
                  </a:lnTo>
                  <a:lnTo>
                    <a:pt x="4982" y="18508"/>
                  </a:lnTo>
                  <a:lnTo>
                    <a:pt x="5011" y="18694"/>
                  </a:lnTo>
                  <a:lnTo>
                    <a:pt x="5044" y="18872"/>
                  </a:lnTo>
                  <a:lnTo>
                    <a:pt x="5082" y="19051"/>
                  </a:lnTo>
                  <a:lnTo>
                    <a:pt x="5118" y="19218"/>
                  </a:lnTo>
                  <a:lnTo>
                    <a:pt x="5160" y="19377"/>
                  </a:lnTo>
                  <a:lnTo>
                    <a:pt x="5202" y="19529"/>
                  </a:lnTo>
                  <a:lnTo>
                    <a:pt x="5247" y="19677"/>
                  </a:lnTo>
                  <a:lnTo>
                    <a:pt x="5292" y="19813"/>
                  </a:lnTo>
                  <a:lnTo>
                    <a:pt x="5344" y="19946"/>
                  </a:lnTo>
                  <a:lnTo>
                    <a:pt x="5395" y="20071"/>
                  </a:lnTo>
                  <a:lnTo>
                    <a:pt x="5450" y="20189"/>
                  </a:lnTo>
                  <a:lnTo>
                    <a:pt x="5505" y="20299"/>
                  </a:lnTo>
                  <a:lnTo>
                    <a:pt x="5566" y="20401"/>
                  </a:lnTo>
                  <a:lnTo>
                    <a:pt x="5624" y="20496"/>
                  </a:lnTo>
                  <a:lnTo>
                    <a:pt x="5689" y="20583"/>
                  </a:lnTo>
                  <a:lnTo>
                    <a:pt x="5753" y="20663"/>
                  </a:lnTo>
                  <a:lnTo>
                    <a:pt x="5824" y="20739"/>
                  </a:lnTo>
                  <a:lnTo>
                    <a:pt x="5895" y="20800"/>
                  </a:lnTo>
                  <a:lnTo>
                    <a:pt x="5969" y="20860"/>
                  </a:lnTo>
                  <a:lnTo>
                    <a:pt x="6043" y="20906"/>
                  </a:lnTo>
                  <a:lnTo>
                    <a:pt x="6043" y="17886"/>
                  </a:lnTo>
                  <a:lnTo>
                    <a:pt x="6011" y="17879"/>
                  </a:lnTo>
                  <a:lnTo>
                    <a:pt x="5975" y="17867"/>
                  </a:lnTo>
                  <a:lnTo>
                    <a:pt x="5943" y="17852"/>
                  </a:lnTo>
                  <a:lnTo>
                    <a:pt x="5914" y="17837"/>
                  </a:lnTo>
                  <a:lnTo>
                    <a:pt x="5885" y="17818"/>
                  </a:lnTo>
                  <a:lnTo>
                    <a:pt x="5856" y="17791"/>
                  </a:lnTo>
                  <a:lnTo>
                    <a:pt x="5830" y="17765"/>
                  </a:lnTo>
                  <a:lnTo>
                    <a:pt x="5808" y="17738"/>
                  </a:lnTo>
                  <a:lnTo>
                    <a:pt x="5785" y="17708"/>
                  </a:lnTo>
                  <a:lnTo>
                    <a:pt x="5763" y="17678"/>
                  </a:lnTo>
                  <a:lnTo>
                    <a:pt x="5747" y="17640"/>
                  </a:lnTo>
                  <a:lnTo>
                    <a:pt x="5734" y="17605"/>
                  </a:lnTo>
                  <a:lnTo>
                    <a:pt x="5724" y="17567"/>
                  </a:lnTo>
                  <a:lnTo>
                    <a:pt x="5714" y="17530"/>
                  </a:lnTo>
                  <a:lnTo>
                    <a:pt x="5711" y="17484"/>
                  </a:lnTo>
                  <a:lnTo>
                    <a:pt x="5708" y="17446"/>
                  </a:lnTo>
                  <a:lnTo>
                    <a:pt x="5708" y="16995"/>
                  </a:lnTo>
                  <a:lnTo>
                    <a:pt x="5711" y="16945"/>
                  </a:lnTo>
                  <a:lnTo>
                    <a:pt x="5718" y="16904"/>
                  </a:lnTo>
                  <a:lnTo>
                    <a:pt x="5727" y="16862"/>
                  </a:lnTo>
                  <a:lnTo>
                    <a:pt x="5740" y="16816"/>
                  </a:lnTo>
                  <a:lnTo>
                    <a:pt x="5753" y="16778"/>
                  </a:lnTo>
                  <a:lnTo>
                    <a:pt x="5776" y="16741"/>
                  </a:lnTo>
                  <a:lnTo>
                    <a:pt x="5798" y="16706"/>
                  </a:lnTo>
                  <a:lnTo>
                    <a:pt x="5821" y="16672"/>
                  </a:lnTo>
                  <a:lnTo>
                    <a:pt x="5850" y="16642"/>
                  </a:lnTo>
                  <a:lnTo>
                    <a:pt x="5879" y="16619"/>
                  </a:lnTo>
                  <a:lnTo>
                    <a:pt x="5911" y="16596"/>
                  </a:lnTo>
                  <a:lnTo>
                    <a:pt x="5943" y="16577"/>
                  </a:lnTo>
                  <a:lnTo>
                    <a:pt x="5979" y="16562"/>
                  </a:lnTo>
                  <a:lnTo>
                    <a:pt x="6017" y="16547"/>
                  </a:lnTo>
                  <a:lnTo>
                    <a:pt x="6056" y="16539"/>
                  </a:lnTo>
                  <a:lnTo>
                    <a:pt x="6978" y="16539"/>
                  </a:lnTo>
                  <a:lnTo>
                    <a:pt x="7017" y="16547"/>
                  </a:lnTo>
                  <a:lnTo>
                    <a:pt x="7052" y="16562"/>
                  </a:lnTo>
                  <a:lnTo>
                    <a:pt x="7091" y="16577"/>
                  </a:lnTo>
                  <a:lnTo>
                    <a:pt x="7123" y="16596"/>
                  </a:lnTo>
                  <a:lnTo>
                    <a:pt x="7155" y="16619"/>
                  </a:lnTo>
                  <a:lnTo>
                    <a:pt x="7188" y="16642"/>
                  </a:lnTo>
                  <a:lnTo>
                    <a:pt x="7214" y="16672"/>
                  </a:lnTo>
                  <a:lnTo>
                    <a:pt x="7236" y="16706"/>
                  </a:lnTo>
                  <a:lnTo>
                    <a:pt x="7259" y="16741"/>
                  </a:lnTo>
                  <a:lnTo>
                    <a:pt x="7278" y="16778"/>
                  </a:lnTo>
                  <a:lnTo>
                    <a:pt x="7297" y="16816"/>
                  </a:lnTo>
                  <a:lnTo>
                    <a:pt x="7310" y="16862"/>
                  </a:lnTo>
                  <a:lnTo>
                    <a:pt x="7320" y="16904"/>
                  </a:lnTo>
                  <a:lnTo>
                    <a:pt x="7323" y="16945"/>
                  </a:lnTo>
                  <a:lnTo>
                    <a:pt x="7326" y="16995"/>
                  </a:lnTo>
                  <a:lnTo>
                    <a:pt x="7326" y="17484"/>
                  </a:lnTo>
                  <a:lnTo>
                    <a:pt x="7320" y="17530"/>
                  </a:lnTo>
                  <a:lnTo>
                    <a:pt x="7313" y="17567"/>
                  </a:lnTo>
                  <a:lnTo>
                    <a:pt x="7301" y="17605"/>
                  </a:lnTo>
                  <a:lnTo>
                    <a:pt x="7284" y="17640"/>
                  </a:lnTo>
                  <a:lnTo>
                    <a:pt x="7268" y="17678"/>
                  </a:lnTo>
                  <a:lnTo>
                    <a:pt x="7249" y="17708"/>
                  </a:lnTo>
                  <a:lnTo>
                    <a:pt x="7230" y="17738"/>
                  </a:lnTo>
                  <a:lnTo>
                    <a:pt x="7204" y="17765"/>
                  </a:lnTo>
                  <a:lnTo>
                    <a:pt x="7181" y="17791"/>
                  </a:lnTo>
                  <a:lnTo>
                    <a:pt x="7149" y="17818"/>
                  </a:lnTo>
                  <a:lnTo>
                    <a:pt x="7120" y="17837"/>
                  </a:lnTo>
                  <a:lnTo>
                    <a:pt x="7091" y="17852"/>
                  </a:lnTo>
                  <a:lnTo>
                    <a:pt x="7059" y="17867"/>
                  </a:lnTo>
                  <a:lnTo>
                    <a:pt x="7023" y="17879"/>
                  </a:lnTo>
                  <a:lnTo>
                    <a:pt x="6991" y="17886"/>
                  </a:lnTo>
                  <a:lnTo>
                    <a:pt x="6991" y="20906"/>
                  </a:lnTo>
                  <a:lnTo>
                    <a:pt x="7068" y="20860"/>
                  </a:lnTo>
                  <a:lnTo>
                    <a:pt x="7139" y="20800"/>
                  </a:lnTo>
                  <a:lnTo>
                    <a:pt x="7210" y="20739"/>
                  </a:lnTo>
                  <a:lnTo>
                    <a:pt x="7278" y="20663"/>
                  </a:lnTo>
                  <a:lnTo>
                    <a:pt x="7346" y="20583"/>
                  </a:lnTo>
                  <a:lnTo>
                    <a:pt x="7410" y="20496"/>
                  </a:lnTo>
                  <a:lnTo>
                    <a:pt x="7468" y="20401"/>
                  </a:lnTo>
                  <a:lnTo>
                    <a:pt x="7529" y="20299"/>
                  </a:lnTo>
                  <a:lnTo>
                    <a:pt x="7584" y="20189"/>
                  </a:lnTo>
                  <a:lnTo>
                    <a:pt x="7636" y="20071"/>
                  </a:lnTo>
                  <a:lnTo>
                    <a:pt x="7691" y="19946"/>
                  </a:lnTo>
                  <a:lnTo>
                    <a:pt x="7739" y="19813"/>
                  </a:lnTo>
                  <a:lnTo>
                    <a:pt x="7787" y="19677"/>
                  </a:lnTo>
                  <a:lnTo>
                    <a:pt x="7833" y="19529"/>
                  </a:lnTo>
                  <a:lnTo>
                    <a:pt x="7874" y="19377"/>
                  </a:lnTo>
                  <a:lnTo>
                    <a:pt x="7916" y="19218"/>
                  </a:lnTo>
                  <a:lnTo>
                    <a:pt x="7952" y="19051"/>
                  </a:lnTo>
                  <a:lnTo>
                    <a:pt x="7987" y="18872"/>
                  </a:lnTo>
                  <a:lnTo>
                    <a:pt x="8023" y="18694"/>
                  </a:lnTo>
                  <a:lnTo>
                    <a:pt x="8052" y="18508"/>
                  </a:lnTo>
                  <a:lnTo>
                    <a:pt x="8081" y="18311"/>
                  </a:lnTo>
                  <a:lnTo>
                    <a:pt x="8107" y="18114"/>
                  </a:lnTo>
                  <a:lnTo>
                    <a:pt x="8136" y="17905"/>
                  </a:lnTo>
                  <a:lnTo>
                    <a:pt x="8155" y="17693"/>
                  </a:lnTo>
                  <a:lnTo>
                    <a:pt x="8178" y="17469"/>
                  </a:lnTo>
                  <a:lnTo>
                    <a:pt x="8194" y="17245"/>
                  </a:lnTo>
                  <a:lnTo>
                    <a:pt x="8210" y="17010"/>
                  </a:lnTo>
                  <a:lnTo>
                    <a:pt x="8223" y="16771"/>
                  </a:lnTo>
                  <a:lnTo>
                    <a:pt x="8239" y="16524"/>
                  </a:lnTo>
                  <a:lnTo>
                    <a:pt x="8248" y="16270"/>
                  </a:lnTo>
                  <a:lnTo>
                    <a:pt x="8255" y="16016"/>
                  </a:lnTo>
                  <a:lnTo>
                    <a:pt x="8261" y="15750"/>
                  </a:lnTo>
                  <a:lnTo>
                    <a:pt x="8545" y="15773"/>
                  </a:lnTo>
                  <a:lnTo>
                    <a:pt x="8806" y="15792"/>
                  </a:lnTo>
                  <a:lnTo>
                    <a:pt x="9245" y="15830"/>
                  </a:lnTo>
                  <a:lnTo>
                    <a:pt x="9538" y="15860"/>
                  </a:lnTo>
                  <a:lnTo>
                    <a:pt x="9641" y="15872"/>
                  </a:lnTo>
                  <a:lnTo>
                    <a:pt x="9722" y="15876"/>
                  </a:lnTo>
                  <a:lnTo>
                    <a:pt x="9802" y="15883"/>
                  </a:lnTo>
                  <a:lnTo>
                    <a:pt x="9883" y="15895"/>
                  </a:lnTo>
                  <a:lnTo>
                    <a:pt x="9960" y="15910"/>
                  </a:lnTo>
                  <a:lnTo>
                    <a:pt x="10038" y="15929"/>
                  </a:lnTo>
                  <a:lnTo>
                    <a:pt x="10115" y="15955"/>
                  </a:lnTo>
                  <a:lnTo>
                    <a:pt x="10186" y="15982"/>
                  </a:lnTo>
                  <a:lnTo>
                    <a:pt x="10260" y="16020"/>
                  </a:lnTo>
                  <a:lnTo>
                    <a:pt x="10328" y="16054"/>
                  </a:lnTo>
                  <a:lnTo>
                    <a:pt x="10399" y="16096"/>
                  </a:lnTo>
                  <a:lnTo>
                    <a:pt x="10467" y="16145"/>
                  </a:lnTo>
                  <a:lnTo>
                    <a:pt x="10528" y="16190"/>
                  </a:lnTo>
                  <a:lnTo>
                    <a:pt x="10592" y="16240"/>
                  </a:lnTo>
                  <a:lnTo>
                    <a:pt x="10650" y="16300"/>
                  </a:lnTo>
                  <a:lnTo>
                    <a:pt x="10708" y="16357"/>
                  </a:lnTo>
                  <a:lnTo>
                    <a:pt x="10763" y="16422"/>
                  </a:lnTo>
                  <a:lnTo>
                    <a:pt x="10818" y="16483"/>
                  </a:lnTo>
                  <a:lnTo>
                    <a:pt x="10866" y="16555"/>
                  </a:lnTo>
                  <a:lnTo>
                    <a:pt x="10912" y="16623"/>
                  </a:lnTo>
                  <a:lnTo>
                    <a:pt x="10957" y="16695"/>
                  </a:lnTo>
                  <a:lnTo>
                    <a:pt x="10999" y="16771"/>
                  </a:lnTo>
                  <a:lnTo>
                    <a:pt x="11034" y="16851"/>
                  </a:lnTo>
                  <a:lnTo>
                    <a:pt x="11073" y="16930"/>
                  </a:lnTo>
                  <a:lnTo>
                    <a:pt x="11105" y="17014"/>
                  </a:lnTo>
                  <a:lnTo>
                    <a:pt x="11131" y="17097"/>
                  </a:lnTo>
                  <a:lnTo>
                    <a:pt x="11157" y="17184"/>
                  </a:lnTo>
                  <a:lnTo>
                    <a:pt x="11179" y="17275"/>
                  </a:lnTo>
                  <a:lnTo>
                    <a:pt x="11195" y="17363"/>
                  </a:lnTo>
                  <a:lnTo>
                    <a:pt x="11211" y="17454"/>
                  </a:lnTo>
                  <a:lnTo>
                    <a:pt x="11221" y="17549"/>
                  </a:lnTo>
                  <a:lnTo>
                    <a:pt x="11227" y="17643"/>
                  </a:lnTo>
                  <a:lnTo>
                    <a:pt x="11227" y="20155"/>
                  </a:lnTo>
                  <a:lnTo>
                    <a:pt x="11221" y="20200"/>
                  </a:lnTo>
                  <a:lnTo>
                    <a:pt x="11215" y="20246"/>
                  </a:lnTo>
                  <a:lnTo>
                    <a:pt x="11202" y="20295"/>
                  </a:lnTo>
                  <a:lnTo>
                    <a:pt x="11189" y="20337"/>
                  </a:lnTo>
                  <a:lnTo>
                    <a:pt x="11169" y="20382"/>
                  </a:lnTo>
                  <a:lnTo>
                    <a:pt x="11147" y="20428"/>
                  </a:lnTo>
                  <a:lnTo>
                    <a:pt x="11121" y="20466"/>
                  </a:lnTo>
                  <a:lnTo>
                    <a:pt x="11095" y="20507"/>
                  </a:lnTo>
                  <a:lnTo>
                    <a:pt x="11066" y="20545"/>
                  </a:lnTo>
                  <a:lnTo>
                    <a:pt x="11031" y="20591"/>
                  </a:lnTo>
                  <a:lnTo>
                    <a:pt x="10995" y="20629"/>
                  </a:lnTo>
                  <a:lnTo>
                    <a:pt x="10957" y="20663"/>
                  </a:lnTo>
                  <a:lnTo>
                    <a:pt x="10915" y="20705"/>
                  </a:lnTo>
                  <a:lnTo>
                    <a:pt x="10870" y="20739"/>
                  </a:lnTo>
                  <a:lnTo>
                    <a:pt x="10824" y="20773"/>
                  </a:lnTo>
                  <a:lnTo>
                    <a:pt x="10725" y="20845"/>
                  </a:lnTo>
                  <a:lnTo>
                    <a:pt x="10612" y="20910"/>
                  </a:lnTo>
                  <a:lnTo>
                    <a:pt x="10492" y="20970"/>
                  </a:lnTo>
                  <a:lnTo>
                    <a:pt x="10363" y="21035"/>
                  </a:lnTo>
                  <a:lnTo>
                    <a:pt x="10222" y="21088"/>
                  </a:lnTo>
                  <a:lnTo>
                    <a:pt x="10076" y="21145"/>
                  </a:lnTo>
                  <a:lnTo>
                    <a:pt x="9925" y="21194"/>
                  </a:lnTo>
                  <a:lnTo>
                    <a:pt x="9764" y="21240"/>
                  </a:lnTo>
                  <a:lnTo>
                    <a:pt x="9593" y="21285"/>
                  </a:lnTo>
                  <a:lnTo>
                    <a:pt x="9422" y="21327"/>
                  </a:lnTo>
                  <a:lnTo>
                    <a:pt x="9241" y="21365"/>
                  </a:lnTo>
                  <a:lnTo>
                    <a:pt x="9058" y="21403"/>
                  </a:lnTo>
                  <a:lnTo>
                    <a:pt x="8864" y="21433"/>
                  </a:lnTo>
                  <a:lnTo>
                    <a:pt x="8671" y="21463"/>
                  </a:lnTo>
                  <a:lnTo>
                    <a:pt x="8474" y="21486"/>
                  </a:lnTo>
                  <a:lnTo>
                    <a:pt x="8271" y="21513"/>
                  </a:lnTo>
                  <a:lnTo>
                    <a:pt x="8061" y="21536"/>
                  </a:lnTo>
                  <a:lnTo>
                    <a:pt x="7855" y="21551"/>
                  </a:lnTo>
                  <a:lnTo>
                    <a:pt x="7646" y="21566"/>
                  </a:lnTo>
                  <a:lnTo>
                    <a:pt x="7433" y="21581"/>
                  </a:lnTo>
                  <a:lnTo>
                    <a:pt x="7217" y="21589"/>
                  </a:lnTo>
                  <a:lnTo>
                    <a:pt x="7001" y="21596"/>
                  </a:lnTo>
                  <a:lnTo>
                    <a:pt x="6785" y="21600"/>
                  </a:lnTo>
                  <a:lnTo>
                    <a:pt x="6356" y="21600"/>
                  </a:lnTo>
                  <a:lnTo>
                    <a:pt x="6137" y="21596"/>
                  </a:lnTo>
                  <a:lnTo>
                    <a:pt x="5921" y="21589"/>
                  </a:lnTo>
                  <a:lnTo>
                    <a:pt x="5705" y="21581"/>
                  </a:lnTo>
                  <a:lnTo>
                    <a:pt x="5489" y="21566"/>
                  </a:lnTo>
                  <a:lnTo>
                    <a:pt x="5273" y="21551"/>
                  </a:lnTo>
                  <a:lnTo>
                    <a:pt x="5066" y="21536"/>
                  </a:lnTo>
                  <a:lnTo>
                    <a:pt x="4853" y="21513"/>
                  </a:lnTo>
                  <a:lnTo>
                    <a:pt x="4647" y="21486"/>
                  </a:lnTo>
                  <a:lnTo>
                    <a:pt x="4444" y="21463"/>
                  </a:lnTo>
                  <a:lnTo>
                    <a:pt x="4247" y="21433"/>
                  </a:lnTo>
                  <a:lnTo>
                    <a:pt x="4051" y="21403"/>
                  </a:lnTo>
                  <a:lnTo>
                    <a:pt x="3860" y="21365"/>
                  </a:lnTo>
                  <a:lnTo>
                    <a:pt x="3677" y="21327"/>
                  </a:lnTo>
                  <a:lnTo>
                    <a:pt x="3496" y="21285"/>
                  </a:lnTo>
                  <a:lnTo>
                    <a:pt x="3325" y="21240"/>
                  </a:lnTo>
                  <a:lnTo>
                    <a:pt x="3158" y="21194"/>
                  </a:lnTo>
                  <a:lnTo>
                    <a:pt x="3000" y="21145"/>
                  </a:lnTo>
                  <a:lnTo>
                    <a:pt x="2851" y="21088"/>
                  </a:lnTo>
                  <a:lnTo>
                    <a:pt x="2706" y="21035"/>
                  </a:lnTo>
                  <a:lnTo>
                    <a:pt x="2571" y="20970"/>
                  </a:lnTo>
                  <a:lnTo>
                    <a:pt x="2445" y="20910"/>
                  </a:lnTo>
                  <a:lnTo>
                    <a:pt x="2332" y="20845"/>
                  </a:lnTo>
                  <a:lnTo>
                    <a:pt x="2226" y="20773"/>
                  </a:lnTo>
                  <a:lnTo>
                    <a:pt x="2177" y="20739"/>
                  </a:lnTo>
                  <a:lnTo>
                    <a:pt x="2132" y="20705"/>
                  </a:lnTo>
                  <a:lnTo>
                    <a:pt x="2087" y="20663"/>
                  </a:lnTo>
                  <a:lnTo>
                    <a:pt x="2052" y="20629"/>
                  </a:lnTo>
                  <a:lnTo>
                    <a:pt x="2013" y="20591"/>
                  </a:lnTo>
                  <a:lnTo>
                    <a:pt x="1974" y="20545"/>
                  </a:lnTo>
                  <a:lnTo>
                    <a:pt x="1945" y="20507"/>
                  </a:lnTo>
                  <a:lnTo>
                    <a:pt x="1916" y="20466"/>
                  </a:lnTo>
                  <a:lnTo>
                    <a:pt x="1894" y="20428"/>
                  </a:lnTo>
                  <a:lnTo>
                    <a:pt x="1868" y="20382"/>
                  </a:lnTo>
                  <a:lnTo>
                    <a:pt x="1849" y="20337"/>
                  </a:lnTo>
                  <a:lnTo>
                    <a:pt x="1833" y="20295"/>
                  </a:lnTo>
                  <a:lnTo>
                    <a:pt x="1823" y="20246"/>
                  </a:lnTo>
                  <a:lnTo>
                    <a:pt x="1813" y="20200"/>
                  </a:lnTo>
                  <a:lnTo>
                    <a:pt x="1807" y="20155"/>
                  </a:lnTo>
                  <a:lnTo>
                    <a:pt x="1807" y="17738"/>
                  </a:lnTo>
                  <a:lnTo>
                    <a:pt x="1810" y="17643"/>
                  </a:lnTo>
                  <a:lnTo>
                    <a:pt x="1813" y="17549"/>
                  </a:lnTo>
                  <a:lnTo>
                    <a:pt x="1823" y="17454"/>
                  </a:lnTo>
                  <a:lnTo>
                    <a:pt x="1839" y="17363"/>
                  </a:lnTo>
                  <a:lnTo>
                    <a:pt x="1855" y="17275"/>
                  </a:lnTo>
                  <a:lnTo>
                    <a:pt x="1874" y="17184"/>
                  </a:lnTo>
                  <a:lnTo>
                    <a:pt x="1903" y="17097"/>
                  </a:lnTo>
                  <a:lnTo>
                    <a:pt x="1932" y="17014"/>
                  </a:lnTo>
                  <a:lnTo>
                    <a:pt x="1961" y="16930"/>
                  </a:lnTo>
                  <a:lnTo>
                    <a:pt x="1997" y="16851"/>
                  </a:lnTo>
                  <a:lnTo>
                    <a:pt x="2036" y="16771"/>
                  </a:lnTo>
                  <a:lnTo>
                    <a:pt x="2078" y="16695"/>
                  </a:lnTo>
                  <a:lnTo>
                    <a:pt x="2119" y="16623"/>
                  </a:lnTo>
                  <a:lnTo>
                    <a:pt x="2168" y="16555"/>
                  </a:lnTo>
                  <a:lnTo>
                    <a:pt x="2216" y="16483"/>
                  </a:lnTo>
                  <a:lnTo>
                    <a:pt x="2271" y="16422"/>
                  </a:lnTo>
                  <a:lnTo>
                    <a:pt x="2326" y="16357"/>
                  </a:lnTo>
                  <a:lnTo>
                    <a:pt x="2384" y="16300"/>
                  </a:lnTo>
                  <a:lnTo>
                    <a:pt x="2442" y="16240"/>
                  </a:lnTo>
                  <a:lnTo>
                    <a:pt x="2506" y="16190"/>
                  </a:lnTo>
                  <a:lnTo>
                    <a:pt x="2568" y="16145"/>
                  </a:lnTo>
                  <a:lnTo>
                    <a:pt x="2639" y="16096"/>
                  </a:lnTo>
                  <a:lnTo>
                    <a:pt x="2703" y="16054"/>
                  </a:lnTo>
                  <a:lnTo>
                    <a:pt x="2774" y="16020"/>
                  </a:lnTo>
                  <a:lnTo>
                    <a:pt x="2848" y="15982"/>
                  </a:lnTo>
                  <a:lnTo>
                    <a:pt x="2919" y="15955"/>
                  </a:lnTo>
                  <a:lnTo>
                    <a:pt x="2996" y="15929"/>
                  </a:lnTo>
                  <a:lnTo>
                    <a:pt x="3074" y="15910"/>
                  </a:lnTo>
                  <a:lnTo>
                    <a:pt x="3151" y="15895"/>
                  </a:lnTo>
                  <a:lnTo>
                    <a:pt x="3232" y="15883"/>
                  </a:lnTo>
                  <a:lnTo>
                    <a:pt x="3312" y="15876"/>
                  </a:lnTo>
                  <a:lnTo>
                    <a:pt x="3393" y="15872"/>
                  </a:lnTo>
                  <a:lnTo>
                    <a:pt x="3496" y="15860"/>
                  </a:lnTo>
                  <a:lnTo>
                    <a:pt x="3790" y="15830"/>
                  </a:lnTo>
                  <a:lnTo>
                    <a:pt x="4225" y="15792"/>
                  </a:lnTo>
                  <a:lnTo>
                    <a:pt x="4489" y="15773"/>
                  </a:lnTo>
                  <a:lnTo>
                    <a:pt x="4776" y="15750"/>
                  </a:lnTo>
                  <a:close/>
                  <a:moveTo>
                    <a:pt x="10211" y="11870"/>
                  </a:moveTo>
                  <a:lnTo>
                    <a:pt x="11953" y="11870"/>
                  </a:lnTo>
                  <a:lnTo>
                    <a:pt x="11953" y="15088"/>
                  </a:lnTo>
                  <a:lnTo>
                    <a:pt x="10211" y="15088"/>
                  </a:lnTo>
                  <a:lnTo>
                    <a:pt x="10211" y="11870"/>
                  </a:lnTo>
                  <a:close/>
                  <a:moveTo>
                    <a:pt x="5015" y="10105"/>
                  </a:moveTo>
                  <a:lnTo>
                    <a:pt x="4990" y="10109"/>
                  </a:lnTo>
                  <a:lnTo>
                    <a:pt x="4967" y="10113"/>
                  </a:lnTo>
                  <a:lnTo>
                    <a:pt x="4938" y="10124"/>
                  </a:lnTo>
                  <a:lnTo>
                    <a:pt x="4915" y="10136"/>
                  </a:lnTo>
                  <a:lnTo>
                    <a:pt x="4893" y="10151"/>
                  </a:lnTo>
                  <a:lnTo>
                    <a:pt x="4870" y="10170"/>
                  </a:lnTo>
                  <a:lnTo>
                    <a:pt x="4828" y="10219"/>
                  </a:lnTo>
                  <a:lnTo>
                    <a:pt x="4783" y="10268"/>
                  </a:lnTo>
                  <a:lnTo>
                    <a:pt x="4741" y="10325"/>
                  </a:lnTo>
                  <a:lnTo>
                    <a:pt x="4700" y="10389"/>
                  </a:lnTo>
                  <a:lnTo>
                    <a:pt x="4619" y="10526"/>
                  </a:lnTo>
                  <a:lnTo>
                    <a:pt x="4558" y="10624"/>
                  </a:lnTo>
                  <a:lnTo>
                    <a:pt x="4500" y="10726"/>
                  </a:lnTo>
                  <a:lnTo>
                    <a:pt x="4438" y="10832"/>
                  </a:lnTo>
                  <a:lnTo>
                    <a:pt x="4384" y="10946"/>
                  </a:lnTo>
                  <a:lnTo>
                    <a:pt x="4364" y="11052"/>
                  </a:lnTo>
                  <a:lnTo>
                    <a:pt x="4345" y="11158"/>
                  </a:lnTo>
                  <a:lnTo>
                    <a:pt x="4329" y="11271"/>
                  </a:lnTo>
                  <a:lnTo>
                    <a:pt x="4316" y="11381"/>
                  </a:lnTo>
                  <a:lnTo>
                    <a:pt x="4306" y="11495"/>
                  </a:lnTo>
                  <a:lnTo>
                    <a:pt x="4300" y="11612"/>
                  </a:lnTo>
                  <a:lnTo>
                    <a:pt x="4297" y="11722"/>
                  </a:lnTo>
                  <a:lnTo>
                    <a:pt x="4297" y="11839"/>
                  </a:lnTo>
                  <a:lnTo>
                    <a:pt x="4300" y="12010"/>
                  </a:lnTo>
                  <a:lnTo>
                    <a:pt x="4310" y="12172"/>
                  </a:lnTo>
                  <a:lnTo>
                    <a:pt x="4329" y="12332"/>
                  </a:lnTo>
                  <a:lnTo>
                    <a:pt x="4355" y="12491"/>
                  </a:lnTo>
                  <a:lnTo>
                    <a:pt x="4390" y="12650"/>
                  </a:lnTo>
                  <a:lnTo>
                    <a:pt x="4426" y="12801"/>
                  </a:lnTo>
                  <a:lnTo>
                    <a:pt x="4471" y="12952"/>
                  </a:lnTo>
                  <a:lnTo>
                    <a:pt x="4522" y="13100"/>
                  </a:lnTo>
                  <a:lnTo>
                    <a:pt x="4577" y="13248"/>
                  </a:lnTo>
                  <a:lnTo>
                    <a:pt x="4638" y="13392"/>
                  </a:lnTo>
                  <a:lnTo>
                    <a:pt x="4703" y="13528"/>
                  </a:lnTo>
                  <a:lnTo>
                    <a:pt x="4770" y="13660"/>
                  </a:lnTo>
                  <a:lnTo>
                    <a:pt x="4848" y="13785"/>
                  </a:lnTo>
                  <a:lnTo>
                    <a:pt x="4922" y="13910"/>
                  </a:lnTo>
                  <a:lnTo>
                    <a:pt x="5002" y="14031"/>
                  </a:lnTo>
                  <a:lnTo>
                    <a:pt x="5086" y="14145"/>
                  </a:lnTo>
                  <a:lnTo>
                    <a:pt x="5170" y="14255"/>
                  </a:lnTo>
                  <a:lnTo>
                    <a:pt x="5257" y="14361"/>
                  </a:lnTo>
                  <a:lnTo>
                    <a:pt x="5347" y="14456"/>
                  </a:lnTo>
                  <a:lnTo>
                    <a:pt x="5438" y="14551"/>
                  </a:lnTo>
                  <a:lnTo>
                    <a:pt x="5528" y="14637"/>
                  </a:lnTo>
                  <a:lnTo>
                    <a:pt x="5621" y="14717"/>
                  </a:lnTo>
                  <a:lnTo>
                    <a:pt x="5715" y="14793"/>
                  </a:lnTo>
                  <a:lnTo>
                    <a:pt x="5808" y="14857"/>
                  </a:lnTo>
                  <a:lnTo>
                    <a:pt x="5902" y="14917"/>
                  </a:lnTo>
                  <a:lnTo>
                    <a:pt x="5992" y="14967"/>
                  </a:lnTo>
                  <a:lnTo>
                    <a:pt x="6085" y="15012"/>
                  </a:lnTo>
                  <a:lnTo>
                    <a:pt x="6175" y="15054"/>
                  </a:lnTo>
                  <a:lnTo>
                    <a:pt x="6266" y="15080"/>
                  </a:lnTo>
                  <a:lnTo>
                    <a:pt x="6350" y="15103"/>
                  </a:lnTo>
                  <a:lnTo>
                    <a:pt x="6437" y="15114"/>
                  </a:lnTo>
                  <a:lnTo>
                    <a:pt x="6517" y="15118"/>
                  </a:lnTo>
                  <a:lnTo>
                    <a:pt x="6601" y="15114"/>
                  </a:lnTo>
                  <a:lnTo>
                    <a:pt x="6681" y="15103"/>
                  </a:lnTo>
                  <a:lnTo>
                    <a:pt x="6772" y="15080"/>
                  </a:lnTo>
                  <a:lnTo>
                    <a:pt x="6859" y="15054"/>
                  </a:lnTo>
                  <a:lnTo>
                    <a:pt x="6952" y="15012"/>
                  </a:lnTo>
                  <a:lnTo>
                    <a:pt x="7039" y="14967"/>
                  </a:lnTo>
                  <a:lnTo>
                    <a:pt x="7133" y="14917"/>
                  </a:lnTo>
                  <a:lnTo>
                    <a:pt x="7226" y="14857"/>
                  </a:lnTo>
                  <a:lnTo>
                    <a:pt x="7320" y="14793"/>
                  </a:lnTo>
                  <a:lnTo>
                    <a:pt x="7413" y="14717"/>
                  </a:lnTo>
                  <a:lnTo>
                    <a:pt x="7503" y="14637"/>
                  </a:lnTo>
                  <a:lnTo>
                    <a:pt x="7597" y="14551"/>
                  </a:lnTo>
                  <a:lnTo>
                    <a:pt x="7687" y="14456"/>
                  </a:lnTo>
                  <a:lnTo>
                    <a:pt x="7777" y="14361"/>
                  </a:lnTo>
                  <a:lnTo>
                    <a:pt x="7864" y="14255"/>
                  </a:lnTo>
                  <a:lnTo>
                    <a:pt x="7948" y="14145"/>
                  </a:lnTo>
                  <a:lnTo>
                    <a:pt x="8032" y="14031"/>
                  </a:lnTo>
                  <a:lnTo>
                    <a:pt x="8116" y="13910"/>
                  </a:lnTo>
                  <a:lnTo>
                    <a:pt x="8190" y="13785"/>
                  </a:lnTo>
                  <a:lnTo>
                    <a:pt x="8264" y="13660"/>
                  </a:lnTo>
                  <a:lnTo>
                    <a:pt x="8331" y="13528"/>
                  </a:lnTo>
                  <a:lnTo>
                    <a:pt x="8396" y="13392"/>
                  </a:lnTo>
                  <a:lnTo>
                    <a:pt x="8454" y="13248"/>
                  </a:lnTo>
                  <a:lnTo>
                    <a:pt x="8512" y="13100"/>
                  </a:lnTo>
                  <a:lnTo>
                    <a:pt x="8560" y="12952"/>
                  </a:lnTo>
                  <a:lnTo>
                    <a:pt x="8609" y="12801"/>
                  </a:lnTo>
                  <a:lnTo>
                    <a:pt x="8647" y="12650"/>
                  </a:lnTo>
                  <a:lnTo>
                    <a:pt x="8676" y="12491"/>
                  </a:lnTo>
                  <a:lnTo>
                    <a:pt x="8705" y="12332"/>
                  </a:lnTo>
                  <a:lnTo>
                    <a:pt x="8725" y="12172"/>
                  </a:lnTo>
                  <a:lnTo>
                    <a:pt x="8734" y="12010"/>
                  </a:lnTo>
                  <a:lnTo>
                    <a:pt x="8741" y="11839"/>
                  </a:lnTo>
                  <a:lnTo>
                    <a:pt x="8737" y="11745"/>
                  </a:lnTo>
                  <a:lnTo>
                    <a:pt x="8734" y="11642"/>
                  </a:lnTo>
                  <a:lnTo>
                    <a:pt x="8509" y="11631"/>
                  </a:lnTo>
                  <a:lnTo>
                    <a:pt x="8277" y="11612"/>
                  </a:lnTo>
                  <a:lnTo>
                    <a:pt x="8038" y="11578"/>
                  </a:lnTo>
                  <a:lnTo>
                    <a:pt x="7796" y="11544"/>
                  </a:lnTo>
                  <a:lnTo>
                    <a:pt x="7555" y="11502"/>
                  </a:lnTo>
                  <a:lnTo>
                    <a:pt x="7310" y="11453"/>
                  </a:lnTo>
                  <a:lnTo>
                    <a:pt x="7071" y="11389"/>
                  </a:lnTo>
                  <a:lnTo>
                    <a:pt x="6955" y="11358"/>
                  </a:lnTo>
                  <a:lnTo>
                    <a:pt x="6839" y="11324"/>
                  </a:lnTo>
                  <a:lnTo>
                    <a:pt x="6727" y="11287"/>
                  </a:lnTo>
                  <a:lnTo>
                    <a:pt x="6617" y="11249"/>
                  </a:lnTo>
                  <a:lnTo>
                    <a:pt x="6507" y="11211"/>
                  </a:lnTo>
                  <a:lnTo>
                    <a:pt x="6401" y="11165"/>
                  </a:lnTo>
                  <a:lnTo>
                    <a:pt x="6301" y="11124"/>
                  </a:lnTo>
                  <a:lnTo>
                    <a:pt x="6201" y="11078"/>
                  </a:lnTo>
                  <a:lnTo>
                    <a:pt x="6108" y="11029"/>
                  </a:lnTo>
                  <a:lnTo>
                    <a:pt x="6021" y="10984"/>
                  </a:lnTo>
                  <a:lnTo>
                    <a:pt x="5934" y="10934"/>
                  </a:lnTo>
                  <a:lnTo>
                    <a:pt x="5853" y="10878"/>
                  </a:lnTo>
                  <a:lnTo>
                    <a:pt x="5779" y="10825"/>
                  </a:lnTo>
                  <a:lnTo>
                    <a:pt x="5708" y="10772"/>
                  </a:lnTo>
                  <a:lnTo>
                    <a:pt x="5644" y="10711"/>
                  </a:lnTo>
                  <a:lnTo>
                    <a:pt x="5589" y="10650"/>
                  </a:lnTo>
                  <a:lnTo>
                    <a:pt x="5537" y="10586"/>
                  </a:lnTo>
                  <a:lnTo>
                    <a:pt x="5492" y="10526"/>
                  </a:lnTo>
                  <a:lnTo>
                    <a:pt x="5450" y="10457"/>
                  </a:lnTo>
                  <a:lnTo>
                    <a:pt x="5409" y="10401"/>
                  </a:lnTo>
                  <a:lnTo>
                    <a:pt x="5370" y="10348"/>
                  </a:lnTo>
                  <a:lnTo>
                    <a:pt x="5331" y="10298"/>
                  </a:lnTo>
                  <a:lnTo>
                    <a:pt x="5292" y="10260"/>
                  </a:lnTo>
                  <a:lnTo>
                    <a:pt x="5257" y="10223"/>
                  </a:lnTo>
                  <a:lnTo>
                    <a:pt x="5225" y="10189"/>
                  </a:lnTo>
                  <a:lnTo>
                    <a:pt x="5193" y="10166"/>
                  </a:lnTo>
                  <a:lnTo>
                    <a:pt x="5160" y="10143"/>
                  </a:lnTo>
                  <a:lnTo>
                    <a:pt x="5128" y="10128"/>
                  </a:lnTo>
                  <a:lnTo>
                    <a:pt x="5099" y="10117"/>
                  </a:lnTo>
                  <a:lnTo>
                    <a:pt x="5073" y="10109"/>
                  </a:lnTo>
                  <a:lnTo>
                    <a:pt x="5041" y="10105"/>
                  </a:lnTo>
                  <a:lnTo>
                    <a:pt x="5015" y="10105"/>
                  </a:lnTo>
                  <a:close/>
                  <a:moveTo>
                    <a:pt x="13260" y="9882"/>
                  </a:moveTo>
                  <a:lnTo>
                    <a:pt x="15002" y="9882"/>
                  </a:lnTo>
                  <a:lnTo>
                    <a:pt x="15002" y="14936"/>
                  </a:lnTo>
                  <a:lnTo>
                    <a:pt x="13260" y="14936"/>
                  </a:lnTo>
                  <a:lnTo>
                    <a:pt x="13260" y="9882"/>
                  </a:lnTo>
                  <a:close/>
                  <a:moveTo>
                    <a:pt x="6443" y="7818"/>
                  </a:moveTo>
                  <a:lnTo>
                    <a:pt x="6591" y="7818"/>
                  </a:lnTo>
                  <a:lnTo>
                    <a:pt x="6665" y="7822"/>
                  </a:lnTo>
                  <a:lnTo>
                    <a:pt x="6736" y="7830"/>
                  </a:lnTo>
                  <a:lnTo>
                    <a:pt x="6807" y="7837"/>
                  </a:lnTo>
                  <a:lnTo>
                    <a:pt x="6881" y="7849"/>
                  </a:lnTo>
                  <a:lnTo>
                    <a:pt x="6952" y="7868"/>
                  </a:lnTo>
                  <a:lnTo>
                    <a:pt x="7023" y="7883"/>
                  </a:lnTo>
                  <a:lnTo>
                    <a:pt x="7094" y="7902"/>
                  </a:lnTo>
                  <a:lnTo>
                    <a:pt x="7162" y="7921"/>
                  </a:lnTo>
                  <a:lnTo>
                    <a:pt x="7229" y="7947"/>
                  </a:lnTo>
                  <a:lnTo>
                    <a:pt x="7300" y="7970"/>
                  </a:lnTo>
                  <a:lnTo>
                    <a:pt x="7365" y="8000"/>
                  </a:lnTo>
                  <a:lnTo>
                    <a:pt x="7432" y="8030"/>
                  </a:lnTo>
                  <a:lnTo>
                    <a:pt x="7497" y="8065"/>
                  </a:lnTo>
                  <a:lnTo>
                    <a:pt x="7564" y="8099"/>
                  </a:lnTo>
                  <a:lnTo>
                    <a:pt x="7626" y="8136"/>
                  </a:lnTo>
                  <a:lnTo>
                    <a:pt x="7755" y="8216"/>
                  </a:lnTo>
                  <a:lnTo>
                    <a:pt x="7880" y="8307"/>
                  </a:lnTo>
                  <a:lnTo>
                    <a:pt x="8000" y="8401"/>
                  </a:lnTo>
                  <a:lnTo>
                    <a:pt x="8116" y="8507"/>
                  </a:lnTo>
                  <a:lnTo>
                    <a:pt x="8225" y="8617"/>
                  </a:lnTo>
                  <a:lnTo>
                    <a:pt x="8331" y="8738"/>
                  </a:lnTo>
                  <a:lnTo>
                    <a:pt x="8435" y="8867"/>
                  </a:lnTo>
                  <a:lnTo>
                    <a:pt x="8534" y="9000"/>
                  </a:lnTo>
                  <a:lnTo>
                    <a:pt x="8631" y="9140"/>
                  </a:lnTo>
                  <a:lnTo>
                    <a:pt x="8721" y="9284"/>
                  </a:lnTo>
                  <a:lnTo>
                    <a:pt x="8805" y="9435"/>
                  </a:lnTo>
                  <a:lnTo>
                    <a:pt x="8886" y="9594"/>
                  </a:lnTo>
                  <a:lnTo>
                    <a:pt x="8960" y="9757"/>
                  </a:lnTo>
                  <a:lnTo>
                    <a:pt x="9028" y="9924"/>
                  </a:lnTo>
                  <a:lnTo>
                    <a:pt x="9092" y="10101"/>
                  </a:lnTo>
                  <a:lnTo>
                    <a:pt x="9147" y="10276"/>
                  </a:lnTo>
                  <a:lnTo>
                    <a:pt x="9202" y="10457"/>
                  </a:lnTo>
                  <a:lnTo>
                    <a:pt x="9243" y="10647"/>
                  </a:lnTo>
                  <a:lnTo>
                    <a:pt x="9282" y="10836"/>
                  </a:lnTo>
                  <a:lnTo>
                    <a:pt x="9318" y="11029"/>
                  </a:lnTo>
                  <a:lnTo>
                    <a:pt x="9340" y="11230"/>
                  </a:lnTo>
                  <a:lnTo>
                    <a:pt x="9359" y="11430"/>
                  </a:lnTo>
                  <a:lnTo>
                    <a:pt x="9369" y="11635"/>
                  </a:lnTo>
                  <a:lnTo>
                    <a:pt x="9372" y="11839"/>
                  </a:lnTo>
                  <a:lnTo>
                    <a:pt x="9372" y="11949"/>
                  </a:lnTo>
                  <a:lnTo>
                    <a:pt x="9369" y="12055"/>
                  </a:lnTo>
                  <a:lnTo>
                    <a:pt x="9363" y="12161"/>
                  </a:lnTo>
                  <a:lnTo>
                    <a:pt x="9353" y="12263"/>
                  </a:lnTo>
                  <a:lnTo>
                    <a:pt x="9343" y="12369"/>
                  </a:lnTo>
                  <a:lnTo>
                    <a:pt x="9330" y="12472"/>
                  </a:lnTo>
                  <a:lnTo>
                    <a:pt x="9314" y="12574"/>
                  </a:lnTo>
                  <a:lnTo>
                    <a:pt x="9298" y="12672"/>
                  </a:lnTo>
                  <a:lnTo>
                    <a:pt x="9276" y="12771"/>
                  </a:lnTo>
                  <a:lnTo>
                    <a:pt x="9253" y="12873"/>
                  </a:lnTo>
                  <a:lnTo>
                    <a:pt x="9231" y="12971"/>
                  </a:lnTo>
                  <a:lnTo>
                    <a:pt x="9208" y="13066"/>
                  </a:lnTo>
                  <a:lnTo>
                    <a:pt x="9179" y="13161"/>
                  </a:lnTo>
                  <a:lnTo>
                    <a:pt x="9147" y="13255"/>
                  </a:lnTo>
                  <a:lnTo>
                    <a:pt x="9118" y="13346"/>
                  </a:lnTo>
                  <a:lnTo>
                    <a:pt x="9086" y="13437"/>
                  </a:lnTo>
                  <a:lnTo>
                    <a:pt x="9015" y="13615"/>
                  </a:lnTo>
                  <a:lnTo>
                    <a:pt x="8937" y="13789"/>
                  </a:lnTo>
                  <a:lnTo>
                    <a:pt x="8854" y="13960"/>
                  </a:lnTo>
                  <a:lnTo>
                    <a:pt x="8766" y="14122"/>
                  </a:lnTo>
                  <a:lnTo>
                    <a:pt x="8673" y="14281"/>
                  </a:lnTo>
                  <a:lnTo>
                    <a:pt x="8573" y="14429"/>
                  </a:lnTo>
                  <a:lnTo>
                    <a:pt x="8473" y="14577"/>
                  </a:lnTo>
                  <a:lnTo>
                    <a:pt x="8367" y="14713"/>
                  </a:lnTo>
                  <a:lnTo>
                    <a:pt x="8257" y="14846"/>
                  </a:lnTo>
                  <a:lnTo>
                    <a:pt x="8148" y="14970"/>
                  </a:lnTo>
                  <a:lnTo>
                    <a:pt x="8032" y="15088"/>
                  </a:lnTo>
                  <a:lnTo>
                    <a:pt x="7916" y="15198"/>
                  </a:lnTo>
                  <a:lnTo>
                    <a:pt x="7796" y="15296"/>
                  </a:lnTo>
                  <a:lnTo>
                    <a:pt x="7677" y="15395"/>
                  </a:lnTo>
                  <a:lnTo>
                    <a:pt x="7558" y="15482"/>
                  </a:lnTo>
                  <a:lnTo>
                    <a:pt x="7439" y="15557"/>
                  </a:lnTo>
                  <a:lnTo>
                    <a:pt x="7320" y="15629"/>
                  </a:lnTo>
                  <a:lnTo>
                    <a:pt x="7200" y="15690"/>
                  </a:lnTo>
                  <a:lnTo>
                    <a:pt x="7081" y="15743"/>
                  </a:lnTo>
                  <a:lnTo>
                    <a:pt x="6965" y="15784"/>
                  </a:lnTo>
                  <a:lnTo>
                    <a:pt x="6849" y="15819"/>
                  </a:lnTo>
                  <a:lnTo>
                    <a:pt x="6736" y="15841"/>
                  </a:lnTo>
                  <a:lnTo>
                    <a:pt x="6678" y="15853"/>
                  </a:lnTo>
                  <a:lnTo>
                    <a:pt x="6627" y="15856"/>
                  </a:lnTo>
                  <a:lnTo>
                    <a:pt x="6569" y="15860"/>
                  </a:lnTo>
                  <a:lnTo>
                    <a:pt x="6517" y="15864"/>
                  </a:lnTo>
                  <a:lnTo>
                    <a:pt x="6462" y="15860"/>
                  </a:lnTo>
                  <a:lnTo>
                    <a:pt x="6411" y="15856"/>
                  </a:lnTo>
                  <a:lnTo>
                    <a:pt x="6356" y="15853"/>
                  </a:lnTo>
                  <a:lnTo>
                    <a:pt x="6301" y="15841"/>
                  </a:lnTo>
                  <a:lnTo>
                    <a:pt x="6188" y="15819"/>
                  </a:lnTo>
                  <a:lnTo>
                    <a:pt x="6072" y="15784"/>
                  </a:lnTo>
                  <a:lnTo>
                    <a:pt x="5953" y="15743"/>
                  </a:lnTo>
                  <a:lnTo>
                    <a:pt x="5837" y="15690"/>
                  </a:lnTo>
                  <a:lnTo>
                    <a:pt x="5718" y="15629"/>
                  </a:lnTo>
                  <a:lnTo>
                    <a:pt x="5595" y="15557"/>
                  </a:lnTo>
                  <a:lnTo>
                    <a:pt x="5476" y="15482"/>
                  </a:lnTo>
                  <a:lnTo>
                    <a:pt x="5357" y="15395"/>
                  </a:lnTo>
                  <a:lnTo>
                    <a:pt x="5238" y="15296"/>
                  </a:lnTo>
                  <a:lnTo>
                    <a:pt x="5118" y="15198"/>
                  </a:lnTo>
                  <a:lnTo>
                    <a:pt x="5002" y="15088"/>
                  </a:lnTo>
                  <a:lnTo>
                    <a:pt x="4890" y="14970"/>
                  </a:lnTo>
                  <a:lnTo>
                    <a:pt x="4777" y="14846"/>
                  </a:lnTo>
                  <a:lnTo>
                    <a:pt x="4667" y="14713"/>
                  </a:lnTo>
                  <a:lnTo>
                    <a:pt x="4561" y="14577"/>
                  </a:lnTo>
                  <a:lnTo>
                    <a:pt x="4458" y="14429"/>
                  </a:lnTo>
                  <a:lnTo>
                    <a:pt x="4364" y="14281"/>
                  </a:lnTo>
                  <a:lnTo>
                    <a:pt x="4268" y="14122"/>
                  </a:lnTo>
                  <a:lnTo>
                    <a:pt x="4181" y="13960"/>
                  </a:lnTo>
                  <a:lnTo>
                    <a:pt x="4097" y="13789"/>
                  </a:lnTo>
                  <a:lnTo>
                    <a:pt x="4020" y="13615"/>
                  </a:lnTo>
                  <a:lnTo>
                    <a:pt x="3949" y="13437"/>
                  </a:lnTo>
                  <a:lnTo>
                    <a:pt x="3916" y="13346"/>
                  </a:lnTo>
                  <a:lnTo>
                    <a:pt x="3884" y="13255"/>
                  </a:lnTo>
                  <a:lnTo>
                    <a:pt x="3855" y="13161"/>
                  </a:lnTo>
                  <a:lnTo>
                    <a:pt x="3829" y="13066"/>
                  </a:lnTo>
                  <a:lnTo>
                    <a:pt x="3804" y="12971"/>
                  </a:lnTo>
                  <a:lnTo>
                    <a:pt x="3781" y="12873"/>
                  </a:lnTo>
                  <a:lnTo>
                    <a:pt x="3755" y="12771"/>
                  </a:lnTo>
                  <a:lnTo>
                    <a:pt x="3736" y="12672"/>
                  </a:lnTo>
                  <a:lnTo>
                    <a:pt x="3720" y="12574"/>
                  </a:lnTo>
                  <a:lnTo>
                    <a:pt x="3704" y="12472"/>
                  </a:lnTo>
                  <a:lnTo>
                    <a:pt x="3691" y="12369"/>
                  </a:lnTo>
                  <a:lnTo>
                    <a:pt x="3681" y="12263"/>
                  </a:lnTo>
                  <a:lnTo>
                    <a:pt x="3671" y="12161"/>
                  </a:lnTo>
                  <a:lnTo>
                    <a:pt x="3668" y="12055"/>
                  </a:lnTo>
                  <a:lnTo>
                    <a:pt x="3662" y="11949"/>
                  </a:lnTo>
                  <a:lnTo>
                    <a:pt x="3662" y="11839"/>
                  </a:lnTo>
                  <a:lnTo>
                    <a:pt x="3665" y="11635"/>
                  </a:lnTo>
                  <a:lnTo>
                    <a:pt x="3678" y="11430"/>
                  </a:lnTo>
                  <a:lnTo>
                    <a:pt x="3694" y="11230"/>
                  </a:lnTo>
                  <a:lnTo>
                    <a:pt x="3720" y="11029"/>
                  </a:lnTo>
                  <a:lnTo>
                    <a:pt x="3749" y="10836"/>
                  </a:lnTo>
                  <a:lnTo>
                    <a:pt x="3791" y="10647"/>
                  </a:lnTo>
                  <a:lnTo>
                    <a:pt x="3833" y="10457"/>
                  </a:lnTo>
                  <a:lnTo>
                    <a:pt x="3884" y="10276"/>
                  </a:lnTo>
                  <a:lnTo>
                    <a:pt x="3942" y="10101"/>
                  </a:lnTo>
                  <a:lnTo>
                    <a:pt x="4003" y="9924"/>
                  </a:lnTo>
                  <a:lnTo>
                    <a:pt x="4074" y="9757"/>
                  </a:lnTo>
                  <a:lnTo>
                    <a:pt x="4152" y="9594"/>
                  </a:lnTo>
                  <a:lnTo>
                    <a:pt x="4229" y="9435"/>
                  </a:lnTo>
                  <a:lnTo>
                    <a:pt x="4313" y="9284"/>
                  </a:lnTo>
                  <a:lnTo>
                    <a:pt x="4403" y="9140"/>
                  </a:lnTo>
                  <a:lnTo>
                    <a:pt x="4500" y="9000"/>
                  </a:lnTo>
                  <a:lnTo>
                    <a:pt x="4600" y="8867"/>
                  </a:lnTo>
                  <a:lnTo>
                    <a:pt x="4700" y="8738"/>
                  </a:lnTo>
                  <a:lnTo>
                    <a:pt x="4809" y="8617"/>
                  </a:lnTo>
                  <a:lnTo>
                    <a:pt x="4919" y="8507"/>
                  </a:lnTo>
                  <a:lnTo>
                    <a:pt x="5035" y="8401"/>
                  </a:lnTo>
                  <a:lnTo>
                    <a:pt x="5157" y="8307"/>
                  </a:lnTo>
                  <a:lnTo>
                    <a:pt x="5280" y="8216"/>
                  </a:lnTo>
                  <a:lnTo>
                    <a:pt x="5405" y="8136"/>
                  </a:lnTo>
                  <a:lnTo>
                    <a:pt x="5470" y="8099"/>
                  </a:lnTo>
                  <a:lnTo>
                    <a:pt x="5537" y="8065"/>
                  </a:lnTo>
                  <a:lnTo>
                    <a:pt x="5602" y="8030"/>
                  </a:lnTo>
                  <a:lnTo>
                    <a:pt x="5670" y="8000"/>
                  </a:lnTo>
                  <a:lnTo>
                    <a:pt x="5734" y="7970"/>
                  </a:lnTo>
                  <a:lnTo>
                    <a:pt x="5805" y="7947"/>
                  </a:lnTo>
                  <a:lnTo>
                    <a:pt x="5873" y="7921"/>
                  </a:lnTo>
                  <a:lnTo>
                    <a:pt x="5943" y="7902"/>
                  </a:lnTo>
                  <a:lnTo>
                    <a:pt x="6014" y="7883"/>
                  </a:lnTo>
                  <a:lnTo>
                    <a:pt x="6082" y="7868"/>
                  </a:lnTo>
                  <a:lnTo>
                    <a:pt x="6156" y="7849"/>
                  </a:lnTo>
                  <a:lnTo>
                    <a:pt x="6224" y="7837"/>
                  </a:lnTo>
                  <a:lnTo>
                    <a:pt x="6298" y="7830"/>
                  </a:lnTo>
                  <a:lnTo>
                    <a:pt x="6372" y="7822"/>
                  </a:lnTo>
                  <a:lnTo>
                    <a:pt x="6443" y="7818"/>
                  </a:lnTo>
                  <a:close/>
                  <a:moveTo>
                    <a:pt x="16309" y="5528"/>
                  </a:moveTo>
                  <a:lnTo>
                    <a:pt x="18051" y="5528"/>
                  </a:lnTo>
                  <a:lnTo>
                    <a:pt x="18051" y="14936"/>
                  </a:lnTo>
                  <a:lnTo>
                    <a:pt x="16309" y="14936"/>
                  </a:lnTo>
                  <a:lnTo>
                    <a:pt x="16309" y="5528"/>
                  </a:lnTo>
                  <a:close/>
                  <a:moveTo>
                    <a:pt x="0" y="0"/>
                  </a:moveTo>
                  <a:lnTo>
                    <a:pt x="21600" y="0"/>
                  </a:lnTo>
                  <a:lnTo>
                    <a:pt x="21600" y="2046"/>
                  </a:lnTo>
                  <a:lnTo>
                    <a:pt x="20726" y="2046"/>
                  </a:lnTo>
                  <a:lnTo>
                    <a:pt x="20726" y="18817"/>
                  </a:lnTo>
                  <a:lnTo>
                    <a:pt x="12724" y="18817"/>
                  </a:lnTo>
                  <a:lnTo>
                    <a:pt x="12724" y="17283"/>
                  </a:lnTo>
                  <a:lnTo>
                    <a:pt x="19419" y="17283"/>
                  </a:lnTo>
                  <a:lnTo>
                    <a:pt x="19419" y="2046"/>
                  </a:lnTo>
                  <a:lnTo>
                    <a:pt x="1984" y="2046"/>
                  </a:lnTo>
                  <a:lnTo>
                    <a:pt x="1984" y="14896"/>
                  </a:lnTo>
                  <a:lnTo>
                    <a:pt x="678" y="14896"/>
                  </a:lnTo>
                  <a:lnTo>
                    <a:pt x="678" y="2046"/>
                  </a:lnTo>
                  <a:lnTo>
                    <a:pt x="0" y="2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163" name="文本框 9"/>
          <p:cNvSpPr txBox="1"/>
          <p:nvPr/>
        </p:nvSpPr>
        <p:spPr>
          <a:xfrm>
            <a:off x="5070890" y="3516043"/>
            <a:ext cx="1815610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sp>
        <p:nvSpPr>
          <p:cNvPr id="164" name="文本框 9"/>
          <p:cNvSpPr txBox="1"/>
          <p:nvPr/>
        </p:nvSpPr>
        <p:spPr>
          <a:xfrm>
            <a:off x="7102523" y="3516043"/>
            <a:ext cx="1815610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sp>
        <p:nvSpPr>
          <p:cNvPr id="165" name="2"/>
          <p:cNvSpPr/>
          <p:nvPr/>
        </p:nvSpPr>
        <p:spPr>
          <a:xfrm>
            <a:off x="7995253" y="106076"/>
            <a:ext cx="1020239" cy="1008450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66" name="1"/>
          <p:cNvSpPr/>
          <p:nvPr/>
        </p:nvSpPr>
        <p:spPr>
          <a:xfrm>
            <a:off x="7027963" y="-379535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67" name="3"/>
          <p:cNvSpPr/>
          <p:nvPr/>
        </p:nvSpPr>
        <p:spPr>
          <a:xfrm>
            <a:off x="9117392" y="-761823"/>
            <a:ext cx="1262891" cy="124830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68" name="4"/>
          <p:cNvSpPr/>
          <p:nvPr/>
        </p:nvSpPr>
        <p:spPr>
          <a:xfrm>
            <a:off x="10636766" y="-159345"/>
            <a:ext cx="795353" cy="78616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69" name="6"/>
          <p:cNvSpPr/>
          <p:nvPr/>
        </p:nvSpPr>
        <p:spPr>
          <a:xfrm>
            <a:off x="11726385" y="-679850"/>
            <a:ext cx="962425" cy="951306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0" name="5"/>
          <p:cNvSpPr/>
          <p:nvPr/>
        </p:nvSpPr>
        <p:spPr>
          <a:xfrm>
            <a:off x="11527542" y="565591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1" name="8"/>
          <p:cNvSpPr/>
          <p:nvPr/>
        </p:nvSpPr>
        <p:spPr>
          <a:xfrm flipH="1">
            <a:off x="3115938" y="6653207"/>
            <a:ext cx="1020239" cy="100845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2" name="7"/>
          <p:cNvSpPr/>
          <p:nvPr/>
        </p:nvSpPr>
        <p:spPr>
          <a:xfrm flipH="1">
            <a:off x="4409213" y="6402904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3" name="9"/>
          <p:cNvSpPr/>
          <p:nvPr/>
        </p:nvSpPr>
        <p:spPr>
          <a:xfrm flipH="1">
            <a:off x="1751122" y="6020613"/>
            <a:ext cx="1262892" cy="124830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4" name="9"/>
          <p:cNvSpPr/>
          <p:nvPr/>
        </p:nvSpPr>
        <p:spPr>
          <a:xfrm flipH="1">
            <a:off x="699311" y="6623094"/>
            <a:ext cx="795353" cy="78616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5" name="11"/>
          <p:cNvSpPr/>
          <p:nvPr/>
        </p:nvSpPr>
        <p:spPr>
          <a:xfrm flipH="1">
            <a:off x="-557396" y="6102589"/>
            <a:ext cx="962425" cy="951305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76" name="10"/>
          <p:cNvSpPr/>
          <p:nvPr/>
        </p:nvSpPr>
        <p:spPr>
          <a:xfrm flipH="1">
            <a:off x="343522" y="7348918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pull dir="u"/>
      </p:transition>
    </mc:Choice>
    <mc:Fallback>
      <p:transition spd="slow">
        <p:pull dir="u"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grpId="7" nodeType="afterEffect">
                                  <p:stCondLst>
                                    <p:cond delay="2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32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32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35" presetClass="emph" presetSubtype="0" repeatCount="3000" fill="hold" grpId="8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25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900"/>
                            </p:stCondLst>
                            <p:childTnLst>
                              <p:par>
                                <p:cTn id="41" presetID="23" presetClass="entr" presetSubtype="16" fill="hold" grpId="9" nodeType="afterEffect">
                                  <p:stCondLst>
                                    <p:cond delay="3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99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99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66"/>
                            </p:stCondLst>
                            <p:childTnLst>
                              <p:par>
                                <p:cTn id="46" presetID="35" presetClass="emph" presetSubtype="0" repeatCount="3000" fill="hold" grpId="10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25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316"/>
                            </p:stCondLst>
                            <p:childTnLst>
                              <p:par>
                                <p:cTn id="49" presetID="23" presetClass="entr" presetSubtype="16" fill="hold" grpId="11" nodeType="afterEffect">
                                  <p:stCondLst>
                                    <p:cond delay="353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7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7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989"/>
                            </p:stCondLst>
                            <p:childTnLst>
                              <p:par>
                                <p:cTn id="54" presetID="35" presetClass="emph" presetSubtype="0" repeatCount="3000" fill="hold" grpId="12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25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39"/>
                            </p:stCondLst>
                            <p:childTnLst>
                              <p:par>
                                <p:cTn id="57" presetID="23" presetClass="entr" presetSubtype="16" fill="hold" grpId="13" nodeType="afterEffect">
                                  <p:stCondLst>
                                    <p:cond delay="32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997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97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306"/>
                            </p:stCondLst>
                            <p:childTnLst>
                              <p:par>
                                <p:cTn id="62" presetID="35" presetClass="emph" presetSubtype="0" repeatCount="3000" fill="hold" grpId="14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25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56"/>
                            </p:stCondLst>
                            <p:childTnLst>
                              <p:par>
                                <p:cTn id="65" presetID="23" presetClass="entr" presetSubtype="16" fill="hold" grpId="15" nodeType="afterEffect">
                                  <p:stCondLst>
                                    <p:cond delay="57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45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45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230"/>
                            </p:stCondLst>
                            <p:childTnLst>
                              <p:par>
                                <p:cTn id="70" presetID="35" presetClass="emph" presetSubtype="0" repeatCount="3000" fill="hold" grpId="16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1" dur="2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480"/>
                            </p:stCondLst>
                            <p:childTnLst>
                              <p:par>
                                <p:cTn id="73" presetID="23" presetClass="entr" presetSubtype="16" fill="hold" grpId="17" nodeType="afterEffect">
                                  <p:stCondLst>
                                    <p:cond delay="592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6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6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382"/>
                            </p:stCondLst>
                            <p:childTnLst>
                              <p:par>
                                <p:cTn id="78" presetID="35" presetClass="emph" presetSubtype="0" repeatCount="3000" fill="hold" grpId="18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25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382"/>
                            </p:stCondLst>
                            <p:childTnLst>
                              <p:par>
                                <p:cTn id="81" presetID="23" presetClass="entr" presetSubtype="16" fill="hold" grpId="19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91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1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46"/>
                            </p:stCondLst>
                            <p:childTnLst>
                              <p:par>
                                <p:cTn id="86" presetID="35" presetClass="emph" presetSubtype="0" repeatCount="3000" fill="hold" grpId="2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2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46"/>
                            </p:stCondLst>
                            <p:childTnLst>
                              <p:par>
                                <p:cTn id="89" presetID="23" presetClass="entr" presetSubtype="16" fill="hold" grpId="21" nodeType="afterEffect">
                                  <p:stCondLst>
                                    <p:cond delay="36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indefinite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91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91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248"/>
                            </p:stCondLst>
                            <p:childTnLst>
                              <p:par>
                                <p:cTn id="94" presetID="35" presetClass="emph" presetSubtype="0" repeatCount="3000" fill="hold" grpId="22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25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7748"/>
                            </p:stCondLst>
                            <p:childTnLst>
                              <p:par>
                                <p:cTn id="97" presetID="23" presetClass="entr" presetSubtype="16" fill="hold" grpId="23" nodeType="afterEffect">
                                  <p:stCondLst>
                                    <p:cond delay="31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2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029"/>
                            </p:stCondLst>
                            <p:childTnLst>
                              <p:par>
                                <p:cTn id="102" presetID="35" presetClass="emph" presetSubtype="0" repeatCount="3000" fill="hold" grpId="24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25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529"/>
                            </p:stCondLst>
                            <p:childTnLst>
                              <p:par>
                                <p:cTn id="105" presetID="23" presetClass="entr" presetSubtype="16" fill="hold" grpId="25" nodeType="afterEffect">
                                  <p:stCondLst>
                                    <p:cond delay="265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43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43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387"/>
                            </p:stCondLst>
                            <p:childTnLst>
                              <p:par>
                                <p:cTn id="110" presetID="35" presetClass="emph" presetSubtype="0" repeatCount="3000" fill="hold" grpId="26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2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2387"/>
                            </p:stCondLst>
                            <p:childTnLst>
                              <p:par>
                                <p:cTn id="113" presetID="23" presetClass="entr" presetSubtype="16" fill="hold" grpId="27" nodeType="afterEffect">
                                  <p:stCondLst>
                                    <p:cond delay="45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74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74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3871"/>
                            </p:stCondLst>
                            <p:childTnLst>
                              <p:par>
                                <p:cTn id="118" presetID="35" presetClass="emph" presetSubtype="0" repeatCount="3000" fill="hold" grpId="28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25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621"/>
                            </p:stCondLst>
                            <p:childTnLst>
                              <p:par>
                                <p:cTn id="121" presetID="23" presetClass="entr" presetSubtype="16" fill="hold" grpId="29" nodeType="afterEffect">
                                  <p:stCondLst>
                                    <p:cond delay="364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dur="indefinite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675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75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6910"/>
                            </p:stCondLst>
                            <p:childTnLst>
                              <p:par>
                                <p:cTn id="126" presetID="35" presetClass="emph" presetSubtype="0" repeatCount="3000" fill="hold" grpId="3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25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7" animBg="1" advAuto="0"/>
      <p:bldP spid="175" grpId="8" animBg="1" advAuto="0"/>
      <p:bldP spid="173" grpId="13" animBg="1" advAuto="0"/>
      <p:bldP spid="157" grpId="1" animBg="1" advAuto="0"/>
      <p:bldP spid="158" grpId="3" animBg="1" advAuto="0"/>
      <p:bldP spid="172" grpId="17" animBg="1" advAuto="0"/>
      <p:bldP spid="172" grpId="18" animBg="1" advAuto="0"/>
      <p:bldP spid="173" grpId="14" animBg="1" advAuto="0"/>
      <p:bldP spid="171" grpId="15" animBg="1" advAuto="0"/>
      <p:bldP spid="171" grpId="16" animBg="1" advAuto="0"/>
      <p:bldP spid="165" grpId="23" animBg="1" advAuto="0"/>
      <p:bldP spid="165" grpId="24" animBg="1" advAuto="0"/>
      <p:bldP spid="169" grpId="29" animBg="1" advAuto="0"/>
      <p:bldP spid="169" grpId="30" animBg="1" advAuto="0"/>
      <p:bldP spid="176" grpId="9" animBg="1" advAuto="0"/>
      <p:bldP spid="162" grpId="2" animBg="1" advAuto="0"/>
      <p:bldP spid="176" grpId="10" animBg="1" advAuto="0"/>
      <p:bldP spid="166" grpId="21" animBg="1" advAuto="0"/>
      <p:bldP spid="166" grpId="22" animBg="1" advAuto="0"/>
      <p:bldP spid="164" grpId="6" animBg="1" advAuto="0"/>
      <p:bldP spid="163" grpId="5" animBg="1" advAuto="0"/>
      <p:bldP spid="174" grpId="11" animBg="1" advAuto="0"/>
      <p:bldP spid="174" grpId="12" animBg="1" advAuto="0"/>
      <p:bldP spid="170" grpId="27" animBg="1" advAuto="0"/>
      <p:bldP spid="170" grpId="28" animBg="1" advAuto="0"/>
      <p:bldP spid="168" grpId="25" animBg="1" advAuto="0"/>
      <p:bldP spid="168" grpId="26" animBg="1" advAuto="0"/>
      <p:bldP spid="167" grpId="19" animBg="1" advAuto="0"/>
      <p:bldP spid="167" grpId="20" animBg="1" advAuto="0"/>
      <p:bldP spid="159" grpId="4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Box 33"/>
          <p:cNvSpPr txBox="1"/>
          <p:nvPr/>
        </p:nvSpPr>
        <p:spPr>
          <a:xfrm>
            <a:off x="1230608" y="171550"/>
            <a:ext cx="1309370" cy="46037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rPr lang="zh-CN"/>
              <a:t>项目</a:t>
            </a:r>
            <a:r>
              <a:rPr lang="zh-CN"/>
              <a:t>概述</a:t>
            </a:r>
            <a:endParaRPr lang="zh-CN"/>
          </a:p>
        </p:txBody>
      </p:sp>
      <p:sp>
        <p:nvSpPr>
          <p:cNvPr id="179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180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6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A728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381000" y="1295400"/>
            <a:ext cx="3705225" cy="3467100"/>
          </a:xfrm>
          <a:custGeom>
            <a:avLst/>
            <a:gdLst/>
            <a:ahLst/>
            <a:cxnLst/>
            <a:rect l="l" t="t" r="r" b="b"/>
            <a:pathLst>
              <a:path w="3705225" h="3467100">
                <a:moveTo>
                  <a:pt x="114310" y="0"/>
                </a:moveTo>
                <a:lnTo>
                  <a:pt x="3590915" y="0"/>
                </a:lnTo>
                <a:cubicBezTo>
                  <a:pt x="3654047" y="0"/>
                  <a:pt x="3705225" y="51178"/>
                  <a:pt x="3705225" y="114310"/>
                </a:cubicBezTo>
                <a:lnTo>
                  <a:pt x="3705225" y="3352790"/>
                </a:lnTo>
                <a:cubicBezTo>
                  <a:pt x="3705225" y="3415922"/>
                  <a:pt x="3654047" y="3467100"/>
                  <a:pt x="3590915" y="3467100"/>
                </a:cubicBezTo>
                <a:lnTo>
                  <a:pt x="114310" y="3467100"/>
                </a:lnTo>
                <a:cubicBezTo>
                  <a:pt x="51178" y="3467100"/>
                  <a:pt x="0" y="3415922"/>
                  <a:pt x="0" y="33527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11" name="Shape 7"/>
          <p:cNvSpPr/>
          <p:nvPr/>
        </p:nvSpPr>
        <p:spPr>
          <a:xfrm>
            <a:off x="4241800" y="1295400"/>
            <a:ext cx="3705225" cy="3467100"/>
          </a:xfrm>
          <a:custGeom>
            <a:avLst/>
            <a:gdLst/>
            <a:ahLst/>
            <a:cxnLst/>
            <a:rect l="l" t="t" r="r" b="b"/>
            <a:pathLst>
              <a:path w="3705225" h="3467100">
                <a:moveTo>
                  <a:pt x="114310" y="0"/>
                </a:moveTo>
                <a:lnTo>
                  <a:pt x="3590915" y="0"/>
                </a:lnTo>
                <a:cubicBezTo>
                  <a:pt x="3654047" y="0"/>
                  <a:pt x="3705225" y="51178"/>
                  <a:pt x="3705225" y="114310"/>
                </a:cubicBezTo>
                <a:lnTo>
                  <a:pt x="3705225" y="3352790"/>
                </a:lnTo>
                <a:cubicBezTo>
                  <a:pt x="3705225" y="3415922"/>
                  <a:pt x="3654047" y="3467100"/>
                  <a:pt x="3590915" y="3467100"/>
                </a:cubicBezTo>
                <a:lnTo>
                  <a:pt x="114310" y="3467100"/>
                </a:lnTo>
                <a:cubicBezTo>
                  <a:pt x="51178" y="3467100"/>
                  <a:pt x="0" y="3415922"/>
                  <a:pt x="0" y="33527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3F3F3F"/>
          </a:solidFill>
        </p:spPr>
      </p:sp>
      <p:sp>
        <p:nvSpPr>
          <p:cNvPr id="15" name="Shape 11"/>
          <p:cNvSpPr/>
          <p:nvPr/>
        </p:nvSpPr>
        <p:spPr>
          <a:xfrm>
            <a:off x="8102600" y="1295400"/>
            <a:ext cx="3705225" cy="3467100"/>
          </a:xfrm>
          <a:custGeom>
            <a:avLst/>
            <a:gdLst/>
            <a:ahLst/>
            <a:cxnLst/>
            <a:rect l="l" t="t" r="r" b="b"/>
            <a:pathLst>
              <a:path w="3705225" h="3467100">
                <a:moveTo>
                  <a:pt x="114310" y="0"/>
                </a:moveTo>
                <a:lnTo>
                  <a:pt x="3590915" y="0"/>
                </a:lnTo>
                <a:cubicBezTo>
                  <a:pt x="3654047" y="0"/>
                  <a:pt x="3705225" y="51178"/>
                  <a:pt x="3705225" y="114310"/>
                </a:cubicBezTo>
                <a:lnTo>
                  <a:pt x="3705225" y="3352790"/>
                </a:lnTo>
                <a:cubicBezTo>
                  <a:pt x="3705225" y="3415922"/>
                  <a:pt x="3654047" y="3467100"/>
                  <a:pt x="3590915" y="3467100"/>
                </a:cubicBezTo>
                <a:lnTo>
                  <a:pt x="114310" y="3467100"/>
                </a:lnTo>
                <a:cubicBezTo>
                  <a:pt x="51178" y="3467100"/>
                  <a:pt x="0" y="3415922"/>
                  <a:pt x="0" y="33527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21" name="Text 17"/>
          <p:cNvSpPr/>
          <p:nvPr/>
        </p:nvSpPr>
        <p:spPr>
          <a:xfrm>
            <a:off x="748665" y="5085080"/>
            <a:ext cx="109823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F3F3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三模型技术路线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52450" y="5448300"/>
            <a:ext cx="3609975" cy="876300"/>
          </a:xfrm>
          <a:custGeom>
            <a:avLst/>
            <a:gdLst/>
            <a:ahLst/>
            <a:cxnLst/>
            <a:rect l="l" t="t" r="r" b="b"/>
            <a:pathLst>
              <a:path w="3609975" h="876300">
                <a:moveTo>
                  <a:pt x="38100" y="0"/>
                </a:moveTo>
                <a:lnTo>
                  <a:pt x="3533772" y="0"/>
                </a:lnTo>
                <a:cubicBezTo>
                  <a:pt x="3575858" y="0"/>
                  <a:pt x="3609975" y="34117"/>
                  <a:pt x="3609975" y="76203"/>
                </a:cubicBezTo>
                <a:lnTo>
                  <a:pt x="3609975" y="800097"/>
                </a:lnTo>
                <a:cubicBezTo>
                  <a:pt x="3609975" y="842183"/>
                  <a:pt x="3575858" y="876300"/>
                  <a:pt x="35337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298950" y="5448300"/>
            <a:ext cx="3609975" cy="876300"/>
          </a:xfrm>
          <a:custGeom>
            <a:avLst/>
            <a:gdLst/>
            <a:ahLst/>
            <a:cxnLst/>
            <a:rect l="l" t="t" r="r" b="b"/>
            <a:pathLst>
              <a:path w="3609975" h="876300">
                <a:moveTo>
                  <a:pt x="38100" y="0"/>
                </a:moveTo>
                <a:lnTo>
                  <a:pt x="3533772" y="0"/>
                </a:lnTo>
                <a:cubicBezTo>
                  <a:pt x="3575858" y="0"/>
                  <a:pt x="3609975" y="34117"/>
                  <a:pt x="3609975" y="76203"/>
                </a:cubicBezTo>
                <a:lnTo>
                  <a:pt x="3609975" y="800097"/>
                </a:lnTo>
                <a:cubicBezTo>
                  <a:pt x="3609975" y="842183"/>
                  <a:pt x="3575858" y="876300"/>
                  <a:pt x="35337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8045450" y="5448300"/>
            <a:ext cx="3609975" cy="876300"/>
          </a:xfrm>
          <a:custGeom>
            <a:avLst/>
            <a:gdLst/>
            <a:ahLst/>
            <a:cxnLst/>
            <a:rect l="l" t="t" r="r" b="b"/>
            <a:pathLst>
              <a:path w="3609975" h="876300">
                <a:moveTo>
                  <a:pt x="38100" y="0"/>
                </a:moveTo>
                <a:lnTo>
                  <a:pt x="3533772" y="0"/>
                </a:lnTo>
                <a:cubicBezTo>
                  <a:pt x="3575858" y="0"/>
                  <a:pt x="3609975" y="34117"/>
                  <a:pt x="3609975" y="76203"/>
                </a:cubicBezTo>
                <a:lnTo>
                  <a:pt x="3609975" y="800097"/>
                </a:lnTo>
                <a:cubicBezTo>
                  <a:pt x="3609975" y="842183"/>
                  <a:pt x="3575858" y="876300"/>
                  <a:pt x="3533772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5"/>
          <p:cNvSpPr/>
          <p:nvPr/>
        </p:nvSpPr>
        <p:spPr>
          <a:xfrm>
            <a:off x="1042988" y="14954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任务目标</a:t>
            </a:r>
            <a:endParaRPr lang="en-US" sz="1600" dirty="0"/>
          </a:p>
        </p:txBody>
      </p:sp>
      <p:sp>
        <p:nvSpPr>
          <p:cNvPr id="20" name="Text 6"/>
          <p:cNvSpPr/>
          <p:nvPr/>
        </p:nvSpPr>
        <p:spPr>
          <a:xfrm>
            <a:off x="571500" y="1885950"/>
            <a:ext cx="3400425" cy="1584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预测淘宝用户是否会购买商品，为个性化推荐和精准营销提供决策支持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核心任务：构建用户购买意向二分类预测模型，输入用户历史行为序列，输出购买概率（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0~1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）及二分类标签。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23" name="Shape 8"/>
          <p:cNvSpPr/>
          <p:nvPr/>
        </p:nvSpPr>
        <p:spPr>
          <a:xfrm>
            <a:off x="4488259" y="14859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4" name="Text 9"/>
          <p:cNvSpPr/>
          <p:nvPr/>
        </p:nvSpPr>
        <p:spPr>
          <a:xfrm>
            <a:off x="4903787" y="14954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数据规模</a:t>
            </a:r>
            <a:endParaRPr lang="en-US" sz="1600" dirty="0"/>
          </a:p>
        </p:txBody>
      </p:sp>
      <p:sp>
        <p:nvSpPr>
          <p:cNvPr id="25" name="Text 10"/>
          <p:cNvSpPr/>
          <p:nvPr/>
        </p:nvSpPr>
        <p:spPr>
          <a:xfrm>
            <a:off x="4432300" y="1885950"/>
            <a:ext cx="3400425" cy="1743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样本构成：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411,232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条有效样本（经动态负采样后，原始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1188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万条中正样本率仅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0.91%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）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特征体系：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维多域特征覆盖四大维度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用户域：活跃度、购买频次、平均决策周期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商品域：转化率、热度排名、加购转购率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交互域：漏斗得分、关注强度、时间衰减特征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40000"/>
              </a:lnSpc>
            </a:pP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• 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类目域：类目转化率、用户</a:t>
            </a:r>
            <a:r>
              <a:rPr lang="en-US" altLang="zh-CN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-</a:t>
            </a: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类目偏好匹配度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8764588" y="1495425"/>
            <a:ext cx="857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评估目标</a:t>
            </a:r>
            <a:endParaRPr lang="en-US" sz="1600" dirty="0"/>
          </a:p>
        </p:txBody>
      </p:sp>
      <p:sp>
        <p:nvSpPr>
          <p:cNvPr id="29" name="Text 14"/>
          <p:cNvSpPr/>
          <p:nvPr/>
        </p:nvSpPr>
        <p:spPr>
          <a:xfrm>
            <a:off x="8293100" y="1885950"/>
            <a:ext cx="3400425" cy="1292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技术路线对比：构建三级递进模型体系，验证不同范式在电商场景的适用边界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核心评估指标：AUC（主指标，适配不平衡数据）、F1-Score、推理延迟、泛化稳定性（Train/Val Gap）</a:t>
            </a:r>
            <a:endParaRPr lang="zh-CN" altLang="en-US" sz="12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8" name="Shape 3997"/>
          <p:cNvSpPr/>
          <p:nvPr/>
        </p:nvSpPr>
        <p:spPr>
          <a:xfrm>
            <a:off x="617220" y="1495425"/>
            <a:ext cx="267335" cy="276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79" y="19547"/>
                </a:moveTo>
                <a:lnTo>
                  <a:pt x="11679" y="14693"/>
                </a:lnTo>
                <a:lnTo>
                  <a:pt x="9921" y="14693"/>
                </a:lnTo>
                <a:lnTo>
                  <a:pt x="9921" y="19547"/>
                </a:lnTo>
                <a:cubicBezTo>
                  <a:pt x="5768" y="19134"/>
                  <a:pt x="2465" y="15832"/>
                  <a:pt x="2052" y="11679"/>
                </a:cubicBezTo>
                <a:lnTo>
                  <a:pt x="6907" y="11679"/>
                </a:lnTo>
                <a:lnTo>
                  <a:pt x="6907" y="9921"/>
                </a:lnTo>
                <a:lnTo>
                  <a:pt x="2052" y="9921"/>
                </a:lnTo>
                <a:cubicBezTo>
                  <a:pt x="2465" y="5768"/>
                  <a:pt x="5768" y="2466"/>
                  <a:pt x="9921" y="2054"/>
                </a:cubicBezTo>
                <a:lnTo>
                  <a:pt x="9921" y="6907"/>
                </a:lnTo>
                <a:lnTo>
                  <a:pt x="11679" y="6907"/>
                </a:lnTo>
                <a:lnTo>
                  <a:pt x="11679" y="2054"/>
                </a:lnTo>
                <a:cubicBezTo>
                  <a:pt x="15832" y="2466"/>
                  <a:pt x="19135" y="5768"/>
                  <a:pt x="19548" y="9921"/>
                </a:cubicBezTo>
                <a:lnTo>
                  <a:pt x="14693" y="9921"/>
                </a:lnTo>
                <a:lnTo>
                  <a:pt x="14693" y="11679"/>
                </a:lnTo>
                <a:lnTo>
                  <a:pt x="19548" y="11679"/>
                </a:lnTo>
                <a:cubicBezTo>
                  <a:pt x="19135" y="15832"/>
                  <a:pt x="15832" y="19134"/>
                  <a:pt x="11679" y="19547"/>
                </a:cubicBezTo>
                <a:close/>
                <a:moveTo>
                  <a:pt x="10799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799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799" y="0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>
              <a:defRPr sz="1700"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95" name="Shape 4084"/>
          <p:cNvSpPr/>
          <p:nvPr/>
        </p:nvSpPr>
        <p:spPr>
          <a:xfrm>
            <a:off x="8394065" y="1457960"/>
            <a:ext cx="248285" cy="304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440"/>
                </a:moveTo>
                <a:cubicBezTo>
                  <a:pt x="7045" y="19440"/>
                  <a:pt x="3998" y="17796"/>
                  <a:pt x="3998" y="15769"/>
                </a:cubicBezTo>
                <a:cubicBezTo>
                  <a:pt x="3998" y="14090"/>
                  <a:pt x="6086" y="12679"/>
                  <a:pt x="8933" y="12239"/>
                </a:cubicBezTo>
                <a:lnTo>
                  <a:pt x="8933" y="4320"/>
                </a:lnTo>
                <a:lnTo>
                  <a:pt x="12934" y="4320"/>
                </a:lnTo>
                <a:lnTo>
                  <a:pt x="12934" y="12283"/>
                </a:lnTo>
                <a:cubicBezTo>
                  <a:pt x="15644" y="12767"/>
                  <a:pt x="17602" y="14143"/>
                  <a:pt x="17602" y="15769"/>
                </a:cubicBezTo>
                <a:cubicBezTo>
                  <a:pt x="17602" y="17796"/>
                  <a:pt x="14555" y="19440"/>
                  <a:pt x="10800" y="19440"/>
                </a:cubicBezTo>
                <a:close/>
                <a:moveTo>
                  <a:pt x="16000" y="10656"/>
                </a:moveTo>
                <a:lnTo>
                  <a:pt x="16000" y="1079"/>
                </a:lnTo>
                <a:cubicBezTo>
                  <a:pt x="16000" y="484"/>
                  <a:pt x="15107" y="0"/>
                  <a:pt x="14001" y="0"/>
                </a:cubicBezTo>
                <a:lnTo>
                  <a:pt x="7199" y="0"/>
                </a:lnTo>
                <a:cubicBezTo>
                  <a:pt x="6094" y="0"/>
                  <a:pt x="5600" y="484"/>
                  <a:pt x="5600" y="1079"/>
                </a:cubicBezTo>
                <a:lnTo>
                  <a:pt x="5600" y="10656"/>
                </a:lnTo>
                <a:cubicBezTo>
                  <a:pt x="2262" y="11649"/>
                  <a:pt x="0" y="13566"/>
                  <a:pt x="0" y="15769"/>
                </a:cubicBezTo>
                <a:cubicBezTo>
                  <a:pt x="0" y="18989"/>
                  <a:pt x="4836" y="21600"/>
                  <a:pt x="10800" y="21600"/>
                </a:cubicBezTo>
                <a:cubicBezTo>
                  <a:pt x="16766" y="21600"/>
                  <a:pt x="21600" y="18989"/>
                  <a:pt x="21600" y="15769"/>
                </a:cubicBezTo>
                <a:cubicBezTo>
                  <a:pt x="21600" y="13566"/>
                  <a:pt x="19338" y="11649"/>
                  <a:pt x="16000" y="10656"/>
                </a:cubicBezTo>
                <a:close/>
              </a:path>
            </a:pathLst>
          </a:custGeom>
          <a:solidFill>
            <a:schemeClr val="bg1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>
              <a:defRPr sz="1700"/>
            </a:pPr>
          </a:p>
        </p:txBody>
      </p:sp>
      <p:sp>
        <p:nvSpPr>
          <p:cNvPr id="30" name="Shape 19"/>
          <p:cNvSpPr/>
          <p:nvPr/>
        </p:nvSpPr>
        <p:spPr>
          <a:xfrm>
            <a:off x="552450" y="5448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31" name="Text 21"/>
          <p:cNvSpPr/>
          <p:nvPr/>
        </p:nvSpPr>
        <p:spPr>
          <a:xfrm>
            <a:off x="776751" y="5638800"/>
            <a:ext cx="276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</a:t>
            </a:r>
            <a:endParaRPr lang="en-US" sz="1600" dirty="0"/>
          </a:p>
        </p:txBody>
      </p:sp>
      <p:sp>
        <p:nvSpPr>
          <p:cNvPr id="32" name="Text 22"/>
          <p:cNvSpPr/>
          <p:nvPr/>
        </p:nvSpPr>
        <p:spPr>
          <a:xfrm>
            <a:off x="1143000" y="5619750"/>
            <a:ext cx="17145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3F3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33" name="Text 23"/>
          <p:cNvSpPr/>
          <p:nvPr/>
        </p:nvSpPr>
        <p:spPr>
          <a:xfrm>
            <a:off x="685800" y="6019800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40维手工特征工程，线性分类器，可解释性强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4298950" y="5448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36" name="Text 27"/>
          <p:cNvSpPr/>
          <p:nvPr/>
        </p:nvSpPr>
        <p:spPr>
          <a:xfrm>
            <a:off x="4463918" y="5638800"/>
            <a:ext cx="390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4889500" y="5619750"/>
            <a:ext cx="800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3F3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XGBoost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4432300" y="6019800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梯度提升决策树，自动特征交互，性能最优</a:t>
            </a:r>
            <a:endParaRPr lang="en-US" sz="1600" dirty="0"/>
          </a:p>
        </p:txBody>
      </p:sp>
      <p:sp>
        <p:nvSpPr>
          <p:cNvPr id="39" name="Shape 31"/>
          <p:cNvSpPr/>
          <p:nvPr/>
        </p:nvSpPr>
        <p:spPr>
          <a:xfrm>
            <a:off x="8045450" y="5448300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43" name="Shape 20"/>
          <p:cNvSpPr/>
          <p:nvPr/>
        </p:nvSpPr>
        <p:spPr>
          <a:xfrm>
            <a:off x="685800" y="556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44" name="Shape 26"/>
          <p:cNvSpPr/>
          <p:nvPr/>
        </p:nvSpPr>
        <p:spPr>
          <a:xfrm>
            <a:off x="4432300" y="556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45" name="Shape 32"/>
          <p:cNvSpPr/>
          <p:nvPr/>
        </p:nvSpPr>
        <p:spPr>
          <a:xfrm>
            <a:off x="8178800" y="556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26F20"/>
          </a:solidFill>
        </p:spPr>
      </p:sp>
      <p:sp>
        <p:nvSpPr>
          <p:cNvPr id="40" name="Text 33"/>
          <p:cNvSpPr/>
          <p:nvPr/>
        </p:nvSpPr>
        <p:spPr>
          <a:xfrm>
            <a:off x="8250171" y="5638800"/>
            <a:ext cx="3714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SAS</a:t>
            </a:r>
            <a:endParaRPr lang="en-US" sz="1600" dirty="0"/>
          </a:p>
        </p:txBody>
      </p:sp>
      <p:sp>
        <p:nvSpPr>
          <p:cNvPr id="41" name="Text 34"/>
          <p:cNvSpPr/>
          <p:nvPr/>
        </p:nvSpPr>
        <p:spPr>
          <a:xfrm>
            <a:off x="8636000" y="5619750"/>
            <a:ext cx="7143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F3F3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SASRec</a:t>
            </a:r>
            <a:endParaRPr lang="en-US" sz="1600" dirty="0"/>
          </a:p>
        </p:txBody>
      </p:sp>
      <p:sp>
        <p:nvSpPr>
          <p:cNvPr id="42" name="Text 35"/>
          <p:cNvSpPr/>
          <p:nvPr/>
        </p:nvSpPr>
        <p:spPr>
          <a:xfrm>
            <a:off x="8178800" y="6019800"/>
            <a:ext cx="34290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Transformer序列模型，38M参数，序列建模</a:t>
            </a:r>
            <a:endParaRPr lang="en-US" sz="1600" dirty="0"/>
          </a:p>
        </p:txBody>
      </p:sp>
      <p:sp>
        <p:nvSpPr>
          <p:cNvPr id="46" name="Text 21"/>
          <p:cNvSpPr/>
          <p:nvPr/>
        </p:nvSpPr>
        <p:spPr>
          <a:xfrm>
            <a:off x="792626" y="5622290"/>
            <a:ext cx="2762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</a:t>
            </a:r>
            <a:endParaRPr lang="en-US" sz="1600" dirty="0"/>
          </a:p>
        </p:txBody>
      </p:sp>
      <p:sp>
        <p:nvSpPr>
          <p:cNvPr id="47" name="Text 27"/>
          <p:cNvSpPr/>
          <p:nvPr/>
        </p:nvSpPr>
        <p:spPr>
          <a:xfrm>
            <a:off x="4521068" y="5638800"/>
            <a:ext cx="3905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" grpId="2" animBg="1" advAuto="0"/>
      <p:bldP spid="178" grpId="3" animBg="1" advAuto="0"/>
      <p:bldP spid="179" grpId="1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矩形 27"/>
          <p:cNvSpPr/>
          <p:nvPr/>
        </p:nvSpPr>
        <p:spPr>
          <a:xfrm>
            <a:off x="-389" y="0"/>
            <a:ext cx="12189602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83" name="矩形 15"/>
          <p:cNvSpPr/>
          <p:nvPr/>
        </p:nvSpPr>
        <p:spPr>
          <a:xfrm>
            <a:off x="-389" y="1797668"/>
            <a:ext cx="12189602" cy="3454201"/>
          </a:xfrm>
          <a:prstGeom prst="rect">
            <a:avLst/>
          </a:prstGeom>
          <a:solidFill>
            <a:srgbClr val="F26F20">
              <a:alpha val="8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84" name="直接连接符 16"/>
          <p:cNvSpPr/>
          <p:nvPr/>
        </p:nvSpPr>
        <p:spPr>
          <a:xfrm flipH="1">
            <a:off x="4367119" y="2181321"/>
            <a:ext cx="1" cy="2686900"/>
          </a:xfrm>
          <a:prstGeom prst="line">
            <a:avLst/>
          </a:prstGeom>
          <a:ln>
            <a:solidFill>
              <a:schemeClr val="accent1">
                <a:lumOff val="44000"/>
              </a:schemeClr>
            </a:solidFill>
            <a:prstDash val="sysDash"/>
          </a:ln>
        </p:spPr>
        <p:txBody>
          <a:bodyPr lIns="45719" rIns="45719"/>
          <a:lstStyle/>
          <a:p/>
        </p:txBody>
      </p:sp>
      <p:sp>
        <p:nvSpPr>
          <p:cNvPr id="185" name="TextBox 10"/>
          <p:cNvSpPr txBox="1"/>
          <p:nvPr/>
        </p:nvSpPr>
        <p:spPr>
          <a:xfrm>
            <a:off x="5031966" y="2421350"/>
            <a:ext cx="5913271" cy="7697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chemeClr val="accent1">
                    <a:lumOff val="44000"/>
                  </a:schemeClr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t>第二部分 </a:t>
            </a:r>
            <a:r>
              <a:rPr sz="3100"/>
              <a:t>| </a:t>
            </a:r>
            <a:r>
              <a:rPr sz="5300"/>
              <a:t>工作完成情况</a:t>
            </a:r>
            <a:endParaRPr sz="5300"/>
          </a:p>
        </p:txBody>
      </p:sp>
      <p:grpSp>
        <p:nvGrpSpPr>
          <p:cNvPr id="188" name="组合 1"/>
          <p:cNvGrpSpPr/>
          <p:nvPr/>
        </p:nvGrpSpPr>
        <p:grpSpPr>
          <a:xfrm>
            <a:off x="1575943" y="2565268"/>
            <a:ext cx="1919004" cy="1919002"/>
            <a:chOff x="0" y="0"/>
            <a:chExt cx="1919002" cy="1919000"/>
          </a:xfrm>
        </p:grpSpPr>
        <p:sp>
          <p:nvSpPr>
            <p:cNvPr id="186" name="椭圆 30"/>
            <p:cNvSpPr/>
            <p:nvPr/>
          </p:nvSpPr>
          <p:spPr>
            <a:xfrm>
              <a:off x="-1" y="-1"/>
              <a:ext cx="1919004" cy="1919002"/>
            </a:xfrm>
            <a:prstGeom prst="ellipse">
              <a:avLst/>
            </a:prstGeom>
            <a:gradFill flip="none" rotWithShape="1">
              <a:gsLst>
                <a:gs pos="0">
                  <a:srgbClr val="E0E0E0"/>
                </a:gs>
                <a:gs pos="100000">
                  <a:schemeClr val="accent1">
                    <a:lumOff val="44000"/>
                  </a:schemeClr>
                </a:gs>
              </a:gsLst>
              <a:lin ang="8100000" scaled="0"/>
            </a:gradFill>
            <a:ln w="63500" cap="flat">
              <a:solidFill>
                <a:srgbClr val="ECECEC"/>
              </a:solidFill>
              <a:prstDash val="solid"/>
              <a:round/>
            </a:ln>
            <a:effectLst>
              <a:outerShdw blurRad="254000" dist="279400" dir="8100000" rotWithShape="0">
                <a:schemeClr val="accent6">
                  <a:alpha val="40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187" name="KSO_Shape"/>
            <p:cNvSpPr/>
            <p:nvPr/>
          </p:nvSpPr>
          <p:spPr>
            <a:xfrm>
              <a:off x="298038" y="505299"/>
              <a:ext cx="1322925" cy="908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cubicBezTo>
                    <a:pt x="11957" y="0"/>
                    <a:pt x="12729" y="1122"/>
                    <a:pt x="12729" y="2805"/>
                  </a:cubicBezTo>
                  <a:cubicBezTo>
                    <a:pt x="12729" y="4208"/>
                    <a:pt x="11957" y="5610"/>
                    <a:pt x="10800" y="5610"/>
                  </a:cubicBezTo>
                  <a:cubicBezTo>
                    <a:pt x="9836" y="5610"/>
                    <a:pt x="8871" y="4208"/>
                    <a:pt x="8871" y="2805"/>
                  </a:cubicBezTo>
                  <a:cubicBezTo>
                    <a:pt x="8871" y="1122"/>
                    <a:pt x="9836" y="0"/>
                    <a:pt x="10800" y="0"/>
                  </a:cubicBezTo>
                  <a:close/>
                  <a:moveTo>
                    <a:pt x="2893" y="13745"/>
                  </a:moveTo>
                  <a:cubicBezTo>
                    <a:pt x="2893" y="18514"/>
                    <a:pt x="2893" y="18514"/>
                    <a:pt x="2893" y="18514"/>
                  </a:cubicBezTo>
                  <a:cubicBezTo>
                    <a:pt x="1929" y="18514"/>
                    <a:pt x="1929" y="18514"/>
                    <a:pt x="1929" y="18514"/>
                  </a:cubicBezTo>
                  <a:cubicBezTo>
                    <a:pt x="1929" y="14587"/>
                    <a:pt x="1929" y="14587"/>
                    <a:pt x="1929" y="14587"/>
                  </a:cubicBezTo>
                  <a:cubicBezTo>
                    <a:pt x="1736" y="14587"/>
                    <a:pt x="1736" y="14587"/>
                    <a:pt x="1736" y="14587"/>
                  </a:cubicBezTo>
                  <a:cubicBezTo>
                    <a:pt x="1736" y="18514"/>
                    <a:pt x="1736" y="18514"/>
                    <a:pt x="1736" y="18514"/>
                  </a:cubicBezTo>
                  <a:cubicBezTo>
                    <a:pt x="771" y="18514"/>
                    <a:pt x="771" y="18514"/>
                    <a:pt x="771" y="18514"/>
                  </a:cubicBezTo>
                  <a:cubicBezTo>
                    <a:pt x="771" y="13745"/>
                    <a:pt x="771" y="13745"/>
                    <a:pt x="771" y="13745"/>
                  </a:cubicBezTo>
                  <a:cubicBezTo>
                    <a:pt x="771" y="12904"/>
                    <a:pt x="771" y="12904"/>
                    <a:pt x="771" y="12904"/>
                  </a:cubicBezTo>
                  <a:cubicBezTo>
                    <a:pt x="771" y="10379"/>
                    <a:pt x="771" y="10379"/>
                    <a:pt x="771" y="10379"/>
                  </a:cubicBezTo>
                  <a:cubicBezTo>
                    <a:pt x="771" y="10379"/>
                    <a:pt x="771" y="10379"/>
                    <a:pt x="771" y="10379"/>
                  </a:cubicBezTo>
                  <a:cubicBezTo>
                    <a:pt x="771" y="12904"/>
                    <a:pt x="771" y="12904"/>
                    <a:pt x="771" y="12904"/>
                  </a:cubicBezTo>
                  <a:cubicBezTo>
                    <a:pt x="0" y="12904"/>
                    <a:pt x="0" y="12904"/>
                    <a:pt x="0" y="12904"/>
                  </a:cubicBezTo>
                  <a:cubicBezTo>
                    <a:pt x="0" y="9257"/>
                    <a:pt x="0" y="9257"/>
                    <a:pt x="0" y="9257"/>
                  </a:cubicBezTo>
                  <a:cubicBezTo>
                    <a:pt x="0" y="8696"/>
                    <a:pt x="193" y="8135"/>
                    <a:pt x="771" y="8135"/>
                  </a:cubicBezTo>
                  <a:cubicBezTo>
                    <a:pt x="2507" y="8135"/>
                    <a:pt x="2507" y="8135"/>
                    <a:pt x="2507" y="8135"/>
                  </a:cubicBezTo>
                  <a:cubicBezTo>
                    <a:pt x="2507" y="8416"/>
                    <a:pt x="2507" y="8416"/>
                    <a:pt x="2507" y="8696"/>
                  </a:cubicBezTo>
                  <a:cubicBezTo>
                    <a:pt x="2507" y="13745"/>
                    <a:pt x="2507" y="13745"/>
                    <a:pt x="2507" y="13745"/>
                  </a:cubicBezTo>
                  <a:cubicBezTo>
                    <a:pt x="2893" y="13745"/>
                    <a:pt x="2893" y="13745"/>
                    <a:pt x="2893" y="13745"/>
                  </a:cubicBezTo>
                  <a:close/>
                  <a:moveTo>
                    <a:pt x="1929" y="4208"/>
                  </a:moveTo>
                  <a:cubicBezTo>
                    <a:pt x="2507" y="4208"/>
                    <a:pt x="3086" y="5049"/>
                    <a:pt x="3086" y="6171"/>
                  </a:cubicBezTo>
                  <a:cubicBezTo>
                    <a:pt x="3086" y="6452"/>
                    <a:pt x="3086" y="6732"/>
                    <a:pt x="2893" y="7013"/>
                  </a:cubicBezTo>
                  <a:cubicBezTo>
                    <a:pt x="2893" y="7294"/>
                    <a:pt x="2893" y="7294"/>
                    <a:pt x="2700" y="7294"/>
                  </a:cubicBezTo>
                  <a:cubicBezTo>
                    <a:pt x="2507" y="7574"/>
                    <a:pt x="2314" y="7855"/>
                    <a:pt x="1929" y="7855"/>
                  </a:cubicBezTo>
                  <a:cubicBezTo>
                    <a:pt x="1157" y="7855"/>
                    <a:pt x="579" y="7013"/>
                    <a:pt x="579" y="6171"/>
                  </a:cubicBezTo>
                  <a:cubicBezTo>
                    <a:pt x="579" y="5049"/>
                    <a:pt x="1157" y="4208"/>
                    <a:pt x="1929" y="4208"/>
                  </a:cubicBezTo>
                  <a:close/>
                  <a:moveTo>
                    <a:pt x="18514" y="13745"/>
                  </a:moveTo>
                  <a:cubicBezTo>
                    <a:pt x="18514" y="18514"/>
                    <a:pt x="18514" y="18514"/>
                    <a:pt x="18514" y="18514"/>
                  </a:cubicBezTo>
                  <a:cubicBezTo>
                    <a:pt x="19479" y="18514"/>
                    <a:pt x="19479" y="18514"/>
                    <a:pt x="19479" y="18514"/>
                  </a:cubicBezTo>
                  <a:cubicBezTo>
                    <a:pt x="19479" y="14587"/>
                    <a:pt x="19479" y="14587"/>
                    <a:pt x="19479" y="14587"/>
                  </a:cubicBezTo>
                  <a:cubicBezTo>
                    <a:pt x="19671" y="14587"/>
                    <a:pt x="19671" y="14587"/>
                    <a:pt x="19671" y="14587"/>
                  </a:cubicBezTo>
                  <a:cubicBezTo>
                    <a:pt x="19671" y="18514"/>
                    <a:pt x="19671" y="18514"/>
                    <a:pt x="19671" y="18514"/>
                  </a:cubicBezTo>
                  <a:cubicBezTo>
                    <a:pt x="20636" y="18514"/>
                    <a:pt x="20636" y="18514"/>
                    <a:pt x="20636" y="18514"/>
                  </a:cubicBezTo>
                  <a:cubicBezTo>
                    <a:pt x="20636" y="13745"/>
                    <a:pt x="20636" y="13745"/>
                    <a:pt x="20636" y="13745"/>
                  </a:cubicBezTo>
                  <a:cubicBezTo>
                    <a:pt x="20636" y="12904"/>
                    <a:pt x="20636" y="12904"/>
                    <a:pt x="20636" y="12904"/>
                  </a:cubicBezTo>
                  <a:cubicBezTo>
                    <a:pt x="20636" y="10379"/>
                    <a:pt x="20636" y="10379"/>
                    <a:pt x="20636" y="10379"/>
                  </a:cubicBezTo>
                  <a:cubicBezTo>
                    <a:pt x="20636" y="10379"/>
                    <a:pt x="20636" y="10379"/>
                    <a:pt x="20636" y="10379"/>
                  </a:cubicBezTo>
                  <a:cubicBezTo>
                    <a:pt x="20636" y="12904"/>
                    <a:pt x="20636" y="12904"/>
                    <a:pt x="20636" y="12904"/>
                  </a:cubicBezTo>
                  <a:cubicBezTo>
                    <a:pt x="21600" y="12904"/>
                    <a:pt x="21600" y="12904"/>
                    <a:pt x="21600" y="12904"/>
                  </a:cubicBezTo>
                  <a:cubicBezTo>
                    <a:pt x="21600" y="9257"/>
                    <a:pt x="21600" y="9257"/>
                    <a:pt x="21600" y="9257"/>
                  </a:cubicBezTo>
                  <a:cubicBezTo>
                    <a:pt x="21600" y="8696"/>
                    <a:pt x="21214" y="8135"/>
                    <a:pt x="20636" y="8135"/>
                  </a:cubicBezTo>
                  <a:cubicBezTo>
                    <a:pt x="18900" y="8135"/>
                    <a:pt x="18900" y="8135"/>
                    <a:pt x="18900" y="8135"/>
                  </a:cubicBezTo>
                  <a:cubicBezTo>
                    <a:pt x="18900" y="8416"/>
                    <a:pt x="18900" y="8416"/>
                    <a:pt x="18900" y="8696"/>
                  </a:cubicBezTo>
                  <a:cubicBezTo>
                    <a:pt x="18900" y="13745"/>
                    <a:pt x="18900" y="13745"/>
                    <a:pt x="18900" y="13745"/>
                  </a:cubicBezTo>
                  <a:cubicBezTo>
                    <a:pt x="18514" y="13745"/>
                    <a:pt x="18514" y="13745"/>
                    <a:pt x="18514" y="13745"/>
                  </a:cubicBezTo>
                  <a:close/>
                  <a:moveTo>
                    <a:pt x="19479" y="4208"/>
                  </a:moveTo>
                  <a:cubicBezTo>
                    <a:pt x="18900" y="4208"/>
                    <a:pt x="18321" y="5049"/>
                    <a:pt x="18321" y="6171"/>
                  </a:cubicBezTo>
                  <a:cubicBezTo>
                    <a:pt x="18321" y="6452"/>
                    <a:pt x="18321" y="6732"/>
                    <a:pt x="18514" y="7013"/>
                  </a:cubicBezTo>
                  <a:cubicBezTo>
                    <a:pt x="18514" y="7294"/>
                    <a:pt x="18707" y="7294"/>
                    <a:pt x="18707" y="7294"/>
                  </a:cubicBezTo>
                  <a:cubicBezTo>
                    <a:pt x="18900" y="7574"/>
                    <a:pt x="19286" y="7855"/>
                    <a:pt x="19479" y="7855"/>
                  </a:cubicBezTo>
                  <a:cubicBezTo>
                    <a:pt x="20250" y="7855"/>
                    <a:pt x="20829" y="7013"/>
                    <a:pt x="20829" y="6171"/>
                  </a:cubicBezTo>
                  <a:cubicBezTo>
                    <a:pt x="20829" y="5049"/>
                    <a:pt x="20250" y="4208"/>
                    <a:pt x="19479" y="4208"/>
                  </a:cubicBezTo>
                  <a:close/>
                  <a:moveTo>
                    <a:pt x="14464" y="14306"/>
                  </a:moveTo>
                  <a:cubicBezTo>
                    <a:pt x="14464" y="20197"/>
                    <a:pt x="14464" y="20197"/>
                    <a:pt x="14464" y="20197"/>
                  </a:cubicBezTo>
                  <a:cubicBezTo>
                    <a:pt x="15429" y="20197"/>
                    <a:pt x="15429" y="20197"/>
                    <a:pt x="15429" y="20197"/>
                  </a:cubicBezTo>
                  <a:cubicBezTo>
                    <a:pt x="15429" y="15148"/>
                    <a:pt x="15429" y="15148"/>
                    <a:pt x="15429" y="15148"/>
                  </a:cubicBezTo>
                  <a:cubicBezTo>
                    <a:pt x="15814" y="15148"/>
                    <a:pt x="15814" y="15148"/>
                    <a:pt x="15814" y="15148"/>
                  </a:cubicBezTo>
                  <a:cubicBezTo>
                    <a:pt x="15814" y="20197"/>
                    <a:pt x="15814" y="20197"/>
                    <a:pt x="15814" y="20197"/>
                  </a:cubicBezTo>
                  <a:cubicBezTo>
                    <a:pt x="16779" y="20197"/>
                    <a:pt x="16779" y="20197"/>
                    <a:pt x="16779" y="20197"/>
                  </a:cubicBezTo>
                  <a:cubicBezTo>
                    <a:pt x="16779" y="14306"/>
                    <a:pt x="16779" y="14306"/>
                    <a:pt x="16779" y="14306"/>
                  </a:cubicBezTo>
                  <a:cubicBezTo>
                    <a:pt x="16779" y="13184"/>
                    <a:pt x="16779" y="13184"/>
                    <a:pt x="16779" y="13184"/>
                  </a:cubicBezTo>
                  <a:cubicBezTo>
                    <a:pt x="16779" y="10099"/>
                    <a:pt x="16779" y="10099"/>
                    <a:pt x="16779" y="10099"/>
                  </a:cubicBezTo>
                  <a:cubicBezTo>
                    <a:pt x="16971" y="10099"/>
                    <a:pt x="16971" y="10099"/>
                    <a:pt x="16971" y="10099"/>
                  </a:cubicBezTo>
                  <a:cubicBezTo>
                    <a:pt x="16971" y="13184"/>
                    <a:pt x="16971" y="13184"/>
                    <a:pt x="16971" y="13184"/>
                  </a:cubicBezTo>
                  <a:cubicBezTo>
                    <a:pt x="18129" y="13184"/>
                    <a:pt x="18129" y="13184"/>
                    <a:pt x="18129" y="13184"/>
                  </a:cubicBezTo>
                  <a:cubicBezTo>
                    <a:pt x="18129" y="8696"/>
                    <a:pt x="18129" y="8696"/>
                    <a:pt x="18129" y="8696"/>
                  </a:cubicBezTo>
                  <a:cubicBezTo>
                    <a:pt x="18129" y="7855"/>
                    <a:pt x="17550" y="7294"/>
                    <a:pt x="16971" y="7294"/>
                  </a:cubicBezTo>
                  <a:cubicBezTo>
                    <a:pt x="14850" y="7294"/>
                    <a:pt x="14850" y="7294"/>
                    <a:pt x="14850" y="7294"/>
                  </a:cubicBezTo>
                  <a:cubicBezTo>
                    <a:pt x="14850" y="7574"/>
                    <a:pt x="14850" y="7855"/>
                    <a:pt x="14850" y="7855"/>
                  </a:cubicBezTo>
                  <a:cubicBezTo>
                    <a:pt x="14850" y="14306"/>
                    <a:pt x="14850" y="14306"/>
                    <a:pt x="14850" y="14306"/>
                  </a:cubicBezTo>
                  <a:cubicBezTo>
                    <a:pt x="14464" y="14306"/>
                    <a:pt x="14464" y="14306"/>
                    <a:pt x="14464" y="14306"/>
                  </a:cubicBezTo>
                  <a:close/>
                  <a:moveTo>
                    <a:pt x="12536" y="13184"/>
                  </a:moveTo>
                  <a:cubicBezTo>
                    <a:pt x="12536" y="8977"/>
                    <a:pt x="12536" y="8977"/>
                    <a:pt x="12536" y="8977"/>
                  </a:cubicBezTo>
                  <a:cubicBezTo>
                    <a:pt x="12343" y="8977"/>
                    <a:pt x="12343" y="8977"/>
                    <a:pt x="12343" y="8977"/>
                  </a:cubicBezTo>
                  <a:cubicBezTo>
                    <a:pt x="12343" y="13184"/>
                    <a:pt x="12343" y="13184"/>
                    <a:pt x="12343" y="13184"/>
                  </a:cubicBezTo>
                  <a:cubicBezTo>
                    <a:pt x="12343" y="14026"/>
                    <a:pt x="12343" y="14026"/>
                    <a:pt x="12343" y="14026"/>
                  </a:cubicBezTo>
                  <a:cubicBezTo>
                    <a:pt x="12343" y="21600"/>
                    <a:pt x="12343" y="21600"/>
                    <a:pt x="12343" y="21600"/>
                  </a:cubicBezTo>
                  <a:cubicBezTo>
                    <a:pt x="10993" y="21600"/>
                    <a:pt x="10993" y="21600"/>
                    <a:pt x="10993" y="21600"/>
                  </a:cubicBezTo>
                  <a:cubicBezTo>
                    <a:pt x="10993" y="15429"/>
                    <a:pt x="10993" y="15429"/>
                    <a:pt x="10993" y="15429"/>
                  </a:cubicBezTo>
                  <a:cubicBezTo>
                    <a:pt x="10607" y="15429"/>
                    <a:pt x="10607" y="15429"/>
                    <a:pt x="10607" y="15429"/>
                  </a:cubicBezTo>
                  <a:cubicBezTo>
                    <a:pt x="10607" y="21600"/>
                    <a:pt x="10607" y="21600"/>
                    <a:pt x="10607" y="21600"/>
                  </a:cubicBezTo>
                  <a:cubicBezTo>
                    <a:pt x="9257" y="21600"/>
                    <a:pt x="9257" y="21600"/>
                    <a:pt x="9257" y="21600"/>
                  </a:cubicBezTo>
                  <a:cubicBezTo>
                    <a:pt x="9257" y="14026"/>
                    <a:pt x="9257" y="14026"/>
                    <a:pt x="9257" y="14026"/>
                  </a:cubicBezTo>
                  <a:cubicBezTo>
                    <a:pt x="9257" y="13184"/>
                    <a:pt x="9257" y="13184"/>
                    <a:pt x="9257" y="13184"/>
                  </a:cubicBezTo>
                  <a:cubicBezTo>
                    <a:pt x="9257" y="8977"/>
                    <a:pt x="9257" y="8977"/>
                    <a:pt x="9257" y="8977"/>
                  </a:cubicBezTo>
                  <a:cubicBezTo>
                    <a:pt x="9064" y="8977"/>
                    <a:pt x="9064" y="8977"/>
                    <a:pt x="9064" y="8977"/>
                  </a:cubicBezTo>
                  <a:cubicBezTo>
                    <a:pt x="9064" y="13184"/>
                    <a:pt x="9064" y="13184"/>
                    <a:pt x="9064" y="13184"/>
                  </a:cubicBezTo>
                  <a:cubicBezTo>
                    <a:pt x="7907" y="13184"/>
                    <a:pt x="7907" y="13184"/>
                    <a:pt x="7907" y="13184"/>
                  </a:cubicBezTo>
                  <a:cubicBezTo>
                    <a:pt x="7907" y="7574"/>
                    <a:pt x="7907" y="7574"/>
                    <a:pt x="7907" y="7574"/>
                  </a:cubicBezTo>
                  <a:cubicBezTo>
                    <a:pt x="7907" y="6732"/>
                    <a:pt x="8486" y="5891"/>
                    <a:pt x="9064" y="5891"/>
                  </a:cubicBezTo>
                  <a:cubicBezTo>
                    <a:pt x="12729" y="5891"/>
                    <a:pt x="8871" y="5891"/>
                    <a:pt x="12536" y="5891"/>
                  </a:cubicBezTo>
                  <a:cubicBezTo>
                    <a:pt x="13307" y="5891"/>
                    <a:pt x="13693" y="6732"/>
                    <a:pt x="13693" y="7574"/>
                  </a:cubicBezTo>
                  <a:cubicBezTo>
                    <a:pt x="13693" y="13184"/>
                    <a:pt x="13693" y="13184"/>
                    <a:pt x="13693" y="13184"/>
                  </a:cubicBezTo>
                  <a:cubicBezTo>
                    <a:pt x="13500" y="13184"/>
                    <a:pt x="13114" y="13184"/>
                    <a:pt x="12536" y="13184"/>
                  </a:cubicBezTo>
                  <a:close/>
                  <a:moveTo>
                    <a:pt x="7136" y="14306"/>
                  </a:moveTo>
                  <a:cubicBezTo>
                    <a:pt x="7136" y="20197"/>
                    <a:pt x="7136" y="20197"/>
                    <a:pt x="7136" y="20197"/>
                  </a:cubicBezTo>
                  <a:cubicBezTo>
                    <a:pt x="5979" y="20197"/>
                    <a:pt x="5979" y="20197"/>
                    <a:pt x="5979" y="20197"/>
                  </a:cubicBezTo>
                  <a:cubicBezTo>
                    <a:pt x="5979" y="15148"/>
                    <a:pt x="5979" y="15148"/>
                    <a:pt x="5979" y="15148"/>
                  </a:cubicBezTo>
                  <a:cubicBezTo>
                    <a:pt x="5786" y="15148"/>
                    <a:pt x="5786" y="15148"/>
                    <a:pt x="5786" y="15148"/>
                  </a:cubicBezTo>
                  <a:cubicBezTo>
                    <a:pt x="5786" y="20197"/>
                    <a:pt x="5786" y="20197"/>
                    <a:pt x="5786" y="20197"/>
                  </a:cubicBezTo>
                  <a:cubicBezTo>
                    <a:pt x="4629" y="20197"/>
                    <a:pt x="4629" y="20197"/>
                    <a:pt x="4629" y="20197"/>
                  </a:cubicBezTo>
                  <a:cubicBezTo>
                    <a:pt x="4629" y="14306"/>
                    <a:pt x="4629" y="14306"/>
                    <a:pt x="4629" y="14306"/>
                  </a:cubicBezTo>
                  <a:cubicBezTo>
                    <a:pt x="4629" y="13184"/>
                    <a:pt x="4629" y="13184"/>
                    <a:pt x="4629" y="13184"/>
                  </a:cubicBezTo>
                  <a:cubicBezTo>
                    <a:pt x="4629" y="10099"/>
                    <a:pt x="4629" y="10099"/>
                    <a:pt x="4629" y="10099"/>
                  </a:cubicBezTo>
                  <a:cubicBezTo>
                    <a:pt x="4436" y="10099"/>
                    <a:pt x="4436" y="10099"/>
                    <a:pt x="4436" y="10099"/>
                  </a:cubicBezTo>
                  <a:cubicBezTo>
                    <a:pt x="4436" y="13184"/>
                    <a:pt x="4436" y="13184"/>
                    <a:pt x="4436" y="13184"/>
                  </a:cubicBezTo>
                  <a:cubicBezTo>
                    <a:pt x="3471" y="13184"/>
                    <a:pt x="3471" y="13184"/>
                    <a:pt x="3471" y="13184"/>
                  </a:cubicBezTo>
                  <a:cubicBezTo>
                    <a:pt x="3471" y="8696"/>
                    <a:pt x="3471" y="8696"/>
                    <a:pt x="3471" y="8696"/>
                  </a:cubicBezTo>
                  <a:cubicBezTo>
                    <a:pt x="3471" y="7855"/>
                    <a:pt x="3857" y="7294"/>
                    <a:pt x="4436" y="7294"/>
                  </a:cubicBezTo>
                  <a:cubicBezTo>
                    <a:pt x="6750" y="7294"/>
                    <a:pt x="6750" y="7294"/>
                    <a:pt x="6750" y="7294"/>
                  </a:cubicBezTo>
                  <a:cubicBezTo>
                    <a:pt x="6750" y="7574"/>
                    <a:pt x="6750" y="7855"/>
                    <a:pt x="6750" y="7855"/>
                  </a:cubicBezTo>
                  <a:cubicBezTo>
                    <a:pt x="6750" y="14306"/>
                    <a:pt x="6750" y="14306"/>
                    <a:pt x="6750" y="14306"/>
                  </a:cubicBezTo>
                  <a:cubicBezTo>
                    <a:pt x="7136" y="14306"/>
                    <a:pt x="7136" y="14306"/>
                    <a:pt x="7136" y="14306"/>
                  </a:cubicBezTo>
                  <a:close/>
                  <a:moveTo>
                    <a:pt x="5979" y="2525"/>
                  </a:moveTo>
                  <a:cubicBezTo>
                    <a:pt x="6750" y="2525"/>
                    <a:pt x="7521" y="3366"/>
                    <a:pt x="7521" y="4769"/>
                  </a:cubicBezTo>
                  <a:cubicBezTo>
                    <a:pt x="7521" y="5330"/>
                    <a:pt x="7329" y="5610"/>
                    <a:pt x="7136" y="6171"/>
                  </a:cubicBezTo>
                  <a:cubicBezTo>
                    <a:pt x="7136" y="6171"/>
                    <a:pt x="7136" y="6171"/>
                    <a:pt x="7136" y="6452"/>
                  </a:cubicBezTo>
                  <a:cubicBezTo>
                    <a:pt x="6750" y="6732"/>
                    <a:pt x="6364" y="7013"/>
                    <a:pt x="5979" y="7013"/>
                  </a:cubicBezTo>
                  <a:cubicBezTo>
                    <a:pt x="5014" y="7013"/>
                    <a:pt x="4243" y="5891"/>
                    <a:pt x="4243" y="4769"/>
                  </a:cubicBezTo>
                  <a:cubicBezTo>
                    <a:pt x="4243" y="3366"/>
                    <a:pt x="5014" y="2525"/>
                    <a:pt x="5979" y="2525"/>
                  </a:cubicBezTo>
                  <a:close/>
                  <a:moveTo>
                    <a:pt x="15621" y="2525"/>
                  </a:moveTo>
                  <a:cubicBezTo>
                    <a:pt x="14657" y="2525"/>
                    <a:pt x="14079" y="3366"/>
                    <a:pt x="14079" y="4769"/>
                  </a:cubicBezTo>
                  <a:cubicBezTo>
                    <a:pt x="14079" y="5330"/>
                    <a:pt x="14079" y="5610"/>
                    <a:pt x="14271" y="6171"/>
                  </a:cubicBezTo>
                  <a:cubicBezTo>
                    <a:pt x="14464" y="6171"/>
                    <a:pt x="14464" y="6171"/>
                    <a:pt x="14464" y="6452"/>
                  </a:cubicBezTo>
                  <a:cubicBezTo>
                    <a:pt x="14850" y="6732"/>
                    <a:pt x="15236" y="7013"/>
                    <a:pt x="15621" y="7013"/>
                  </a:cubicBezTo>
                  <a:cubicBezTo>
                    <a:pt x="16393" y="7013"/>
                    <a:pt x="17164" y="5891"/>
                    <a:pt x="17164" y="4769"/>
                  </a:cubicBezTo>
                  <a:cubicBezTo>
                    <a:pt x="17164" y="3366"/>
                    <a:pt x="16393" y="2525"/>
                    <a:pt x="15621" y="2525"/>
                  </a:cubicBez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189" name="文本框 9"/>
          <p:cNvSpPr txBox="1"/>
          <p:nvPr/>
        </p:nvSpPr>
        <p:spPr>
          <a:xfrm>
            <a:off x="5070890" y="3516043"/>
            <a:ext cx="1815610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sp>
        <p:nvSpPr>
          <p:cNvPr id="190" name="文本框 9"/>
          <p:cNvSpPr txBox="1"/>
          <p:nvPr/>
        </p:nvSpPr>
        <p:spPr>
          <a:xfrm>
            <a:off x="7102523" y="3516043"/>
            <a:ext cx="1815610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sp>
        <p:nvSpPr>
          <p:cNvPr id="191" name="2"/>
          <p:cNvSpPr/>
          <p:nvPr/>
        </p:nvSpPr>
        <p:spPr>
          <a:xfrm>
            <a:off x="7995253" y="106076"/>
            <a:ext cx="1020239" cy="1008450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2" name="1"/>
          <p:cNvSpPr/>
          <p:nvPr/>
        </p:nvSpPr>
        <p:spPr>
          <a:xfrm>
            <a:off x="7027963" y="-379535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3" name="3"/>
          <p:cNvSpPr/>
          <p:nvPr/>
        </p:nvSpPr>
        <p:spPr>
          <a:xfrm>
            <a:off x="9117392" y="-761823"/>
            <a:ext cx="1262891" cy="124830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4" name="4"/>
          <p:cNvSpPr/>
          <p:nvPr/>
        </p:nvSpPr>
        <p:spPr>
          <a:xfrm>
            <a:off x="10636766" y="-159345"/>
            <a:ext cx="795353" cy="78616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5" name="6"/>
          <p:cNvSpPr/>
          <p:nvPr/>
        </p:nvSpPr>
        <p:spPr>
          <a:xfrm>
            <a:off x="11726385" y="-679850"/>
            <a:ext cx="962425" cy="951306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6" name="5"/>
          <p:cNvSpPr/>
          <p:nvPr/>
        </p:nvSpPr>
        <p:spPr>
          <a:xfrm>
            <a:off x="11527542" y="565591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7" name="8"/>
          <p:cNvSpPr/>
          <p:nvPr/>
        </p:nvSpPr>
        <p:spPr>
          <a:xfrm flipH="1">
            <a:off x="3115938" y="6653207"/>
            <a:ext cx="1020239" cy="100845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8" name="7"/>
          <p:cNvSpPr/>
          <p:nvPr/>
        </p:nvSpPr>
        <p:spPr>
          <a:xfrm flipH="1">
            <a:off x="4409213" y="6402904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199" name="9"/>
          <p:cNvSpPr/>
          <p:nvPr/>
        </p:nvSpPr>
        <p:spPr>
          <a:xfrm flipH="1">
            <a:off x="1751122" y="6020613"/>
            <a:ext cx="1262892" cy="124830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00" name="9"/>
          <p:cNvSpPr/>
          <p:nvPr/>
        </p:nvSpPr>
        <p:spPr>
          <a:xfrm flipH="1">
            <a:off x="699311" y="6623094"/>
            <a:ext cx="795353" cy="78616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01" name="11"/>
          <p:cNvSpPr/>
          <p:nvPr/>
        </p:nvSpPr>
        <p:spPr>
          <a:xfrm flipH="1">
            <a:off x="-557396" y="6102589"/>
            <a:ext cx="962425" cy="951305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02" name="10"/>
          <p:cNvSpPr/>
          <p:nvPr/>
        </p:nvSpPr>
        <p:spPr>
          <a:xfrm flipH="1">
            <a:off x="343522" y="7348918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grpId="7" nodeType="afterEffect">
                                  <p:stCondLst>
                                    <p:cond delay="2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32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32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35" presetClass="emph" presetSubtype="0" repeatCount="3000" fill="hold" grpId="8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25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900"/>
                            </p:stCondLst>
                            <p:childTnLst>
                              <p:par>
                                <p:cTn id="41" presetID="23" presetClass="entr" presetSubtype="16" fill="hold" grpId="9" nodeType="afterEffect">
                                  <p:stCondLst>
                                    <p:cond delay="3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99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99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66"/>
                            </p:stCondLst>
                            <p:childTnLst>
                              <p:par>
                                <p:cTn id="46" presetID="35" presetClass="emph" presetSubtype="0" repeatCount="3000" fill="hold" grpId="10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2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316"/>
                            </p:stCondLst>
                            <p:childTnLst>
                              <p:par>
                                <p:cTn id="49" presetID="23" presetClass="entr" presetSubtype="16" fill="hold" grpId="11" nodeType="afterEffect">
                                  <p:stCondLst>
                                    <p:cond delay="353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7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7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989"/>
                            </p:stCondLst>
                            <p:childTnLst>
                              <p:par>
                                <p:cTn id="54" presetID="35" presetClass="emph" presetSubtype="0" repeatCount="3000" fill="hold" grpId="12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25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39"/>
                            </p:stCondLst>
                            <p:childTnLst>
                              <p:par>
                                <p:cTn id="57" presetID="23" presetClass="entr" presetSubtype="16" fill="hold" grpId="13" nodeType="afterEffect">
                                  <p:stCondLst>
                                    <p:cond delay="32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997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97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306"/>
                            </p:stCondLst>
                            <p:childTnLst>
                              <p:par>
                                <p:cTn id="62" presetID="35" presetClass="emph" presetSubtype="0" repeatCount="3000" fill="hold" grpId="14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25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56"/>
                            </p:stCondLst>
                            <p:childTnLst>
                              <p:par>
                                <p:cTn id="65" presetID="23" presetClass="entr" presetSubtype="16" fill="hold" grpId="15" nodeType="afterEffect">
                                  <p:stCondLst>
                                    <p:cond delay="57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4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4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230"/>
                            </p:stCondLst>
                            <p:childTnLst>
                              <p:par>
                                <p:cTn id="70" presetID="35" presetClass="emph" presetSubtype="0" repeatCount="3000" fill="hold" grpId="16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1" dur="2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480"/>
                            </p:stCondLst>
                            <p:childTnLst>
                              <p:par>
                                <p:cTn id="73" presetID="23" presetClass="entr" presetSubtype="16" fill="hold" grpId="17" nodeType="afterEffect">
                                  <p:stCondLst>
                                    <p:cond delay="592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6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6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382"/>
                            </p:stCondLst>
                            <p:childTnLst>
                              <p:par>
                                <p:cTn id="78" presetID="35" presetClass="emph" presetSubtype="0" repeatCount="3000" fill="hold" grpId="18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25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382"/>
                            </p:stCondLst>
                            <p:childTnLst>
                              <p:par>
                                <p:cTn id="81" presetID="23" presetClass="entr" presetSubtype="16" fill="hold" grpId="19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914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14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46"/>
                            </p:stCondLst>
                            <p:childTnLst>
                              <p:par>
                                <p:cTn id="86" presetID="35" presetClass="emph" presetSubtype="0" repeatCount="3000" fill="hold" grpId="2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25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46"/>
                            </p:stCondLst>
                            <p:childTnLst>
                              <p:par>
                                <p:cTn id="89" presetID="23" presetClass="entr" presetSubtype="16" fill="hold" grpId="21" nodeType="afterEffect">
                                  <p:stCondLst>
                                    <p:cond delay="36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indefinite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9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91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248"/>
                            </p:stCondLst>
                            <p:childTnLst>
                              <p:par>
                                <p:cTn id="94" presetID="35" presetClass="emph" presetSubtype="0" repeatCount="3000" fill="hold" grpId="22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7748"/>
                            </p:stCondLst>
                            <p:childTnLst>
                              <p:par>
                                <p:cTn id="97" presetID="23" presetClass="entr" presetSubtype="16" fill="hold" grpId="23" nodeType="afterEffect">
                                  <p:stCondLst>
                                    <p:cond delay="31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2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029"/>
                            </p:stCondLst>
                            <p:childTnLst>
                              <p:par>
                                <p:cTn id="102" presetID="35" presetClass="emph" presetSubtype="0" repeatCount="3000" fill="hold" grpId="24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25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529"/>
                            </p:stCondLst>
                            <p:childTnLst>
                              <p:par>
                                <p:cTn id="105" presetID="23" presetClass="entr" presetSubtype="16" fill="hold" grpId="25" nodeType="afterEffect">
                                  <p:stCondLst>
                                    <p:cond delay="265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43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43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387"/>
                            </p:stCondLst>
                            <p:childTnLst>
                              <p:par>
                                <p:cTn id="110" presetID="35" presetClass="emph" presetSubtype="0" repeatCount="3000" fill="hold" grpId="26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25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2387"/>
                            </p:stCondLst>
                            <p:childTnLst>
                              <p:par>
                                <p:cTn id="113" presetID="23" presetClass="entr" presetSubtype="16" fill="hold" grpId="27" nodeType="afterEffect">
                                  <p:stCondLst>
                                    <p:cond delay="45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7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7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3871"/>
                            </p:stCondLst>
                            <p:childTnLst>
                              <p:par>
                                <p:cTn id="118" presetID="35" presetClass="emph" presetSubtype="0" repeatCount="3000" fill="hold" grpId="28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25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621"/>
                            </p:stCondLst>
                            <p:childTnLst>
                              <p:par>
                                <p:cTn id="121" presetID="23" presetClass="entr" presetSubtype="16" fill="hold" grpId="29" nodeType="afterEffect">
                                  <p:stCondLst>
                                    <p:cond delay="364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dur="indefinite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675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75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6910"/>
                            </p:stCondLst>
                            <p:childTnLst>
                              <p:par>
                                <p:cTn id="126" presetID="35" presetClass="emph" presetSubtype="0" repeatCount="3000" fill="hold" grpId="3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25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3" animBg="1" advAuto="0"/>
      <p:bldP spid="193" grpId="19" animBg="1" advAuto="0"/>
      <p:bldP spid="193" grpId="20" animBg="1" advAuto="0"/>
      <p:bldP spid="199" grpId="13" animBg="1" advAuto="0"/>
      <p:bldP spid="199" grpId="14" animBg="1" advAuto="0"/>
      <p:bldP spid="198" grpId="17" animBg="1" advAuto="0"/>
      <p:bldP spid="198" grpId="18" animBg="1" advAuto="0"/>
      <p:bldP spid="183" grpId="1" animBg="1" advAuto="0"/>
      <p:bldP spid="197" grpId="15" animBg="1" advAuto="0"/>
      <p:bldP spid="197" grpId="16" animBg="1" advAuto="0"/>
      <p:bldP spid="191" grpId="23" animBg="1" advAuto="0"/>
      <p:bldP spid="192" grpId="21" animBg="1" advAuto="0"/>
      <p:bldP spid="192" grpId="22" animBg="1" advAuto="0"/>
      <p:bldP spid="191" grpId="24" animBg="1" advAuto="0"/>
      <p:bldP spid="196" grpId="27" animBg="1" advAuto="0"/>
      <p:bldP spid="196" grpId="28" animBg="1" advAuto="0"/>
      <p:bldP spid="195" grpId="29" animBg="1" advAuto="0"/>
      <p:bldP spid="195" grpId="30" animBg="1" advAuto="0"/>
      <p:bldP spid="202" grpId="9" animBg="1" advAuto="0"/>
      <p:bldP spid="202" grpId="10" animBg="1" advAuto="0"/>
      <p:bldP spid="189" grpId="5" animBg="1" advAuto="0"/>
      <p:bldP spid="201" grpId="7" animBg="1" advAuto="0"/>
      <p:bldP spid="185" grpId="4" animBg="1" advAuto="0"/>
      <p:bldP spid="201" grpId="8" animBg="1" advAuto="0"/>
      <p:bldP spid="200" grpId="11" animBg="1" advAuto="0"/>
      <p:bldP spid="200" grpId="12" animBg="1" advAuto="0"/>
      <p:bldP spid="190" grpId="6" animBg="1" advAuto="0"/>
      <p:bldP spid="194" grpId="25" animBg="1" advAuto="0"/>
      <p:bldP spid="188" grpId="2" animBg="1" advAuto="0"/>
      <p:bldP spid="194" grpId="26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Box 33"/>
          <p:cNvSpPr txBox="1"/>
          <p:nvPr/>
        </p:nvSpPr>
        <p:spPr>
          <a:xfrm>
            <a:off x="1230608" y="171550"/>
            <a:ext cx="37477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数据基础与类别不平衡处理</a:t>
            </a:r>
            <a:endParaRPr lang="en-US" dirty="0"/>
          </a:p>
          <a:p/>
        </p:txBody>
      </p:sp>
      <p:sp>
        <p:nvSpPr>
          <p:cNvPr id="205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06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985520" y="734695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Data Engineering Pipeline &amp; Imbalanced Data Handling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61533"/>
            <a:ext cx="5609167" cy="4961467"/>
          </a:xfrm>
          <a:custGeom>
            <a:avLst/>
            <a:gdLst/>
            <a:ahLst/>
            <a:cxnLst/>
            <a:rect l="l" t="t" r="r" b="b"/>
            <a:pathLst>
              <a:path w="5609167" h="4961467">
                <a:moveTo>
                  <a:pt x="114312" y="0"/>
                </a:moveTo>
                <a:lnTo>
                  <a:pt x="5494854" y="0"/>
                </a:lnTo>
                <a:cubicBezTo>
                  <a:pt x="5557987" y="0"/>
                  <a:pt x="5609167" y="51179"/>
                  <a:pt x="5609167" y="114312"/>
                </a:cubicBezTo>
                <a:lnTo>
                  <a:pt x="5609167" y="4847154"/>
                </a:lnTo>
                <a:cubicBezTo>
                  <a:pt x="5609167" y="4910287"/>
                  <a:pt x="5557987" y="4961467"/>
                  <a:pt x="5494854" y="4961467"/>
                </a:cubicBezTo>
                <a:lnTo>
                  <a:pt x="114312" y="4961467"/>
                </a:lnTo>
                <a:cubicBezTo>
                  <a:pt x="51179" y="4961467"/>
                  <a:pt x="0" y="4910287"/>
                  <a:pt x="0" y="4847154"/>
                </a:cubicBezTo>
                <a:lnTo>
                  <a:pt x="0" y="114312"/>
                </a:lnTo>
                <a:cubicBezTo>
                  <a:pt x="0" y="51222"/>
                  <a:pt x="51222" y="0"/>
                  <a:pt x="114312" y="0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5000"/>
                  <a:lumOff val="75000"/>
                </a:schemeClr>
              </a:gs>
              <a:gs pos="100000">
                <a:schemeClr val="tx1">
                  <a:lumMod val="85000"/>
                  <a:alpha val="20000"/>
                </a:schemeClr>
              </a:gs>
            </a:gsLst>
            <a:lin ang="54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4335" y="1268730"/>
            <a:ext cx="5600065" cy="266700"/>
          </a:xfrm>
          <a:prstGeom prst="rect">
            <a:avLst/>
          </a:prstGeom>
          <a:solidFill>
            <a:schemeClr val="tx1"/>
          </a:solidFill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数据处理流程</a:t>
            </a:r>
            <a:endParaRPr lang="en-US" sz="1500" b="1" dirty="0">
              <a:solidFill>
                <a:srgbClr val="E0E0E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95483" y="1261533"/>
            <a:ext cx="5609167" cy="1227667"/>
          </a:xfrm>
          <a:custGeom>
            <a:avLst/>
            <a:gdLst/>
            <a:ahLst/>
            <a:cxnLst/>
            <a:rect l="l" t="t" r="r" b="b"/>
            <a:pathLst>
              <a:path w="5609167" h="1227667">
                <a:moveTo>
                  <a:pt x="114296" y="0"/>
                </a:moveTo>
                <a:lnTo>
                  <a:pt x="5494871" y="0"/>
                </a:lnTo>
                <a:cubicBezTo>
                  <a:pt x="5557995" y="0"/>
                  <a:pt x="5609167" y="51172"/>
                  <a:pt x="5609167" y="114296"/>
                </a:cubicBezTo>
                <a:lnTo>
                  <a:pt x="5609167" y="1113371"/>
                </a:lnTo>
                <a:cubicBezTo>
                  <a:pt x="5609167" y="1176495"/>
                  <a:pt x="5557995" y="1227667"/>
                  <a:pt x="5494871" y="1227667"/>
                </a:cubicBezTo>
                <a:lnTo>
                  <a:pt x="114296" y="1227667"/>
                </a:lnTo>
                <a:cubicBezTo>
                  <a:pt x="51172" y="1227667"/>
                  <a:pt x="0" y="1176495"/>
                  <a:pt x="0" y="1113371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chemeClr val="tx1">
              <a:lumMod val="20000"/>
              <a:lumOff val="80000"/>
            </a:scheme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95483" y="2650067"/>
            <a:ext cx="5609167" cy="1532467"/>
          </a:xfrm>
          <a:custGeom>
            <a:avLst/>
            <a:gdLst/>
            <a:ahLst/>
            <a:cxnLst/>
            <a:rect l="l" t="t" r="r" b="b"/>
            <a:pathLst>
              <a:path w="5609167" h="1532467">
                <a:moveTo>
                  <a:pt x="114307" y="0"/>
                </a:moveTo>
                <a:lnTo>
                  <a:pt x="5494860" y="0"/>
                </a:lnTo>
                <a:cubicBezTo>
                  <a:pt x="5557990" y="0"/>
                  <a:pt x="5609167" y="51177"/>
                  <a:pt x="5609167" y="114307"/>
                </a:cubicBezTo>
                <a:lnTo>
                  <a:pt x="5609167" y="1418160"/>
                </a:lnTo>
                <a:cubicBezTo>
                  <a:pt x="5609167" y="1481290"/>
                  <a:pt x="5557990" y="1532467"/>
                  <a:pt x="5494860" y="1532467"/>
                </a:cubicBezTo>
                <a:lnTo>
                  <a:pt x="114307" y="1532467"/>
                </a:lnTo>
                <a:cubicBezTo>
                  <a:pt x="51219" y="1532467"/>
                  <a:pt x="0" y="1481248"/>
                  <a:pt x="0" y="1418160"/>
                </a:cubicBezTo>
                <a:lnTo>
                  <a:pt x="0" y="114307"/>
                </a:lnTo>
                <a:cubicBezTo>
                  <a:pt x="0" y="51177"/>
                  <a:pt x="51177" y="0"/>
                  <a:pt x="114307" y="0"/>
                </a:cubicBezTo>
                <a:close/>
              </a:path>
            </a:pathLst>
          </a:custGeom>
          <a:solidFill>
            <a:schemeClr val="tx1">
              <a:lumMod val="60000"/>
              <a:lumOff val="40000"/>
            </a:schemeClr>
          </a:soli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95483" y="4343400"/>
            <a:ext cx="5609167" cy="1884892"/>
          </a:xfrm>
          <a:custGeom>
            <a:avLst/>
            <a:gdLst/>
            <a:ahLst/>
            <a:cxnLst/>
            <a:rect l="l" t="t" r="r" b="b"/>
            <a:pathLst>
              <a:path w="5609167" h="1884892">
                <a:moveTo>
                  <a:pt x="114300" y="0"/>
                </a:moveTo>
                <a:lnTo>
                  <a:pt x="5494867" y="0"/>
                </a:lnTo>
                <a:cubicBezTo>
                  <a:pt x="5557993" y="0"/>
                  <a:pt x="5609167" y="51174"/>
                  <a:pt x="5609167" y="114300"/>
                </a:cubicBezTo>
                <a:lnTo>
                  <a:pt x="5609167" y="1770592"/>
                </a:lnTo>
                <a:cubicBezTo>
                  <a:pt x="5609167" y="1833718"/>
                  <a:pt x="5557993" y="1884892"/>
                  <a:pt x="5494867" y="1884892"/>
                </a:cubicBezTo>
                <a:lnTo>
                  <a:pt x="114300" y="1884892"/>
                </a:lnTo>
                <a:cubicBezTo>
                  <a:pt x="51174" y="1884892"/>
                  <a:pt x="0" y="1833718"/>
                  <a:pt x="0" y="1770592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</a:scheme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7836" y="1456267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</p:sp>
      <p:sp>
        <p:nvSpPr>
          <p:cNvPr id="12" name="Text 9"/>
          <p:cNvSpPr/>
          <p:nvPr/>
        </p:nvSpPr>
        <p:spPr>
          <a:xfrm>
            <a:off x="6666442" y="1418167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原始数据规模</a:t>
            </a:r>
            <a:endParaRPr lang="en-US" sz="1350" b="1" dirty="0">
              <a:solidFill>
                <a:schemeClr val="tx2">
                  <a:lumMod val="60000"/>
                  <a:lumOff val="40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0679" y="1761067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11.89M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318779" y="2142067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行为记录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084741" y="1761067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9,996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122841" y="2142067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888868" y="1761067"/>
            <a:ext cx="1828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577K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926968" y="2142067"/>
            <a:ext cx="1752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375929" y="2844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</p:sp>
      <p:sp>
        <p:nvSpPr>
          <p:cNvPr id="21" name="Text 18"/>
          <p:cNvSpPr/>
          <p:nvPr/>
        </p:nvSpPr>
        <p:spPr>
          <a:xfrm>
            <a:off x="6666442" y="2806700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极端不平衡问题</a:t>
            </a:r>
            <a:endParaRPr lang="en-US" sz="1350" b="1" dirty="0">
              <a:solidFill>
                <a:schemeClr val="tx2">
                  <a:lumMod val="60000"/>
                  <a:lumOff val="40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352117" y="316865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正样本（购买）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51905" y="3397250"/>
            <a:ext cx="146494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114,168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71638" y="3149600"/>
            <a:ext cx="981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正样本率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278745" y="3378200"/>
            <a:ext cx="137414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0.91%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52117" y="3801533"/>
            <a:ext cx="1066932" cy="254000"/>
          </a:xfrm>
          <a:prstGeom prst="rect">
            <a:avLst/>
          </a:prstGeom>
          <a:noFill/>
        </p:spPr>
        <p:txBody>
          <a:bodyPr wrap="square" lIns="76200" tIns="38100" rIns="762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正负比例 1:110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52117" y="453813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</p:spPr>
      </p:sp>
      <p:sp>
        <p:nvSpPr>
          <p:cNvPr id="30" name="Text 27"/>
          <p:cNvSpPr/>
          <p:nvPr/>
        </p:nvSpPr>
        <p:spPr>
          <a:xfrm>
            <a:off x="6666442" y="4500033"/>
            <a:ext cx="1285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35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动态负采样策略</a:t>
            </a:r>
            <a:endParaRPr lang="en-US" sz="1350" b="1" dirty="0">
              <a:solidFill>
                <a:schemeClr val="tx2">
                  <a:lumMod val="60000"/>
                  <a:lumOff val="40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352117" y="4842933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保留全部正样本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084455" y="4842933"/>
            <a:ext cx="6286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114,168条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52117" y="5109633"/>
            <a:ext cx="8953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1:3比例负采样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1081927" y="5109633"/>
            <a:ext cx="704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342,504条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352117" y="549903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最终样本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733405" y="5461000"/>
            <a:ext cx="96647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411,232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352117" y="5841934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正样本率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278658" y="5803834"/>
            <a:ext cx="4667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25%</a:t>
            </a:r>
            <a:endParaRPr lang="en-US" sz="1600" dirty="0"/>
          </a:p>
        </p:txBody>
      </p:sp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833120" y="1268730"/>
            <a:ext cx="4505325" cy="525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2" animBg="1" advAuto="0"/>
      <p:bldP spid="205" grpId="1" animBg="1" advAuto="0"/>
      <p:bldP spid="204" grpId="3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33"/>
          <p:cNvSpPr txBox="1"/>
          <p:nvPr/>
        </p:nvSpPr>
        <p:spPr>
          <a:xfrm>
            <a:off x="1230608" y="171550"/>
            <a:ext cx="471424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40维多域特征体系与时间窗口设计</a:t>
            </a:r>
            <a:endParaRPr lang="en-US" dirty="0"/>
          </a:p>
          <a:p/>
        </p:txBody>
      </p:sp>
      <p:sp>
        <p:nvSpPr>
          <p:cNvPr id="231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32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1230630" y="734695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Multi-Domain Feature Engineering &amp; Temporal Window Strategy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261533"/>
            <a:ext cx="3332692" cy="1380067"/>
          </a:xfrm>
          <a:custGeom>
            <a:avLst/>
            <a:gdLst/>
            <a:ahLst/>
            <a:cxnLst/>
            <a:rect l="l" t="t" r="r" b="b"/>
            <a:pathLst>
              <a:path w="3332692" h="1380067">
                <a:moveTo>
                  <a:pt x="114297" y="0"/>
                </a:moveTo>
                <a:lnTo>
                  <a:pt x="3218395" y="0"/>
                </a:lnTo>
                <a:cubicBezTo>
                  <a:pt x="3281519" y="0"/>
                  <a:pt x="3332692" y="51173"/>
                  <a:pt x="3332692" y="114297"/>
                </a:cubicBezTo>
                <a:lnTo>
                  <a:pt x="3332692" y="1265770"/>
                </a:lnTo>
                <a:cubicBezTo>
                  <a:pt x="3332692" y="1328894"/>
                  <a:pt x="3281519" y="1380067"/>
                  <a:pt x="3218395" y="1380067"/>
                </a:cubicBezTo>
                <a:lnTo>
                  <a:pt x="114297" y="1380067"/>
                </a:lnTo>
                <a:cubicBezTo>
                  <a:pt x="51173" y="1380067"/>
                  <a:pt x="0" y="1328894"/>
                  <a:pt x="0" y="12657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3840890" y="1261533"/>
            <a:ext cx="3332692" cy="1380067"/>
          </a:xfrm>
          <a:custGeom>
            <a:avLst/>
            <a:gdLst/>
            <a:ahLst/>
            <a:cxnLst/>
            <a:rect l="l" t="t" r="r" b="b"/>
            <a:pathLst>
              <a:path w="3332692" h="1380067">
                <a:moveTo>
                  <a:pt x="114297" y="0"/>
                </a:moveTo>
                <a:lnTo>
                  <a:pt x="3218395" y="0"/>
                </a:lnTo>
                <a:cubicBezTo>
                  <a:pt x="3281519" y="0"/>
                  <a:pt x="3332692" y="51173"/>
                  <a:pt x="3332692" y="114297"/>
                </a:cubicBezTo>
                <a:lnTo>
                  <a:pt x="3332692" y="1265770"/>
                </a:lnTo>
                <a:cubicBezTo>
                  <a:pt x="3332692" y="1328894"/>
                  <a:pt x="3281519" y="1380067"/>
                  <a:pt x="3218395" y="1380067"/>
                </a:cubicBezTo>
                <a:lnTo>
                  <a:pt x="114297" y="1380067"/>
                </a:lnTo>
                <a:cubicBezTo>
                  <a:pt x="51173" y="1380067"/>
                  <a:pt x="0" y="1328894"/>
                  <a:pt x="0" y="12657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5233" y="2764367"/>
            <a:ext cx="3332692" cy="1380067"/>
          </a:xfrm>
          <a:custGeom>
            <a:avLst/>
            <a:gdLst/>
            <a:ahLst/>
            <a:cxnLst/>
            <a:rect l="l" t="t" r="r" b="b"/>
            <a:pathLst>
              <a:path w="3332692" h="1380067">
                <a:moveTo>
                  <a:pt x="114297" y="0"/>
                </a:moveTo>
                <a:lnTo>
                  <a:pt x="3218395" y="0"/>
                </a:lnTo>
                <a:cubicBezTo>
                  <a:pt x="3281519" y="0"/>
                  <a:pt x="3332692" y="51173"/>
                  <a:pt x="3332692" y="114297"/>
                </a:cubicBezTo>
                <a:lnTo>
                  <a:pt x="3332692" y="1265770"/>
                </a:lnTo>
                <a:cubicBezTo>
                  <a:pt x="3332692" y="1328894"/>
                  <a:pt x="3281519" y="1380067"/>
                  <a:pt x="3218395" y="1380067"/>
                </a:cubicBezTo>
                <a:lnTo>
                  <a:pt x="114297" y="1380067"/>
                </a:lnTo>
                <a:cubicBezTo>
                  <a:pt x="51173" y="1380067"/>
                  <a:pt x="0" y="1328894"/>
                  <a:pt x="0" y="12657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890" y="2764367"/>
            <a:ext cx="3332692" cy="1380067"/>
          </a:xfrm>
          <a:custGeom>
            <a:avLst/>
            <a:gdLst/>
            <a:ahLst/>
            <a:cxnLst/>
            <a:rect l="l" t="t" r="r" b="b"/>
            <a:pathLst>
              <a:path w="3332692" h="1380067">
                <a:moveTo>
                  <a:pt x="114297" y="0"/>
                </a:moveTo>
                <a:lnTo>
                  <a:pt x="3218395" y="0"/>
                </a:lnTo>
                <a:cubicBezTo>
                  <a:pt x="3281519" y="0"/>
                  <a:pt x="3332692" y="51173"/>
                  <a:pt x="3332692" y="114297"/>
                </a:cubicBezTo>
                <a:lnTo>
                  <a:pt x="3332692" y="1265770"/>
                </a:lnTo>
                <a:cubicBezTo>
                  <a:pt x="3332692" y="1328894"/>
                  <a:pt x="3281519" y="1380067"/>
                  <a:pt x="3218395" y="1380067"/>
                </a:cubicBezTo>
                <a:lnTo>
                  <a:pt x="114297" y="1380067"/>
                </a:lnTo>
                <a:cubicBezTo>
                  <a:pt x="51173" y="1380067"/>
                  <a:pt x="0" y="1328894"/>
                  <a:pt x="0" y="1265770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5233" y="4267200"/>
            <a:ext cx="6790267" cy="1418167"/>
          </a:xfrm>
          <a:custGeom>
            <a:avLst/>
            <a:gdLst/>
            <a:ahLst/>
            <a:cxnLst/>
            <a:rect l="l" t="t" r="r" b="b"/>
            <a:pathLst>
              <a:path w="6790267" h="1418167">
                <a:moveTo>
                  <a:pt x="114304" y="0"/>
                </a:moveTo>
                <a:lnTo>
                  <a:pt x="6675962" y="0"/>
                </a:lnTo>
                <a:cubicBezTo>
                  <a:pt x="6739091" y="0"/>
                  <a:pt x="6790267" y="51176"/>
                  <a:pt x="6790267" y="114304"/>
                </a:cubicBezTo>
                <a:lnTo>
                  <a:pt x="6790267" y="1303862"/>
                </a:lnTo>
                <a:cubicBezTo>
                  <a:pt x="6790267" y="1366991"/>
                  <a:pt x="6739091" y="1418167"/>
                  <a:pt x="6675962" y="1418167"/>
                </a:cubicBezTo>
                <a:lnTo>
                  <a:pt x="114304" y="1418167"/>
                </a:lnTo>
                <a:cubicBezTo>
                  <a:pt x="51176" y="1418167"/>
                  <a:pt x="0" y="1366991"/>
                  <a:pt x="0" y="1303862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34647" y="1261533"/>
            <a:ext cx="4475692" cy="4942417"/>
          </a:xfrm>
          <a:custGeom>
            <a:avLst/>
            <a:gdLst/>
            <a:ahLst/>
            <a:cxnLst/>
            <a:rect l="l" t="t" r="r" b="b"/>
            <a:pathLst>
              <a:path w="4475692" h="4942417">
                <a:moveTo>
                  <a:pt x="114309" y="0"/>
                </a:moveTo>
                <a:lnTo>
                  <a:pt x="4361383" y="0"/>
                </a:lnTo>
                <a:cubicBezTo>
                  <a:pt x="4424514" y="0"/>
                  <a:pt x="4475692" y="51178"/>
                  <a:pt x="4475692" y="114309"/>
                </a:cubicBezTo>
                <a:lnTo>
                  <a:pt x="4475692" y="4828108"/>
                </a:lnTo>
                <a:cubicBezTo>
                  <a:pt x="4475692" y="4891239"/>
                  <a:pt x="4424514" y="4942417"/>
                  <a:pt x="4361383" y="4942417"/>
                </a:cubicBezTo>
                <a:lnTo>
                  <a:pt x="114309" y="4942417"/>
                </a:lnTo>
                <a:cubicBezTo>
                  <a:pt x="51178" y="4942417"/>
                  <a:pt x="0" y="4891239"/>
                  <a:pt x="0" y="4828108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chemeClr val="bg1"/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1867" y="14181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Shape 5"/>
          <p:cNvSpPr/>
          <p:nvPr/>
        </p:nvSpPr>
        <p:spPr>
          <a:xfrm>
            <a:off x="638307" y="150389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Text 6"/>
          <p:cNvSpPr/>
          <p:nvPr/>
        </p:nvSpPr>
        <p:spPr>
          <a:xfrm>
            <a:off x="922867" y="1437217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用户域</a:t>
            </a:r>
            <a:endParaRPr lang="en-US" sz="1350" b="1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192529" y="1418167"/>
            <a:ext cx="485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5217" y="1799167"/>
            <a:ext cx="1800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活跃度（1/3/7/14/21天滚动）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867" y="21134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3" name="Text 11"/>
          <p:cNvSpPr/>
          <p:nvPr/>
        </p:nvSpPr>
        <p:spPr>
          <a:xfrm>
            <a:off x="675217" y="2046817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购买频次统计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1867" y="23611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5" name="Text 13"/>
          <p:cNvSpPr/>
          <p:nvPr/>
        </p:nvSpPr>
        <p:spPr>
          <a:xfrm>
            <a:off x="675217" y="2294467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平均购买间隔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1867" y="18658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17" name="Shape 15"/>
          <p:cNvSpPr/>
          <p:nvPr/>
        </p:nvSpPr>
        <p:spPr>
          <a:xfrm>
            <a:off x="3997523" y="14181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18" name="Shape 16"/>
          <p:cNvSpPr/>
          <p:nvPr/>
        </p:nvSpPr>
        <p:spPr>
          <a:xfrm>
            <a:off x="4093964" y="1503892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96210" y="33337"/>
                </a:moveTo>
                <a:lnTo>
                  <a:pt x="87277" y="20836"/>
                </a:lnTo>
                <a:lnTo>
                  <a:pt x="29431" y="20836"/>
                </a:lnTo>
                <a:lnTo>
                  <a:pt x="20497" y="33337"/>
                </a:lnTo>
                <a:lnTo>
                  <a:pt x="96210" y="33337"/>
                </a:lnTo>
                <a:close/>
                <a:moveTo>
                  <a:pt x="0" y="38677"/>
                </a:moveTo>
                <a:cubicBezTo>
                  <a:pt x="0" y="35213"/>
                  <a:pt x="1094" y="31827"/>
                  <a:pt x="3099" y="28988"/>
                </a:cubicBezTo>
                <a:lnTo>
                  <a:pt x="15861" y="11147"/>
                </a:lnTo>
                <a:cubicBezTo>
                  <a:pt x="18987" y="6772"/>
                  <a:pt x="24039" y="4167"/>
                  <a:pt x="29405" y="4167"/>
                </a:cubicBezTo>
                <a:lnTo>
                  <a:pt x="87250" y="4167"/>
                </a:lnTo>
                <a:cubicBezTo>
                  <a:pt x="92642" y="4167"/>
                  <a:pt x="97695" y="6772"/>
                  <a:pt x="100820" y="11147"/>
                </a:cubicBezTo>
                <a:lnTo>
                  <a:pt x="113556" y="28988"/>
                </a:lnTo>
                <a:cubicBezTo>
                  <a:pt x="115587" y="31827"/>
                  <a:pt x="116655" y="35213"/>
                  <a:pt x="116655" y="38677"/>
                </a:cubicBezTo>
                <a:lnTo>
                  <a:pt x="116681" y="108347"/>
                </a:lnTo>
                <a:cubicBezTo>
                  <a:pt x="116681" y="117541"/>
                  <a:pt x="109206" y="125016"/>
                  <a:pt x="100013" y="125016"/>
                </a:cubicBezTo>
                <a:lnTo>
                  <a:pt x="16669" y="125016"/>
                </a:lnTo>
                <a:cubicBezTo>
                  <a:pt x="7475" y="125016"/>
                  <a:pt x="0" y="117541"/>
                  <a:pt x="0" y="108347"/>
                </a:cubicBezTo>
                <a:lnTo>
                  <a:pt x="0" y="3867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4378523" y="1437217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商品域</a:t>
            </a:r>
            <a:endParaRPr lang="en-US" sz="1350" b="1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648185" y="1418167"/>
            <a:ext cx="48577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8维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97523" y="18658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2" name="Text 20"/>
          <p:cNvSpPr/>
          <p:nvPr/>
        </p:nvSpPr>
        <p:spPr>
          <a:xfrm>
            <a:off x="4130873" y="1799167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加购转购率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97523" y="21134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4" name="Text 22"/>
          <p:cNvSpPr/>
          <p:nvPr/>
        </p:nvSpPr>
        <p:spPr>
          <a:xfrm>
            <a:off x="4130873" y="2046817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收藏转购率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97523" y="236114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6" name="Text 24"/>
          <p:cNvSpPr/>
          <p:nvPr/>
        </p:nvSpPr>
        <p:spPr>
          <a:xfrm>
            <a:off x="4130873" y="2294467"/>
            <a:ext cx="14382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独立访客数 &amp; 热门时段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1867" y="292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Shape 27"/>
          <p:cNvSpPr/>
          <p:nvPr/>
        </p:nvSpPr>
        <p:spPr>
          <a:xfrm>
            <a:off x="638307" y="30067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33337" y="10418"/>
                </a:moveTo>
                <a:cubicBezTo>
                  <a:pt x="33337" y="4662"/>
                  <a:pt x="38000" y="0"/>
                  <a:pt x="43755" y="0"/>
                </a:cubicBezTo>
                <a:cubicBezTo>
                  <a:pt x="49511" y="0"/>
                  <a:pt x="54173" y="4662"/>
                  <a:pt x="54173" y="10418"/>
                </a:cubicBezTo>
                <a:lnTo>
                  <a:pt x="54173" y="49017"/>
                </a:lnTo>
                <a:cubicBezTo>
                  <a:pt x="56387" y="47037"/>
                  <a:pt x="59304" y="45839"/>
                  <a:pt x="62508" y="45839"/>
                </a:cubicBezTo>
                <a:cubicBezTo>
                  <a:pt x="67873" y="45839"/>
                  <a:pt x="72457" y="49225"/>
                  <a:pt x="74228" y="53965"/>
                </a:cubicBezTo>
                <a:cubicBezTo>
                  <a:pt x="76520" y="51543"/>
                  <a:pt x="79750" y="50006"/>
                  <a:pt x="83344" y="50006"/>
                </a:cubicBezTo>
                <a:cubicBezTo>
                  <a:pt x="89933" y="50006"/>
                  <a:pt x="95324" y="55085"/>
                  <a:pt x="95819" y="61544"/>
                </a:cubicBezTo>
                <a:cubicBezTo>
                  <a:pt x="98033" y="59539"/>
                  <a:pt x="100976" y="58341"/>
                  <a:pt x="104180" y="58341"/>
                </a:cubicBezTo>
                <a:cubicBezTo>
                  <a:pt x="111082" y="58341"/>
                  <a:pt x="116681" y="63940"/>
                  <a:pt x="116681" y="70842"/>
                </a:cubicBezTo>
                <a:lnTo>
                  <a:pt x="116681" y="100013"/>
                </a:lnTo>
                <a:cubicBezTo>
                  <a:pt x="116681" y="118426"/>
                  <a:pt x="101758" y="133350"/>
                  <a:pt x="83344" y="133350"/>
                </a:cubicBezTo>
                <a:lnTo>
                  <a:pt x="61127" y="133350"/>
                </a:lnTo>
                <a:cubicBezTo>
                  <a:pt x="59825" y="133350"/>
                  <a:pt x="58549" y="133272"/>
                  <a:pt x="57299" y="133090"/>
                </a:cubicBezTo>
                <a:cubicBezTo>
                  <a:pt x="42896" y="131631"/>
                  <a:pt x="29639" y="124234"/>
                  <a:pt x="20836" y="112514"/>
                </a:cubicBezTo>
                <a:lnTo>
                  <a:pt x="2084" y="87511"/>
                </a:lnTo>
                <a:cubicBezTo>
                  <a:pt x="-1380" y="82901"/>
                  <a:pt x="-443" y="76390"/>
                  <a:pt x="4167" y="72926"/>
                </a:cubicBezTo>
                <a:cubicBezTo>
                  <a:pt x="8777" y="69462"/>
                  <a:pt x="15288" y="70399"/>
                  <a:pt x="18752" y="75009"/>
                </a:cubicBezTo>
                <a:lnTo>
                  <a:pt x="33337" y="94465"/>
                </a:lnTo>
                <a:lnTo>
                  <a:pt x="33337" y="10418"/>
                </a:lnTo>
                <a:close/>
                <a:moveTo>
                  <a:pt x="62508" y="79177"/>
                </a:moveTo>
                <a:cubicBezTo>
                  <a:pt x="62508" y="76885"/>
                  <a:pt x="60633" y="75009"/>
                  <a:pt x="58341" y="75009"/>
                </a:cubicBezTo>
                <a:cubicBezTo>
                  <a:pt x="56049" y="75009"/>
                  <a:pt x="54173" y="76885"/>
                  <a:pt x="54173" y="79177"/>
                </a:cubicBezTo>
                <a:lnTo>
                  <a:pt x="54173" y="104180"/>
                </a:lnTo>
                <a:cubicBezTo>
                  <a:pt x="54173" y="106472"/>
                  <a:pt x="56049" y="108347"/>
                  <a:pt x="58341" y="108347"/>
                </a:cubicBezTo>
                <a:cubicBezTo>
                  <a:pt x="60633" y="108347"/>
                  <a:pt x="62508" y="106472"/>
                  <a:pt x="62508" y="104180"/>
                </a:cubicBezTo>
                <a:lnTo>
                  <a:pt x="62508" y="79177"/>
                </a:lnTo>
                <a:close/>
                <a:moveTo>
                  <a:pt x="75009" y="75009"/>
                </a:moveTo>
                <a:cubicBezTo>
                  <a:pt x="72717" y="75009"/>
                  <a:pt x="70842" y="76885"/>
                  <a:pt x="70842" y="79177"/>
                </a:cubicBezTo>
                <a:lnTo>
                  <a:pt x="70842" y="104180"/>
                </a:lnTo>
                <a:cubicBezTo>
                  <a:pt x="70842" y="106472"/>
                  <a:pt x="72717" y="108347"/>
                  <a:pt x="75009" y="108347"/>
                </a:cubicBezTo>
                <a:cubicBezTo>
                  <a:pt x="77301" y="108347"/>
                  <a:pt x="79177" y="106472"/>
                  <a:pt x="79177" y="104180"/>
                </a:cubicBezTo>
                <a:lnTo>
                  <a:pt x="79177" y="79177"/>
                </a:lnTo>
                <a:cubicBezTo>
                  <a:pt x="79177" y="76885"/>
                  <a:pt x="77301" y="75009"/>
                  <a:pt x="75009" y="75009"/>
                </a:cubicBezTo>
                <a:close/>
                <a:moveTo>
                  <a:pt x="95845" y="79177"/>
                </a:moveTo>
                <a:cubicBezTo>
                  <a:pt x="95845" y="76885"/>
                  <a:pt x="93970" y="75009"/>
                  <a:pt x="91678" y="75009"/>
                </a:cubicBezTo>
                <a:cubicBezTo>
                  <a:pt x="89386" y="75009"/>
                  <a:pt x="87511" y="76885"/>
                  <a:pt x="87511" y="79177"/>
                </a:cubicBezTo>
                <a:lnTo>
                  <a:pt x="87511" y="104180"/>
                </a:lnTo>
                <a:cubicBezTo>
                  <a:pt x="87511" y="106472"/>
                  <a:pt x="89386" y="108347"/>
                  <a:pt x="91678" y="108347"/>
                </a:cubicBezTo>
                <a:cubicBezTo>
                  <a:pt x="93970" y="108347"/>
                  <a:pt x="95845" y="106472"/>
                  <a:pt x="95845" y="104180"/>
                </a:cubicBezTo>
                <a:lnTo>
                  <a:pt x="95845" y="7917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 28"/>
          <p:cNvSpPr/>
          <p:nvPr/>
        </p:nvSpPr>
        <p:spPr>
          <a:xfrm>
            <a:off x="922867" y="294005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交互域</a:t>
            </a:r>
            <a:endParaRPr lang="en-US" sz="1350" b="1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108590" y="2921000"/>
            <a:ext cx="571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D99A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41867" y="33686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3" name="Text 31"/>
          <p:cNvSpPr/>
          <p:nvPr/>
        </p:nvSpPr>
        <p:spPr>
          <a:xfrm>
            <a:off x="675217" y="3302000"/>
            <a:ext cx="1704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漏斗得分</a:t>
            </a: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（权重行为序列）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1867" y="3616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675217" y="3549650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关注强度</a:t>
            </a: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&amp; 时间衰减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1867" y="3863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Text 35"/>
          <p:cNvSpPr/>
          <p:nvPr/>
        </p:nvSpPr>
        <p:spPr>
          <a:xfrm>
            <a:off x="675217" y="3797300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近期行为集中度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997523" y="292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0" name="Shape 38"/>
          <p:cNvSpPr/>
          <p:nvPr/>
        </p:nvSpPr>
        <p:spPr>
          <a:xfrm>
            <a:off x="4077295" y="3006725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04492" y="10184"/>
                </a:moveTo>
                <a:lnTo>
                  <a:pt x="143091" y="49329"/>
                </a:lnTo>
                <a:cubicBezTo>
                  <a:pt x="150305" y="56648"/>
                  <a:pt x="150305" y="68368"/>
                  <a:pt x="143091" y="75687"/>
                </a:cubicBezTo>
                <a:lnTo>
                  <a:pt x="102357" y="116916"/>
                </a:lnTo>
                <a:cubicBezTo>
                  <a:pt x="99934" y="119364"/>
                  <a:pt x="95976" y="119390"/>
                  <a:pt x="93527" y="116968"/>
                </a:cubicBezTo>
                <a:cubicBezTo>
                  <a:pt x="91079" y="114546"/>
                  <a:pt x="91053" y="110587"/>
                  <a:pt x="93475" y="108139"/>
                </a:cubicBezTo>
                <a:lnTo>
                  <a:pt x="134209" y="66883"/>
                </a:lnTo>
                <a:cubicBezTo>
                  <a:pt x="136606" y="64461"/>
                  <a:pt x="136606" y="60528"/>
                  <a:pt x="134209" y="58106"/>
                </a:cubicBezTo>
                <a:lnTo>
                  <a:pt x="95585" y="18987"/>
                </a:lnTo>
                <a:cubicBezTo>
                  <a:pt x="93163" y="16539"/>
                  <a:pt x="93189" y="12580"/>
                  <a:pt x="95637" y="10158"/>
                </a:cubicBezTo>
                <a:cubicBezTo>
                  <a:pt x="98085" y="7735"/>
                  <a:pt x="102044" y="7761"/>
                  <a:pt x="104466" y="10210"/>
                </a:cubicBezTo>
                <a:close/>
                <a:moveTo>
                  <a:pt x="8360" y="59773"/>
                </a:moveTo>
                <a:lnTo>
                  <a:pt x="8360" y="25003"/>
                </a:lnTo>
                <a:cubicBezTo>
                  <a:pt x="8360" y="15809"/>
                  <a:pt x="15835" y="8334"/>
                  <a:pt x="25029" y="8334"/>
                </a:cubicBezTo>
                <a:lnTo>
                  <a:pt x="59799" y="8334"/>
                </a:lnTo>
                <a:cubicBezTo>
                  <a:pt x="64227" y="8334"/>
                  <a:pt x="68472" y="10079"/>
                  <a:pt x="71597" y="13205"/>
                </a:cubicBezTo>
                <a:lnTo>
                  <a:pt x="109102" y="50709"/>
                </a:lnTo>
                <a:cubicBezTo>
                  <a:pt x="115613" y="57221"/>
                  <a:pt x="115613" y="67769"/>
                  <a:pt x="109102" y="74280"/>
                </a:cubicBezTo>
                <a:lnTo>
                  <a:pt x="74332" y="109050"/>
                </a:lnTo>
                <a:cubicBezTo>
                  <a:pt x="67821" y="115561"/>
                  <a:pt x="57273" y="115561"/>
                  <a:pt x="50762" y="109050"/>
                </a:cubicBezTo>
                <a:lnTo>
                  <a:pt x="13257" y="71545"/>
                </a:lnTo>
                <a:cubicBezTo>
                  <a:pt x="10131" y="68420"/>
                  <a:pt x="8386" y="64175"/>
                  <a:pt x="8386" y="59747"/>
                </a:cubicBezTo>
                <a:close/>
                <a:moveTo>
                  <a:pt x="45865" y="37505"/>
                </a:moveTo>
                <a:cubicBezTo>
                  <a:pt x="45865" y="32905"/>
                  <a:pt x="42131" y="29170"/>
                  <a:pt x="37531" y="29170"/>
                </a:cubicBezTo>
                <a:cubicBezTo>
                  <a:pt x="32931" y="29170"/>
                  <a:pt x="29196" y="32905"/>
                  <a:pt x="29196" y="37505"/>
                </a:cubicBezTo>
                <a:cubicBezTo>
                  <a:pt x="29196" y="42105"/>
                  <a:pt x="32931" y="45839"/>
                  <a:pt x="37531" y="45839"/>
                </a:cubicBezTo>
                <a:cubicBezTo>
                  <a:pt x="42131" y="45839"/>
                  <a:pt x="45865" y="42105"/>
                  <a:pt x="45865" y="37505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4378523" y="294005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类目域</a:t>
            </a:r>
            <a:endParaRPr lang="en-US" sz="1350" b="1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671469" y="2921000"/>
            <a:ext cx="457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4A6C8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7维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97523" y="33686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4" name="Text 42"/>
          <p:cNvSpPr/>
          <p:nvPr/>
        </p:nvSpPr>
        <p:spPr>
          <a:xfrm>
            <a:off x="4130873" y="3306233"/>
            <a:ext cx="733425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类目转化率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997523" y="3616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6" name="Text 44"/>
          <p:cNvSpPr/>
          <p:nvPr/>
        </p:nvSpPr>
        <p:spPr>
          <a:xfrm>
            <a:off x="4130873" y="3549650"/>
            <a:ext cx="11906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用户-类目偏好匹配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997523" y="38639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28575" y="0"/>
                </a:moveTo>
                <a:lnTo>
                  <a:pt x="28575" y="0"/>
                </a:lnTo>
                <a:cubicBezTo>
                  <a:pt x="44346" y="0"/>
                  <a:pt x="57150" y="12804"/>
                  <a:pt x="57150" y="28575"/>
                </a:cubicBezTo>
                <a:lnTo>
                  <a:pt x="57150" y="28575"/>
                </a:lnTo>
                <a:cubicBezTo>
                  <a:pt x="57150" y="44346"/>
                  <a:pt x="44346" y="57150"/>
                  <a:pt x="2857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48" name="Text 46"/>
          <p:cNvSpPr/>
          <p:nvPr/>
        </p:nvSpPr>
        <p:spPr>
          <a:xfrm>
            <a:off x="4130873" y="3797300"/>
            <a:ext cx="8667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类目热度排名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65679" y="447145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1" name="Text 49"/>
          <p:cNvSpPr/>
          <p:nvPr/>
        </p:nvSpPr>
        <p:spPr>
          <a:xfrm>
            <a:off x="832379" y="4423833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时间窗口策略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1867" y="4766733"/>
            <a:ext cx="65436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多尺度滚动统计，捕捉短中长期行为模式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1867" y="5128617"/>
            <a:ext cx="4857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1天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32470" y="5128617"/>
            <a:ext cx="50482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3天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549069" y="5128617"/>
            <a:ext cx="495300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7天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2056342" y="5128617"/>
            <a:ext cx="561975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14天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2625064" y="5128617"/>
            <a:ext cx="552450" cy="304800"/>
          </a:xfrm>
          <a:prstGeom prst="rect">
            <a:avLst/>
          </a:prstGeom>
          <a:noFill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21天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417072" y="5033433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窗口数量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69447" y="5223933"/>
            <a:ext cx="647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5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491281" y="1418167"/>
            <a:ext cx="14287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chemeClr val="accent6">
                    <a:lumMod val="75000"/>
                    <a:lumOff val="2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特征重要性分布</a:t>
            </a:r>
            <a:endParaRPr lang="en-US" sz="1500" b="1" dirty="0">
              <a:solidFill>
                <a:schemeClr val="accent6">
                  <a:lumMod val="75000"/>
                  <a:lumOff val="2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7495514" y="5503400"/>
            <a:ext cx="1322917" cy="541867"/>
          </a:xfrm>
          <a:custGeom>
            <a:avLst/>
            <a:gdLst/>
            <a:ahLst/>
            <a:cxnLst/>
            <a:rect l="l" t="t" r="r" b="b"/>
            <a:pathLst>
              <a:path w="1322917" h="541867">
                <a:moveTo>
                  <a:pt x="76197" y="0"/>
                </a:moveTo>
                <a:lnTo>
                  <a:pt x="1246719" y="0"/>
                </a:lnTo>
                <a:cubicBezTo>
                  <a:pt x="1288802" y="0"/>
                  <a:pt x="1322917" y="34115"/>
                  <a:pt x="1322917" y="76197"/>
                </a:cubicBezTo>
                <a:lnTo>
                  <a:pt x="1322917" y="465669"/>
                </a:lnTo>
                <a:cubicBezTo>
                  <a:pt x="1322917" y="507752"/>
                  <a:pt x="1288802" y="541867"/>
                  <a:pt x="12467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547372" y="5583832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 1</a:t>
            </a:r>
            <a:endParaRPr lang="en-US" sz="9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7542609" y="5774267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漏斗得分</a:t>
            </a:r>
            <a:endParaRPr lang="en-US" sz="1600" dirty="0"/>
          </a:p>
        </p:txBody>
      </p:sp>
      <p:sp>
        <p:nvSpPr>
          <p:cNvPr id="73" name="Shape 70"/>
          <p:cNvSpPr/>
          <p:nvPr/>
        </p:nvSpPr>
        <p:spPr>
          <a:xfrm>
            <a:off x="8907198" y="5503400"/>
            <a:ext cx="1322917" cy="541867"/>
          </a:xfrm>
          <a:custGeom>
            <a:avLst/>
            <a:gdLst/>
            <a:ahLst/>
            <a:cxnLst/>
            <a:rect l="l" t="t" r="r" b="b"/>
            <a:pathLst>
              <a:path w="1322917" h="541867">
                <a:moveTo>
                  <a:pt x="76197" y="0"/>
                </a:moveTo>
                <a:lnTo>
                  <a:pt x="1246719" y="0"/>
                </a:lnTo>
                <a:cubicBezTo>
                  <a:pt x="1288802" y="0"/>
                  <a:pt x="1322917" y="34115"/>
                  <a:pt x="1322917" y="76197"/>
                </a:cubicBezTo>
                <a:lnTo>
                  <a:pt x="1322917" y="465669"/>
                </a:lnTo>
                <a:cubicBezTo>
                  <a:pt x="1322917" y="507752"/>
                  <a:pt x="1288802" y="541867"/>
                  <a:pt x="12467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959056" y="5583832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 2</a:t>
            </a:r>
            <a:endParaRPr lang="en-US" sz="9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8954294" y="5774267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4A6C8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类目转化率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10318883" y="5503400"/>
            <a:ext cx="1322917" cy="541867"/>
          </a:xfrm>
          <a:custGeom>
            <a:avLst/>
            <a:gdLst/>
            <a:ahLst/>
            <a:cxnLst/>
            <a:rect l="l" t="t" r="r" b="b"/>
            <a:pathLst>
              <a:path w="1322917" h="541867">
                <a:moveTo>
                  <a:pt x="76197" y="0"/>
                </a:moveTo>
                <a:lnTo>
                  <a:pt x="1246719" y="0"/>
                </a:lnTo>
                <a:cubicBezTo>
                  <a:pt x="1288802" y="0"/>
                  <a:pt x="1322917" y="34115"/>
                  <a:pt x="1322917" y="76197"/>
                </a:cubicBezTo>
                <a:lnTo>
                  <a:pt x="1322917" y="465669"/>
                </a:lnTo>
                <a:cubicBezTo>
                  <a:pt x="1322917" y="507752"/>
                  <a:pt x="1288802" y="541867"/>
                  <a:pt x="1246719" y="541867"/>
                </a:cubicBezTo>
                <a:lnTo>
                  <a:pt x="76197" y="541867"/>
                </a:lnTo>
                <a:cubicBezTo>
                  <a:pt x="34143" y="541867"/>
                  <a:pt x="0" y="507724"/>
                  <a:pt x="0" y="465669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370740" y="5583832"/>
            <a:ext cx="12192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 3</a:t>
            </a:r>
            <a:endParaRPr lang="en-US" sz="90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10365978" y="5774267"/>
            <a:ext cx="12287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关注强度</a:t>
            </a:r>
            <a:endParaRPr lang="en-US" sz="1600" dirty="0"/>
          </a:p>
        </p:txBody>
      </p:sp>
      <p:pic>
        <p:nvPicPr>
          <p:cNvPr id="69" name="Image 0" descr="https://kimi-img.moonshot.cn/pub/slides/26-04-02-14:00:41-d770c2edmauv1st1g8og.png"/>
          <p:cNvPicPr>
            <a:picLocks noChangeAspect="1"/>
          </p:cNvPicPr>
          <p:nvPr/>
        </p:nvPicPr>
        <p:blipFill>
          <a:blip r:embed="rId1"/>
          <a:srcRect t="13" b="13"/>
          <a:stretch>
            <a:fillRect/>
          </a:stretch>
        </p:blipFill>
        <p:spPr>
          <a:xfrm>
            <a:off x="7491281" y="1761067"/>
            <a:ext cx="4162425" cy="36576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1" animBg="1" advAuto="0"/>
      <p:bldP spid="232" grpId="2" animBg="1" advAuto="0"/>
      <p:bldP spid="230" grpId="3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33"/>
          <p:cNvSpPr txBox="1"/>
          <p:nvPr/>
        </p:nvSpPr>
        <p:spPr>
          <a:xfrm>
            <a:off x="1230608" y="171550"/>
            <a:ext cx="472440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可解释基线：Logistic Regression</a:t>
            </a:r>
            <a:endParaRPr>
              <a:sym typeface="+mn-ea"/>
            </a:endParaRPr>
          </a:p>
          <a:p/>
        </p:txBody>
      </p:sp>
      <p:sp>
        <p:nvSpPr>
          <p:cNvPr id="231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32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Interpretable Baseline Model for Feature Validation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185333"/>
            <a:ext cx="4475692" cy="1094317"/>
          </a:xfrm>
          <a:custGeom>
            <a:avLst/>
            <a:gdLst/>
            <a:ahLst/>
            <a:cxnLst/>
            <a:rect l="l" t="t" r="r" b="b"/>
            <a:pathLst>
              <a:path w="4475692" h="1094317">
                <a:moveTo>
                  <a:pt x="114301" y="0"/>
                </a:moveTo>
                <a:lnTo>
                  <a:pt x="4361390" y="0"/>
                </a:lnTo>
                <a:cubicBezTo>
                  <a:pt x="4424517" y="0"/>
                  <a:pt x="4475692" y="51174"/>
                  <a:pt x="4475692" y="114301"/>
                </a:cubicBezTo>
                <a:lnTo>
                  <a:pt x="4475692" y="980015"/>
                </a:lnTo>
                <a:cubicBezTo>
                  <a:pt x="4475692" y="1043100"/>
                  <a:pt x="4424475" y="1094317"/>
                  <a:pt x="4361390" y="1094317"/>
                </a:cubicBezTo>
                <a:lnTo>
                  <a:pt x="114301" y="1094317"/>
                </a:lnTo>
                <a:cubicBezTo>
                  <a:pt x="51174" y="1094317"/>
                  <a:pt x="0" y="1043142"/>
                  <a:pt x="0" y="980015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5679" y="138006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856192" y="134196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模型定位</a:t>
            </a:r>
            <a:endParaRPr lang="en-US" sz="135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1867" y="1684867"/>
            <a:ext cx="4229100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验证特征有效性，提供业务可解释性。作为基线模型，LR能够快速验证40维特征工程的质量，并为后续复杂模型提供性能下限参考。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5233" y="2397655"/>
            <a:ext cx="4475692" cy="2227792"/>
          </a:xfrm>
          <a:custGeom>
            <a:avLst/>
            <a:gdLst/>
            <a:ahLst/>
            <a:cxnLst/>
            <a:rect l="l" t="t" r="r" b="b"/>
            <a:pathLst>
              <a:path w="4475692" h="2227792">
                <a:moveTo>
                  <a:pt x="114308" y="0"/>
                </a:moveTo>
                <a:lnTo>
                  <a:pt x="4361384" y="0"/>
                </a:lnTo>
                <a:cubicBezTo>
                  <a:pt x="4424514" y="0"/>
                  <a:pt x="4475692" y="51177"/>
                  <a:pt x="4475692" y="114308"/>
                </a:cubicBezTo>
                <a:lnTo>
                  <a:pt x="4475692" y="2113484"/>
                </a:lnTo>
                <a:cubicBezTo>
                  <a:pt x="4475692" y="2176614"/>
                  <a:pt x="4424514" y="2227792"/>
                  <a:pt x="4361384" y="2227792"/>
                </a:cubicBezTo>
                <a:lnTo>
                  <a:pt x="114308" y="2227792"/>
                </a:lnTo>
                <a:cubicBezTo>
                  <a:pt x="51177" y="2227792"/>
                  <a:pt x="0" y="2176614"/>
                  <a:pt x="0" y="2113484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5679" y="2592387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2591" y="3535"/>
                </a:moveTo>
                <a:cubicBezTo>
                  <a:pt x="73707" y="-1972"/>
                  <a:pt x="78581" y="-5953"/>
                  <a:pt x="84237" y="-5953"/>
                </a:cubicBezTo>
                <a:lnTo>
                  <a:pt x="106487" y="-5953"/>
                </a:lnTo>
                <a:cubicBezTo>
                  <a:pt x="112142" y="-5953"/>
                  <a:pt x="117016" y="-1972"/>
                  <a:pt x="118132" y="3535"/>
                </a:cubicBezTo>
                <a:lnTo>
                  <a:pt x="123527" y="29580"/>
                </a:lnTo>
                <a:cubicBezTo>
                  <a:pt x="128774" y="31812"/>
                  <a:pt x="133685" y="34677"/>
                  <a:pt x="138150" y="38063"/>
                </a:cubicBezTo>
                <a:lnTo>
                  <a:pt x="163376" y="29691"/>
                </a:lnTo>
                <a:cubicBezTo>
                  <a:pt x="168734" y="27905"/>
                  <a:pt x="174613" y="30138"/>
                  <a:pt x="177440" y="35049"/>
                </a:cubicBezTo>
                <a:lnTo>
                  <a:pt x="188565" y="54322"/>
                </a:lnTo>
                <a:cubicBezTo>
                  <a:pt x="191393" y="59234"/>
                  <a:pt x="190388" y="65410"/>
                  <a:pt x="186147" y="69168"/>
                </a:cubicBezTo>
                <a:lnTo>
                  <a:pt x="166315" y="86804"/>
                </a:lnTo>
                <a:cubicBezTo>
                  <a:pt x="166650" y="89557"/>
                  <a:pt x="166799" y="92385"/>
                  <a:pt x="166799" y="95250"/>
                </a:cubicBezTo>
                <a:cubicBezTo>
                  <a:pt x="166799" y="98115"/>
                  <a:pt x="166613" y="100943"/>
                  <a:pt x="166315" y="103696"/>
                </a:cubicBezTo>
                <a:lnTo>
                  <a:pt x="186184" y="121369"/>
                </a:lnTo>
                <a:cubicBezTo>
                  <a:pt x="190426" y="125127"/>
                  <a:pt x="191393" y="131341"/>
                  <a:pt x="188602" y="136215"/>
                </a:cubicBezTo>
                <a:lnTo>
                  <a:pt x="177478" y="155488"/>
                </a:lnTo>
                <a:cubicBezTo>
                  <a:pt x="174650" y="160362"/>
                  <a:pt x="168771" y="162632"/>
                  <a:pt x="163413" y="160846"/>
                </a:cubicBezTo>
                <a:lnTo>
                  <a:pt x="138187" y="152474"/>
                </a:lnTo>
                <a:cubicBezTo>
                  <a:pt x="133685" y="155860"/>
                  <a:pt x="128774" y="158688"/>
                  <a:pt x="123565" y="160958"/>
                </a:cubicBezTo>
                <a:lnTo>
                  <a:pt x="118207" y="186965"/>
                </a:lnTo>
                <a:cubicBezTo>
                  <a:pt x="117053" y="192509"/>
                  <a:pt x="112179" y="196453"/>
                  <a:pt x="106561" y="196453"/>
                </a:cubicBezTo>
                <a:lnTo>
                  <a:pt x="84311" y="196453"/>
                </a:lnTo>
                <a:cubicBezTo>
                  <a:pt x="78656" y="196453"/>
                  <a:pt x="73782" y="192472"/>
                  <a:pt x="72665" y="186965"/>
                </a:cubicBezTo>
                <a:lnTo>
                  <a:pt x="67308" y="160958"/>
                </a:lnTo>
                <a:cubicBezTo>
                  <a:pt x="62061" y="158725"/>
                  <a:pt x="57187" y="155860"/>
                  <a:pt x="52685" y="152474"/>
                </a:cubicBezTo>
                <a:lnTo>
                  <a:pt x="27347" y="160846"/>
                </a:lnTo>
                <a:cubicBezTo>
                  <a:pt x="21989" y="162632"/>
                  <a:pt x="16111" y="160400"/>
                  <a:pt x="13283" y="155488"/>
                </a:cubicBezTo>
                <a:lnTo>
                  <a:pt x="2158" y="136215"/>
                </a:lnTo>
                <a:cubicBezTo>
                  <a:pt x="-670" y="131304"/>
                  <a:pt x="335" y="125127"/>
                  <a:pt x="4576" y="121369"/>
                </a:cubicBezTo>
                <a:lnTo>
                  <a:pt x="24445" y="103696"/>
                </a:lnTo>
                <a:cubicBezTo>
                  <a:pt x="24110" y="100943"/>
                  <a:pt x="23961" y="98115"/>
                  <a:pt x="23961" y="95250"/>
                </a:cubicBezTo>
                <a:cubicBezTo>
                  <a:pt x="23961" y="92385"/>
                  <a:pt x="24147" y="89557"/>
                  <a:pt x="24445" y="86804"/>
                </a:cubicBezTo>
                <a:lnTo>
                  <a:pt x="4576" y="69131"/>
                </a:lnTo>
                <a:cubicBezTo>
                  <a:pt x="335" y="65373"/>
                  <a:pt x="-633" y="59159"/>
                  <a:pt x="2158" y="54285"/>
                </a:cubicBezTo>
                <a:lnTo>
                  <a:pt x="13283" y="35012"/>
                </a:lnTo>
                <a:cubicBezTo>
                  <a:pt x="16111" y="30100"/>
                  <a:pt x="21989" y="27868"/>
                  <a:pt x="27347" y="29654"/>
                </a:cubicBezTo>
                <a:lnTo>
                  <a:pt x="52574" y="38026"/>
                </a:lnTo>
                <a:cubicBezTo>
                  <a:pt x="57076" y="34640"/>
                  <a:pt x="61987" y="31812"/>
                  <a:pt x="67196" y="29542"/>
                </a:cubicBezTo>
                <a:lnTo>
                  <a:pt x="72591" y="3535"/>
                </a:lnTo>
                <a:close/>
                <a:moveTo>
                  <a:pt x="95362" y="125016"/>
                </a:moveTo>
                <a:cubicBezTo>
                  <a:pt x="105996" y="124976"/>
                  <a:pt x="115801" y="119266"/>
                  <a:pt x="121084" y="110036"/>
                </a:cubicBezTo>
                <a:cubicBezTo>
                  <a:pt x="126366" y="100807"/>
                  <a:pt x="126324" y="89460"/>
                  <a:pt x="120972" y="80271"/>
                </a:cubicBezTo>
                <a:cubicBezTo>
                  <a:pt x="115620" y="71081"/>
                  <a:pt x="105773" y="65444"/>
                  <a:pt x="95138" y="65484"/>
                </a:cubicBezTo>
                <a:cubicBezTo>
                  <a:pt x="84504" y="65524"/>
                  <a:pt x="74699" y="71234"/>
                  <a:pt x="69416" y="80464"/>
                </a:cubicBezTo>
                <a:cubicBezTo>
                  <a:pt x="64134" y="89693"/>
                  <a:pt x="64176" y="101040"/>
                  <a:pt x="69528" y="110229"/>
                </a:cubicBezTo>
                <a:cubicBezTo>
                  <a:pt x="74880" y="119419"/>
                  <a:pt x="84727" y="125056"/>
                  <a:pt x="95362" y="125016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2" name="Text 9"/>
          <p:cNvSpPr/>
          <p:nvPr/>
        </p:nvSpPr>
        <p:spPr>
          <a:xfrm>
            <a:off x="856192" y="2554287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技术实现</a:t>
            </a:r>
            <a:endParaRPr lang="en-US" sz="135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" name="Text 11"/>
          <p:cNvSpPr/>
          <p:nvPr/>
        </p:nvSpPr>
        <p:spPr>
          <a:xfrm>
            <a:off x="633677" y="2954337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84767" y="2897187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</a:t>
            </a:r>
            <a:endParaRPr lang="en-US" sz="105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884767" y="3106737"/>
            <a:ext cx="1295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40维标准化静态特征</a:t>
            </a:r>
            <a:endParaRPr lang="en-US" sz="1600" dirty="0"/>
          </a:p>
        </p:txBody>
      </p:sp>
      <p:sp>
        <p:nvSpPr>
          <p:cNvPr id="28" name="Text 15"/>
          <p:cNvSpPr/>
          <p:nvPr/>
        </p:nvSpPr>
        <p:spPr>
          <a:xfrm>
            <a:off x="624020" y="3430587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16"/>
          <p:cNvSpPr/>
          <p:nvPr/>
        </p:nvSpPr>
        <p:spPr>
          <a:xfrm>
            <a:off x="884767" y="3373437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正则化</a:t>
            </a: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策略</a:t>
            </a:r>
            <a:endParaRPr lang="en-US" sz="1600" dirty="0"/>
          </a:p>
        </p:txBody>
      </p:sp>
      <p:sp>
        <p:nvSpPr>
          <p:cNvPr id="40" name="Text 17"/>
          <p:cNvSpPr/>
          <p:nvPr/>
        </p:nvSpPr>
        <p:spPr>
          <a:xfrm>
            <a:off x="884767" y="3582987"/>
            <a:ext cx="1762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L2正则（C=1.0）防止过拟合</a:t>
            </a:r>
            <a:endParaRPr lang="en-US" sz="1600" dirty="0"/>
          </a:p>
        </p:txBody>
      </p:sp>
      <p:sp>
        <p:nvSpPr>
          <p:cNvPr id="41" name="Text 19"/>
          <p:cNvSpPr/>
          <p:nvPr/>
        </p:nvSpPr>
        <p:spPr>
          <a:xfrm>
            <a:off x="622498" y="3906837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20"/>
          <p:cNvSpPr/>
          <p:nvPr/>
        </p:nvSpPr>
        <p:spPr>
          <a:xfrm>
            <a:off x="884767" y="3849687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优化算</a:t>
            </a:r>
            <a:r>
              <a:rPr lang="en-US" sz="10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法</a:t>
            </a:r>
            <a:endParaRPr lang="en-US" sz="1600" dirty="0"/>
          </a:p>
        </p:txBody>
      </p:sp>
      <p:sp>
        <p:nvSpPr>
          <p:cNvPr id="43" name="Text 21"/>
          <p:cNvSpPr/>
          <p:nvPr/>
        </p:nvSpPr>
        <p:spPr>
          <a:xfrm>
            <a:off x="884767" y="4059237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LBFGS求解器，快速收敛</a:t>
            </a:r>
            <a:endParaRPr lang="en-US" sz="1600" dirty="0"/>
          </a:p>
        </p:txBody>
      </p:sp>
      <p:sp>
        <p:nvSpPr>
          <p:cNvPr id="44" name="Shape 22"/>
          <p:cNvSpPr/>
          <p:nvPr/>
        </p:nvSpPr>
        <p:spPr>
          <a:xfrm>
            <a:off x="385233" y="4749799"/>
            <a:ext cx="4475692" cy="1570567"/>
          </a:xfrm>
          <a:custGeom>
            <a:avLst/>
            <a:gdLst/>
            <a:ahLst/>
            <a:cxnLst/>
            <a:rect l="l" t="t" r="r" b="b"/>
            <a:pathLst>
              <a:path w="4475692" h="1570567">
                <a:moveTo>
                  <a:pt x="114306" y="0"/>
                </a:moveTo>
                <a:lnTo>
                  <a:pt x="4361386" y="0"/>
                </a:lnTo>
                <a:cubicBezTo>
                  <a:pt x="4424515" y="0"/>
                  <a:pt x="4475692" y="51176"/>
                  <a:pt x="4475692" y="114306"/>
                </a:cubicBezTo>
                <a:lnTo>
                  <a:pt x="4475692" y="1456261"/>
                </a:lnTo>
                <a:cubicBezTo>
                  <a:pt x="4475692" y="1519390"/>
                  <a:pt x="4424515" y="1570567"/>
                  <a:pt x="4361386" y="1570567"/>
                </a:cubicBezTo>
                <a:lnTo>
                  <a:pt x="114306" y="1570567"/>
                </a:lnTo>
                <a:cubicBezTo>
                  <a:pt x="51176" y="1570567"/>
                  <a:pt x="0" y="1519390"/>
                  <a:pt x="0" y="1456261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45" name="Shape 23"/>
          <p:cNvSpPr/>
          <p:nvPr/>
        </p:nvSpPr>
        <p:spPr>
          <a:xfrm>
            <a:off x="565679" y="494453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6" name="Text 24"/>
          <p:cNvSpPr/>
          <p:nvPr/>
        </p:nvSpPr>
        <p:spPr>
          <a:xfrm>
            <a:off x="856192" y="4906433"/>
            <a:ext cx="771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性能表</a:t>
            </a: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</a:t>
            </a:r>
            <a:endParaRPr lang="en-US" sz="1600" dirty="0"/>
          </a:p>
        </p:txBody>
      </p:sp>
      <p:sp>
        <p:nvSpPr>
          <p:cNvPr id="47" name="Text 25"/>
          <p:cNvSpPr/>
          <p:nvPr/>
        </p:nvSpPr>
        <p:spPr>
          <a:xfrm>
            <a:off x="470429" y="5249333"/>
            <a:ext cx="2162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0.7917</a:t>
            </a:r>
            <a:endParaRPr lang="en-US" sz="1600" dirty="0"/>
          </a:p>
        </p:txBody>
      </p:sp>
      <p:sp>
        <p:nvSpPr>
          <p:cNvPr id="48" name="Text 26"/>
          <p:cNvSpPr/>
          <p:nvPr/>
        </p:nvSpPr>
        <p:spPr>
          <a:xfrm>
            <a:off x="508529" y="5630333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 AUC</a:t>
            </a:r>
            <a:endParaRPr lang="en-US" sz="1600" dirty="0"/>
          </a:p>
        </p:txBody>
      </p:sp>
      <p:sp>
        <p:nvSpPr>
          <p:cNvPr id="49" name="Text 27"/>
          <p:cNvSpPr/>
          <p:nvPr/>
        </p:nvSpPr>
        <p:spPr>
          <a:xfrm>
            <a:off x="2606940" y="5249333"/>
            <a:ext cx="216217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0.46%</a:t>
            </a:r>
            <a:endParaRPr lang="en-US" sz="1600" dirty="0"/>
          </a:p>
        </p:txBody>
      </p:sp>
      <p:sp>
        <p:nvSpPr>
          <p:cNvPr id="50" name="Text 28"/>
          <p:cNvSpPr/>
          <p:nvPr/>
        </p:nvSpPr>
        <p:spPr>
          <a:xfrm>
            <a:off x="2645040" y="5630333"/>
            <a:ext cx="20859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Train/Val Gap</a:t>
            </a:r>
            <a:endParaRPr lang="en-US" sz="1600" dirty="0"/>
          </a:p>
        </p:txBody>
      </p:sp>
      <p:sp>
        <p:nvSpPr>
          <p:cNvPr id="51" name="Text 30"/>
          <p:cNvSpPr/>
          <p:nvPr/>
        </p:nvSpPr>
        <p:spPr>
          <a:xfrm>
            <a:off x="2206890" y="5897033"/>
            <a:ext cx="8286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极致稳定</a:t>
            </a:r>
            <a:endParaRPr lang="en-US" sz="1600" dirty="0"/>
          </a:p>
        </p:txBody>
      </p:sp>
      <p:sp>
        <p:nvSpPr>
          <p:cNvPr id="52" name="Shape 31"/>
          <p:cNvSpPr/>
          <p:nvPr/>
        </p:nvSpPr>
        <p:spPr>
          <a:xfrm>
            <a:off x="5018153" y="1185333"/>
            <a:ext cx="6790267" cy="5132917"/>
          </a:xfrm>
          <a:custGeom>
            <a:avLst/>
            <a:gdLst/>
            <a:ahLst/>
            <a:cxnLst/>
            <a:rect l="l" t="t" r="r" b="b"/>
            <a:pathLst>
              <a:path w="6790267" h="5132917">
                <a:moveTo>
                  <a:pt x="114310" y="0"/>
                </a:moveTo>
                <a:lnTo>
                  <a:pt x="6675957" y="0"/>
                </a:lnTo>
                <a:cubicBezTo>
                  <a:pt x="6739088" y="0"/>
                  <a:pt x="6790267" y="51178"/>
                  <a:pt x="6790267" y="114310"/>
                </a:cubicBezTo>
                <a:lnTo>
                  <a:pt x="6790267" y="5018607"/>
                </a:lnTo>
                <a:cubicBezTo>
                  <a:pt x="6790267" y="5081738"/>
                  <a:pt x="6739088" y="5132917"/>
                  <a:pt x="6675957" y="5132917"/>
                </a:cubicBezTo>
                <a:lnTo>
                  <a:pt x="114310" y="5132917"/>
                </a:lnTo>
                <a:cubicBezTo>
                  <a:pt x="51178" y="5132917"/>
                  <a:pt x="0" y="5081738"/>
                  <a:pt x="0" y="5018607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3" name="Text 32"/>
          <p:cNvSpPr/>
          <p:nvPr/>
        </p:nvSpPr>
        <p:spPr>
          <a:xfrm>
            <a:off x="5174787" y="1341967"/>
            <a:ext cx="1685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 10 特征重要性</a:t>
            </a:r>
            <a:endParaRPr lang="en-US" sz="1600" dirty="0"/>
          </a:p>
        </p:txBody>
      </p:sp>
      <p:pic>
        <p:nvPicPr>
          <p:cNvPr id="54" name="Image 0" descr="https://kimi-img.moonshot.cn/pub/slides/26-04-02-14:00:41-d770c2comnmbkejmsc9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74787" y="1684867"/>
            <a:ext cx="6477000" cy="4038600"/>
          </a:xfrm>
          <a:prstGeom prst="roundRect">
            <a:avLst>
              <a:gd name="adj" fmla="val 0"/>
            </a:avLst>
          </a:prstGeom>
        </p:spPr>
      </p:pic>
      <p:sp>
        <p:nvSpPr>
          <p:cNvPr id="55" name="Shape 36"/>
          <p:cNvSpPr/>
          <p:nvPr/>
        </p:nvSpPr>
        <p:spPr>
          <a:xfrm>
            <a:off x="5297554" y="5907616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56" name="Text 37"/>
          <p:cNvSpPr/>
          <p:nvPr/>
        </p:nvSpPr>
        <p:spPr>
          <a:xfrm>
            <a:off x="5526154" y="5888566"/>
            <a:ext cx="53054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关键洞察：</a:t>
            </a:r>
            <a:r>
              <a:rPr lang="en-US" sz="105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漏斗得分正向贡献最大，验证了交互域特征在预测用户购买意图中的核心作用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1" bldLvl="0" animBg="1" advAuto="0"/>
      <p:bldP spid="232" grpId="2" bldLvl="0" animBg="1" advAuto="0"/>
      <p:bldP spid="230" grpId="3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33"/>
          <p:cNvSpPr txBox="1"/>
          <p:nvPr/>
        </p:nvSpPr>
        <p:spPr>
          <a:xfrm>
            <a:off x="1230608" y="171550"/>
            <a:ext cx="4394835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非线性突破：XGBoost集成学习</a:t>
            </a:r>
            <a:endParaRPr lang="en-US" dirty="0"/>
          </a:p>
          <a:p/>
        </p:txBody>
      </p:sp>
      <p:sp>
        <p:nvSpPr>
          <p:cNvPr id="231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32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560552" y="822143"/>
            <a:ext cx="11341830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Non-linear Performance Boost with Gradient Boosting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7853" y="1237366"/>
            <a:ext cx="5623164" cy="1390999"/>
          </a:xfrm>
          <a:custGeom>
            <a:avLst/>
            <a:gdLst/>
            <a:ahLst/>
            <a:cxnLst/>
            <a:rect l="l" t="t" r="r" b="b"/>
            <a:pathLst>
              <a:path w="5623164" h="1390999">
                <a:moveTo>
                  <a:pt x="112114" y="0"/>
                </a:moveTo>
                <a:lnTo>
                  <a:pt x="5511050" y="0"/>
                </a:lnTo>
                <a:cubicBezTo>
                  <a:pt x="5572969" y="0"/>
                  <a:pt x="5623164" y="50195"/>
                  <a:pt x="5623164" y="112114"/>
                </a:cubicBezTo>
                <a:lnTo>
                  <a:pt x="5623164" y="1278884"/>
                </a:lnTo>
                <a:cubicBezTo>
                  <a:pt x="5623164" y="1340803"/>
                  <a:pt x="5572969" y="1390999"/>
                  <a:pt x="5511050" y="1390999"/>
                </a:cubicBezTo>
                <a:lnTo>
                  <a:pt x="112114" y="1390999"/>
                </a:lnTo>
                <a:cubicBezTo>
                  <a:pt x="50195" y="1390999"/>
                  <a:pt x="0" y="1340803"/>
                  <a:pt x="0" y="1278884"/>
                </a:cubicBezTo>
                <a:lnTo>
                  <a:pt x="0" y="112114"/>
                </a:lnTo>
                <a:cubicBezTo>
                  <a:pt x="0" y="50237"/>
                  <a:pt x="50237" y="0"/>
                  <a:pt x="11211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4842" y="1428369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11678" y="23356"/>
                </a:moveTo>
                <a:cubicBezTo>
                  <a:pt x="5219" y="23356"/>
                  <a:pt x="0" y="28575"/>
                  <a:pt x="0" y="35034"/>
                </a:cubicBezTo>
                <a:cubicBezTo>
                  <a:pt x="0" y="41494"/>
                  <a:pt x="5219" y="46713"/>
                  <a:pt x="11678" y="46713"/>
                </a:cubicBezTo>
                <a:lnTo>
                  <a:pt x="43319" y="46713"/>
                </a:lnTo>
                <a:cubicBezTo>
                  <a:pt x="47807" y="57041"/>
                  <a:pt x="58099" y="64230"/>
                  <a:pt x="70069" y="64230"/>
                </a:cubicBezTo>
                <a:cubicBezTo>
                  <a:pt x="82039" y="64230"/>
                  <a:pt x="92330" y="57041"/>
                  <a:pt x="96819" y="46713"/>
                </a:cubicBezTo>
                <a:lnTo>
                  <a:pt x="175172" y="46713"/>
                </a:lnTo>
                <a:cubicBezTo>
                  <a:pt x="181632" y="46713"/>
                  <a:pt x="186851" y="41494"/>
                  <a:pt x="186851" y="35034"/>
                </a:cubicBezTo>
                <a:cubicBezTo>
                  <a:pt x="186851" y="28575"/>
                  <a:pt x="181632" y="23356"/>
                  <a:pt x="175172" y="23356"/>
                </a:cubicBezTo>
                <a:lnTo>
                  <a:pt x="96819" y="23356"/>
                </a:lnTo>
                <a:cubicBezTo>
                  <a:pt x="92330" y="13028"/>
                  <a:pt x="82039" y="5839"/>
                  <a:pt x="70069" y="5839"/>
                </a:cubicBezTo>
                <a:cubicBezTo>
                  <a:pt x="58099" y="5839"/>
                  <a:pt x="47807" y="13028"/>
                  <a:pt x="43319" y="23356"/>
                </a:cubicBezTo>
                <a:lnTo>
                  <a:pt x="11678" y="23356"/>
                </a:lnTo>
                <a:close/>
                <a:moveTo>
                  <a:pt x="11678" y="81747"/>
                </a:moveTo>
                <a:cubicBezTo>
                  <a:pt x="5219" y="81747"/>
                  <a:pt x="0" y="86966"/>
                  <a:pt x="0" y="93425"/>
                </a:cubicBezTo>
                <a:cubicBezTo>
                  <a:pt x="0" y="99885"/>
                  <a:pt x="5219" y="105103"/>
                  <a:pt x="11678" y="105103"/>
                </a:cubicBezTo>
                <a:lnTo>
                  <a:pt x="101709" y="105103"/>
                </a:lnTo>
                <a:cubicBezTo>
                  <a:pt x="106198" y="115431"/>
                  <a:pt x="116490" y="122621"/>
                  <a:pt x="128460" y="122621"/>
                </a:cubicBezTo>
                <a:cubicBezTo>
                  <a:pt x="140430" y="122621"/>
                  <a:pt x="150721" y="115431"/>
                  <a:pt x="155210" y="105103"/>
                </a:cubicBezTo>
                <a:lnTo>
                  <a:pt x="175172" y="105103"/>
                </a:lnTo>
                <a:cubicBezTo>
                  <a:pt x="181632" y="105103"/>
                  <a:pt x="186851" y="99885"/>
                  <a:pt x="186851" y="93425"/>
                </a:cubicBezTo>
                <a:cubicBezTo>
                  <a:pt x="186851" y="86966"/>
                  <a:pt x="181632" y="81747"/>
                  <a:pt x="175172" y="81747"/>
                </a:cubicBezTo>
                <a:lnTo>
                  <a:pt x="155210" y="81747"/>
                </a:lnTo>
                <a:cubicBezTo>
                  <a:pt x="150721" y="71419"/>
                  <a:pt x="140430" y="64230"/>
                  <a:pt x="128460" y="64230"/>
                </a:cubicBezTo>
                <a:cubicBezTo>
                  <a:pt x="116490" y="64230"/>
                  <a:pt x="106198" y="71419"/>
                  <a:pt x="101709" y="81747"/>
                </a:cubicBezTo>
                <a:lnTo>
                  <a:pt x="11678" y="81747"/>
                </a:lnTo>
                <a:close/>
                <a:moveTo>
                  <a:pt x="11678" y="140138"/>
                </a:moveTo>
                <a:cubicBezTo>
                  <a:pt x="5219" y="140138"/>
                  <a:pt x="0" y="145357"/>
                  <a:pt x="0" y="151816"/>
                </a:cubicBezTo>
                <a:cubicBezTo>
                  <a:pt x="0" y="158276"/>
                  <a:pt x="5219" y="163494"/>
                  <a:pt x="11678" y="163494"/>
                </a:cubicBezTo>
                <a:lnTo>
                  <a:pt x="31641" y="163494"/>
                </a:lnTo>
                <a:cubicBezTo>
                  <a:pt x="36129" y="173822"/>
                  <a:pt x="46421" y="181011"/>
                  <a:pt x="58391" y="181011"/>
                </a:cubicBezTo>
                <a:cubicBezTo>
                  <a:pt x="70361" y="181011"/>
                  <a:pt x="80652" y="173822"/>
                  <a:pt x="85141" y="163494"/>
                </a:cubicBezTo>
                <a:lnTo>
                  <a:pt x="175172" y="163494"/>
                </a:lnTo>
                <a:cubicBezTo>
                  <a:pt x="181632" y="163494"/>
                  <a:pt x="186851" y="158276"/>
                  <a:pt x="186851" y="151816"/>
                </a:cubicBezTo>
                <a:cubicBezTo>
                  <a:pt x="186851" y="145357"/>
                  <a:pt x="181632" y="140138"/>
                  <a:pt x="175172" y="140138"/>
                </a:cubicBezTo>
                <a:lnTo>
                  <a:pt x="85141" y="140138"/>
                </a:lnTo>
                <a:cubicBezTo>
                  <a:pt x="80652" y="129810"/>
                  <a:pt x="70361" y="122621"/>
                  <a:pt x="58391" y="122621"/>
                </a:cubicBezTo>
                <a:cubicBezTo>
                  <a:pt x="46421" y="122621"/>
                  <a:pt x="36129" y="129810"/>
                  <a:pt x="31641" y="140138"/>
                </a:cubicBezTo>
                <a:lnTo>
                  <a:pt x="11678" y="14013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839790" y="1390999"/>
            <a:ext cx="756745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模型配置</a:t>
            </a:r>
            <a:endParaRPr lang="en-US" sz="1325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31486" y="1764700"/>
            <a:ext cx="1700340" cy="710032"/>
          </a:xfrm>
          <a:custGeom>
            <a:avLst/>
            <a:gdLst/>
            <a:ahLst/>
            <a:cxnLst/>
            <a:rect l="l" t="t" r="r" b="b"/>
            <a:pathLst>
              <a:path w="1700340" h="710032">
                <a:moveTo>
                  <a:pt x="74738" y="0"/>
                </a:moveTo>
                <a:lnTo>
                  <a:pt x="1625602" y="0"/>
                </a:lnTo>
                <a:cubicBezTo>
                  <a:pt x="1666879" y="0"/>
                  <a:pt x="1700340" y="33461"/>
                  <a:pt x="1700340" y="74738"/>
                </a:cubicBezTo>
                <a:lnTo>
                  <a:pt x="1700340" y="635294"/>
                </a:lnTo>
                <a:cubicBezTo>
                  <a:pt x="1700340" y="676571"/>
                  <a:pt x="1666879" y="710032"/>
                  <a:pt x="1625602" y="710032"/>
                </a:cubicBezTo>
                <a:lnTo>
                  <a:pt x="74738" y="710032"/>
                </a:lnTo>
                <a:cubicBezTo>
                  <a:pt x="33489" y="710032"/>
                  <a:pt x="0" y="676543"/>
                  <a:pt x="0" y="635294"/>
                </a:cubicBezTo>
                <a:lnTo>
                  <a:pt x="0" y="74738"/>
                </a:lnTo>
                <a:cubicBezTo>
                  <a:pt x="0" y="33489"/>
                  <a:pt x="33489" y="0"/>
                  <a:pt x="7473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87541" y="1876810"/>
            <a:ext cx="1588230" cy="298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5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200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39784" y="1764700"/>
            <a:ext cx="1700340" cy="710032"/>
          </a:xfrm>
          <a:custGeom>
            <a:avLst/>
            <a:gdLst/>
            <a:ahLst/>
            <a:cxnLst/>
            <a:rect l="l" t="t" r="r" b="b"/>
            <a:pathLst>
              <a:path w="1700340" h="710032">
                <a:moveTo>
                  <a:pt x="74738" y="0"/>
                </a:moveTo>
                <a:lnTo>
                  <a:pt x="1625602" y="0"/>
                </a:lnTo>
                <a:cubicBezTo>
                  <a:pt x="1666879" y="0"/>
                  <a:pt x="1700340" y="33461"/>
                  <a:pt x="1700340" y="74738"/>
                </a:cubicBezTo>
                <a:lnTo>
                  <a:pt x="1700340" y="635294"/>
                </a:lnTo>
                <a:cubicBezTo>
                  <a:pt x="1700340" y="676571"/>
                  <a:pt x="1666879" y="710032"/>
                  <a:pt x="1625602" y="710032"/>
                </a:cubicBezTo>
                <a:lnTo>
                  <a:pt x="74738" y="710032"/>
                </a:lnTo>
                <a:cubicBezTo>
                  <a:pt x="33489" y="710032"/>
                  <a:pt x="0" y="676543"/>
                  <a:pt x="0" y="635294"/>
                </a:cubicBezTo>
                <a:lnTo>
                  <a:pt x="0" y="74738"/>
                </a:lnTo>
                <a:cubicBezTo>
                  <a:pt x="0" y="33489"/>
                  <a:pt x="33489" y="0"/>
                  <a:pt x="7473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395840" y="1876810"/>
            <a:ext cx="1588230" cy="298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5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23867" y="2213078"/>
            <a:ext cx="1532175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最大深度</a:t>
            </a:r>
            <a:endParaRPr lang="en-US" sz="88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48083" y="1764700"/>
            <a:ext cx="1700340" cy="710032"/>
          </a:xfrm>
          <a:custGeom>
            <a:avLst/>
            <a:gdLst/>
            <a:ahLst/>
            <a:cxnLst/>
            <a:rect l="l" t="t" r="r" b="b"/>
            <a:pathLst>
              <a:path w="1700340" h="710032">
                <a:moveTo>
                  <a:pt x="74738" y="0"/>
                </a:moveTo>
                <a:lnTo>
                  <a:pt x="1625602" y="0"/>
                </a:lnTo>
                <a:cubicBezTo>
                  <a:pt x="1666879" y="0"/>
                  <a:pt x="1700340" y="33461"/>
                  <a:pt x="1700340" y="74738"/>
                </a:cubicBezTo>
                <a:lnTo>
                  <a:pt x="1700340" y="635294"/>
                </a:lnTo>
                <a:cubicBezTo>
                  <a:pt x="1700340" y="676571"/>
                  <a:pt x="1666879" y="710032"/>
                  <a:pt x="1625602" y="710032"/>
                </a:cubicBezTo>
                <a:lnTo>
                  <a:pt x="74738" y="710032"/>
                </a:lnTo>
                <a:cubicBezTo>
                  <a:pt x="33489" y="710032"/>
                  <a:pt x="0" y="676543"/>
                  <a:pt x="0" y="635294"/>
                </a:cubicBezTo>
                <a:lnTo>
                  <a:pt x="0" y="74738"/>
                </a:lnTo>
                <a:cubicBezTo>
                  <a:pt x="0" y="33489"/>
                  <a:pt x="33489" y="0"/>
                  <a:pt x="74738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204138" y="1876810"/>
            <a:ext cx="1588230" cy="2989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6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32166" y="2213078"/>
            <a:ext cx="1532175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学习率</a:t>
            </a:r>
            <a:endParaRPr lang="en-US" sz="88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77853" y="2786020"/>
            <a:ext cx="5623164" cy="3035284"/>
          </a:xfrm>
          <a:custGeom>
            <a:avLst/>
            <a:gdLst/>
            <a:ahLst/>
            <a:cxnLst/>
            <a:rect l="l" t="t" r="r" b="b"/>
            <a:pathLst>
              <a:path w="5623164" h="3035284">
                <a:moveTo>
                  <a:pt x="112123" y="0"/>
                </a:moveTo>
                <a:lnTo>
                  <a:pt x="5511041" y="0"/>
                </a:lnTo>
                <a:cubicBezTo>
                  <a:pt x="5572965" y="0"/>
                  <a:pt x="5623164" y="50199"/>
                  <a:pt x="5623164" y="112123"/>
                </a:cubicBezTo>
                <a:lnTo>
                  <a:pt x="5623164" y="2923160"/>
                </a:lnTo>
                <a:cubicBezTo>
                  <a:pt x="5623164" y="2985084"/>
                  <a:pt x="5572965" y="3035284"/>
                  <a:pt x="5511041" y="3035284"/>
                </a:cubicBezTo>
                <a:lnTo>
                  <a:pt x="112123" y="3035284"/>
                </a:lnTo>
                <a:cubicBezTo>
                  <a:pt x="50199" y="3035284"/>
                  <a:pt x="0" y="2985084"/>
                  <a:pt x="0" y="2923160"/>
                </a:cubicBezTo>
                <a:lnTo>
                  <a:pt x="0" y="112123"/>
                </a:lnTo>
                <a:cubicBezTo>
                  <a:pt x="0" y="50241"/>
                  <a:pt x="50241" y="0"/>
                  <a:pt x="11212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64" y="2977023"/>
            <a:ext cx="210207" cy="186851"/>
          </a:xfrm>
          <a:custGeom>
            <a:avLst/>
            <a:gdLst/>
            <a:ahLst/>
            <a:cxnLst/>
            <a:rect l="l" t="t" r="r" b="b"/>
            <a:pathLst>
              <a:path w="210207" h="186851">
                <a:moveTo>
                  <a:pt x="185902" y="35983"/>
                </a:moveTo>
                <a:cubicBezTo>
                  <a:pt x="188675" y="33210"/>
                  <a:pt x="193310" y="33903"/>
                  <a:pt x="194697" y="37553"/>
                </a:cubicBezTo>
                <a:cubicBezTo>
                  <a:pt x="197178" y="44012"/>
                  <a:pt x="198529" y="51055"/>
                  <a:pt x="198529" y="58391"/>
                </a:cubicBezTo>
                <a:cubicBezTo>
                  <a:pt x="198529" y="90652"/>
                  <a:pt x="172399" y="116782"/>
                  <a:pt x="140138" y="116782"/>
                </a:cubicBezTo>
                <a:cubicBezTo>
                  <a:pt x="133751" y="116782"/>
                  <a:pt x="127584" y="115760"/>
                  <a:pt x="121818" y="113862"/>
                </a:cubicBezTo>
                <a:lnTo>
                  <a:pt x="53610" y="182070"/>
                </a:lnTo>
                <a:cubicBezTo>
                  <a:pt x="43355" y="192325"/>
                  <a:pt x="26714" y="192325"/>
                  <a:pt x="16459" y="182070"/>
                </a:cubicBezTo>
                <a:cubicBezTo>
                  <a:pt x="6204" y="171815"/>
                  <a:pt x="6204" y="155174"/>
                  <a:pt x="16459" y="144919"/>
                </a:cubicBezTo>
                <a:lnTo>
                  <a:pt x="84667" y="76711"/>
                </a:lnTo>
                <a:cubicBezTo>
                  <a:pt x="82769" y="70945"/>
                  <a:pt x="81747" y="64814"/>
                  <a:pt x="81747" y="58391"/>
                </a:cubicBezTo>
                <a:cubicBezTo>
                  <a:pt x="81747" y="26130"/>
                  <a:pt x="107877" y="0"/>
                  <a:pt x="140138" y="0"/>
                </a:cubicBezTo>
                <a:cubicBezTo>
                  <a:pt x="147473" y="0"/>
                  <a:pt x="154517" y="1350"/>
                  <a:pt x="160976" y="3832"/>
                </a:cubicBezTo>
                <a:cubicBezTo>
                  <a:pt x="164626" y="5219"/>
                  <a:pt x="165282" y="9853"/>
                  <a:pt x="162545" y="12627"/>
                </a:cubicBezTo>
                <a:lnTo>
                  <a:pt x="130175" y="44997"/>
                </a:lnTo>
                <a:cubicBezTo>
                  <a:pt x="129080" y="46092"/>
                  <a:pt x="128460" y="47589"/>
                  <a:pt x="128460" y="49121"/>
                </a:cubicBezTo>
                <a:lnTo>
                  <a:pt x="128460" y="64230"/>
                </a:lnTo>
                <a:cubicBezTo>
                  <a:pt x="128460" y="67441"/>
                  <a:pt x="131087" y="70069"/>
                  <a:pt x="134299" y="70069"/>
                </a:cubicBezTo>
                <a:lnTo>
                  <a:pt x="149407" y="70069"/>
                </a:lnTo>
                <a:cubicBezTo>
                  <a:pt x="150940" y="70069"/>
                  <a:pt x="152436" y="69449"/>
                  <a:pt x="153531" y="68354"/>
                </a:cubicBezTo>
                <a:lnTo>
                  <a:pt x="185902" y="35983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9" name="Text 17"/>
          <p:cNvSpPr/>
          <p:nvPr/>
        </p:nvSpPr>
        <p:spPr>
          <a:xfrm>
            <a:off x="839790" y="2939653"/>
            <a:ext cx="1093076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5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关键调优策略</a:t>
            </a:r>
            <a:endParaRPr lang="en-US" sz="1325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3648" y="3462835"/>
            <a:ext cx="102768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2557" y="3444150"/>
            <a:ext cx="691347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Focal Loss</a:t>
            </a:r>
            <a:endParaRPr lang="en-US" sz="103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2557" y="3724426"/>
            <a:ext cx="4858115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α=0.25, γ=2.0，进一步缓解剩余类别不平衡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176" y="4284977"/>
            <a:ext cx="121453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2557" y="4266292"/>
            <a:ext cx="1111761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</a:t>
            </a:r>
            <a:r>
              <a:rPr lang="en-US" sz="103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cale_pos_weight</a:t>
            </a:r>
            <a:endParaRPr lang="en-US" sz="103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42557" y="4546568"/>
            <a:ext cx="4858115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根据正负比自动调整权重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684" y="5107120"/>
            <a:ext cx="121453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85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2557" y="5088435"/>
            <a:ext cx="934253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dirty="0">
                <a:solidFill>
                  <a:schemeClr val="tx2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Early Stopping</a:t>
            </a:r>
            <a:endParaRPr lang="en-US" sz="1030" b="1" dirty="0">
              <a:solidFill>
                <a:schemeClr val="tx2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2557" y="5368711"/>
            <a:ext cx="4858115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10轮内验证集AUC无提升则停止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77853" y="5981229"/>
            <a:ext cx="5623164" cy="867817"/>
          </a:xfrm>
          <a:custGeom>
            <a:avLst/>
            <a:gdLst/>
            <a:ahLst/>
            <a:cxnLst/>
            <a:rect l="l" t="t" r="r" b="b"/>
            <a:pathLst>
              <a:path w="5623164" h="867817">
                <a:moveTo>
                  <a:pt x="112113" y="0"/>
                </a:moveTo>
                <a:lnTo>
                  <a:pt x="5511051" y="0"/>
                </a:lnTo>
                <a:cubicBezTo>
                  <a:pt x="5572969" y="0"/>
                  <a:pt x="5623164" y="50195"/>
                  <a:pt x="5623164" y="112113"/>
                </a:cubicBezTo>
                <a:lnTo>
                  <a:pt x="5623164" y="755704"/>
                </a:lnTo>
                <a:cubicBezTo>
                  <a:pt x="5623164" y="817622"/>
                  <a:pt x="5572969" y="867817"/>
                  <a:pt x="5511051" y="867817"/>
                </a:cubicBezTo>
                <a:lnTo>
                  <a:pt x="112113" y="867817"/>
                </a:lnTo>
                <a:cubicBezTo>
                  <a:pt x="50195" y="867817"/>
                  <a:pt x="0" y="817622"/>
                  <a:pt x="0" y="755704"/>
                </a:cubicBezTo>
                <a:lnTo>
                  <a:pt x="0" y="112113"/>
                </a:lnTo>
                <a:cubicBezTo>
                  <a:pt x="0" y="50236"/>
                  <a:pt x="50236" y="0"/>
                  <a:pt x="112113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1486" y="6134862"/>
            <a:ext cx="952938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较LR提升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1495" y="6358890"/>
            <a:ext cx="1221740" cy="336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5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+3.13%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651202" y="6134862"/>
            <a:ext cx="990308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 AUC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2576462" y="6359083"/>
            <a:ext cx="1065048" cy="336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5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0.8230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873815" y="6134862"/>
            <a:ext cx="971623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799075" y="6359083"/>
            <a:ext cx="1046363" cy="3363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05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0.5823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93059" y="1237366"/>
            <a:ext cx="5623164" cy="5613822"/>
          </a:xfrm>
          <a:custGeom>
            <a:avLst/>
            <a:gdLst/>
            <a:ahLst/>
            <a:cxnLst/>
            <a:rect l="l" t="t" r="r" b="b"/>
            <a:pathLst>
              <a:path w="5623164" h="5613822">
                <a:moveTo>
                  <a:pt x="112108" y="0"/>
                </a:moveTo>
                <a:lnTo>
                  <a:pt x="5511056" y="0"/>
                </a:lnTo>
                <a:cubicBezTo>
                  <a:pt x="5572972" y="0"/>
                  <a:pt x="5623164" y="50192"/>
                  <a:pt x="5623164" y="112108"/>
                </a:cubicBezTo>
                <a:lnTo>
                  <a:pt x="5623164" y="5501714"/>
                </a:lnTo>
                <a:cubicBezTo>
                  <a:pt x="5623164" y="5563629"/>
                  <a:pt x="5572972" y="5613822"/>
                  <a:pt x="5511056" y="5613822"/>
                </a:cubicBezTo>
                <a:lnTo>
                  <a:pt x="112108" y="5613822"/>
                </a:lnTo>
                <a:cubicBezTo>
                  <a:pt x="50192" y="5613822"/>
                  <a:pt x="0" y="5563629"/>
                  <a:pt x="0" y="5501714"/>
                </a:cubicBezTo>
                <a:lnTo>
                  <a:pt x="0" y="112108"/>
                </a:lnTo>
                <a:cubicBezTo>
                  <a:pt x="0" y="50234"/>
                  <a:pt x="50234" y="0"/>
                  <a:pt x="112108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6691" y="1390999"/>
            <a:ext cx="1214529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模型性能对比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55760" y="1390999"/>
            <a:ext cx="1167816" cy="261591"/>
          </a:xfrm>
          <a:prstGeom prst="rect">
            <a:avLst/>
          </a:prstGeom>
          <a:noFill/>
        </p:spPr>
        <p:txBody>
          <a:bodyPr wrap="square" lIns="112110" tIns="37370" rIns="112110" bIns="3737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 vs XGBoost</a:t>
            </a:r>
            <a:endParaRPr lang="en-US" sz="1600" dirty="0"/>
          </a:p>
        </p:txBody>
      </p:sp>
      <p:pic>
        <p:nvPicPr>
          <p:cNvPr id="46" name="Image 0" descr="https://kimi-img.moonshot.cn/pub/slides/26-04-02-14:00:42-d770c2hl88bld3n0agmg.png"/>
          <p:cNvPicPr>
            <a:picLocks noChangeAspect="1"/>
          </p:cNvPicPr>
          <p:nvPr/>
        </p:nvPicPr>
        <p:blipFill>
          <a:blip r:embed="rId1"/>
          <a:srcRect l="25" r="25"/>
          <a:stretch>
            <a:fillRect/>
          </a:stretch>
        </p:blipFill>
        <p:spPr>
          <a:xfrm>
            <a:off x="6346691" y="1764700"/>
            <a:ext cx="5194446" cy="4166768"/>
          </a:xfrm>
          <a:prstGeom prst="roundRect">
            <a:avLst>
              <a:gd name="adj" fmla="val 0"/>
            </a:avLst>
          </a:prstGeom>
        </p:spPr>
      </p:pic>
      <p:sp>
        <p:nvSpPr>
          <p:cNvPr id="47" name="Shape 44"/>
          <p:cNvSpPr/>
          <p:nvPr/>
        </p:nvSpPr>
        <p:spPr>
          <a:xfrm>
            <a:off x="6350843" y="6047731"/>
            <a:ext cx="5305518" cy="643596"/>
          </a:xfrm>
          <a:custGeom>
            <a:avLst/>
            <a:gdLst/>
            <a:ahLst/>
            <a:cxnLst/>
            <a:rect l="l" t="t" r="r" b="b"/>
            <a:pathLst>
              <a:path w="5305518" h="643596">
                <a:moveTo>
                  <a:pt x="74741" y="0"/>
                </a:moveTo>
                <a:lnTo>
                  <a:pt x="5230777" y="0"/>
                </a:lnTo>
                <a:cubicBezTo>
                  <a:pt x="5272056" y="0"/>
                  <a:pt x="5305518" y="33463"/>
                  <a:pt x="5305518" y="74741"/>
                </a:cubicBezTo>
                <a:lnTo>
                  <a:pt x="5305518" y="568856"/>
                </a:lnTo>
                <a:cubicBezTo>
                  <a:pt x="5305518" y="610134"/>
                  <a:pt x="5272056" y="643596"/>
                  <a:pt x="5230777" y="643596"/>
                </a:cubicBezTo>
                <a:lnTo>
                  <a:pt x="74741" y="643596"/>
                </a:lnTo>
                <a:cubicBezTo>
                  <a:pt x="33463" y="643596"/>
                  <a:pt x="0" y="610134"/>
                  <a:pt x="0" y="568856"/>
                </a:cubicBezTo>
                <a:lnTo>
                  <a:pt x="0" y="74741"/>
                </a:lnTo>
                <a:cubicBezTo>
                  <a:pt x="0" y="33463"/>
                  <a:pt x="33463" y="0"/>
                  <a:pt x="74741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85791" y="6294723"/>
            <a:ext cx="149480" cy="149480"/>
          </a:xfrm>
          <a:custGeom>
            <a:avLst/>
            <a:gdLst/>
            <a:ahLst/>
            <a:cxnLst/>
            <a:rect l="l" t="t" r="r" b="b"/>
            <a:pathLst>
              <a:path w="149480" h="149480">
                <a:moveTo>
                  <a:pt x="74740" y="0"/>
                </a:moveTo>
                <a:cubicBezTo>
                  <a:pt x="76083" y="0"/>
                  <a:pt x="77426" y="292"/>
                  <a:pt x="78652" y="847"/>
                </a:cubicBezTo>
                <a:lnTo>
                  <a:pt x="133657" y="24174"/>
                </a:lnTo>
                <a:cubicBezTo>
                  <a:pt x="140080" y="26889"/>
                  <a:pt x="144868" y="33224"/>
                  <a:pt x="144838" y="40874"/>
                </a:cubicBezTo>
                <a:cubicBezTo>
                  <a:pt x="144692" y="69835"/>
                  <a:pt x="132781" y="122825"/>
                  <a:pt x="82477" y="146911"/>
                </a:cubicBezTo>
                <a:cubicBezTo>
                  <a:pt x="77601" y="149247"/>
                  <a:pt x="71937" y="149247"/>
                  <a:pt x="67062" y="146911"/>
                </a:cubicBezTo>
                <a:cubicBezTo>
                  <a:pt x="16729" y="122825"/>
                  <a:pt x="4846" y="69835"/>
                  <a:pt x="4700" y="40874"/>
                </a:cubicBezTo>
                <a:cubicBezTo>
                  <a:pt x="4671" y="33224"/>
                  <a:pt x="9459" y="26889"/>
                  <a:pt x="15882" y="24174"/>
                </a:cubicBezTo>
                <a:lnTo>
                  <a:pt x="70857" y="847"/>
                </a:lnTo>
                <a:cubicBezTo>
                  <a:pt x="72083" y="292"/>
                  <a:pt x="73397" y="0"/>
                  <a:pt x="74740" y="0"/>
                </a:cubicBezTo>
                <a:close/>
                <a:moveTo>
                  <a:pt x="74740" y="19503"/>
                </a:moveTo>
                <a:lnTo>
                  <a:pt x="74740" y="129890"/>
                </a:lnTo>
                <a:cubicBezTo>
                  <a:pt x="115030" y="110388"/>
                  <a:pt x="125861" y="67179"/>
                  <a:pt x="126124" y="41311"/>
                </a:cubicBezTo>
                <a:lnTo>
                  <a:pt x="74740" y="19532"/>
                </a:lnTo>
                <a:lnTo>
                  <a:pt x="74740" y="1953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49" name="Text 46"/>
          <p:cNvSpPr/>
          <p:nvPr/>
        </p:nvSpPr>
        <p:spPr>
          <a:xfrm>
            <a:off x="6728697" y="6276038"/>
            <a:ext cx="719375" cy="1868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过拟合监控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916445" y="6163993"/>
            <a:ext cx="532524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 Gap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9902432" y="6313408"/>
            <a:ext cx="56055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5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0.46%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10544925" y="6163993"/>
            <a:ext cx="532524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 Gap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0530912" y="6313408"/>
            <a:ext cx="560552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5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2.08%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11174702" y="6163993"/>
            <a:ext cx="392386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警戒线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11160688" y="6313408"/>
            <a:ext cx="420414" cy="2615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&lt;5%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569" y="2213078"/>
            <a:ext cx="1532175" cy="149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树数量</a:t>
            </a:r>
            <a:endParaRPr lang="en-US" sz="88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1" bldLvl="0" animBg="1" advAuto="0"/>
      <p:bldP spid="232" grpId="2" bldLvl="0" animBg="1" advAuto="0"/>
      <p:bldP spid="230" grpId="3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33"/>
          <p:cNvSpPr txBox="1"/>
          <p:nvPr/>
        </p:nvSpPr>
        <p:spPr>
          <a:xfrm>
            <a:off x="1230608" y="171550"/>
            <a:ext cx="453390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序列建模探索：SASRec深度学习</a:t>
            </a:r>
            <a:endParaRPr>
              <a:sym typeface="+mn-ea"/>
            </a:endParaRPr>
          </a:p>
          <a:p/>
        </p:txBody>
      </p:sp>
      <p:sp>
        <p:nvSpPr>
          <p:cNvPr id="231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32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571500" y="800100"/>
            <a:ext cx="113252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Sequential Recommendation with Transformer Architecture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233" y="1147233"/>
            <a:ext cx="5647267" cy="2389717"/>
          </a:xfrm>
          <a:custGeom>
            <a:avLst/>
            <a:gdLst/>
            <a:ahLst/>
            <a:cxnLst/>
            <a:rect l="l" t="t" r="r" b="b"/>
            <a:pathLst>
              <a:path w="5647267" h="2389717">
                <a:moveTo>
                  <a:pt x="114300" y="0"/>
                </a:moveTo>
                <a:lnTo>
                  <a:pt x="5532967" y="0"/>
                </a:lnTo>
                <a:cubicBezTo>
                  <a:pt x="5596093" y="0"/>
                  <a:pt x="5647267" y="51174"/>
                  <a:pt x="5647267" y="114300"/>
                </a:cubicBezTo>
                <a:lnTo>
                  <a:pt x="5647267" y="2275417"/>
                </a:lnTo>
                <a:cubicBezTo>
                  <a:pt x="5647267" y="2338543"/>
                  <a:pt x="5596093" y="2389717"/>
                  <a:pt x="5532967" y="2389717"/>
                </a:cubicBezTo>
                <a:lnTo>
                  <a:pt x="114300" y="2389717"/>
                </a:lnTo>
                <a:cubicBezTo>
                  <a:pt x="51174" y="2389717"/>
                  <a:pt x="0" y="2338543"/>
                  <a:pt x="0" y="2275417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7579" y="129434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794279" y="1265767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架构创新</a:t>
            </a:r>
            <a:endParaRPr lang="en-US" sz="12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1867" y="1627717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4A6C8C"/>
          </a:solidFill>
        </p:spPr>
      </p:sp>
      <p:sp>
        <p:nvSpPr>
          <p:cNvPr id="10" name="Text 8"/>
          <p:cNvSpPr/>
          <p:nvPr/>
        </p:nvSpPr>
        <p:spPr>
          <a:xfrm>
            <a:off x="770467" y="1570567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输入层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0467" y="1780117"/>
            <a:ext cx="5200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30步行为序列（商品ID + 品类 + 行为类型）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1867" y="2046752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4" name="Text 12"/>
          <p:cNvSpPr/>
          <p:nvPr/>
        </p:nvSpPr>
        <p:spPr>
          <a:xfrm>
            <a:off x="770467" y="1989602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网络结构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0467" y="2199152"/>
            <a:ext cx="5200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4层Transformer（64维嵌入，4头注意力）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1867" y="246578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8" name="Text 16"/>
          <p:cNvSpPr/>
          <p:nvPr/>
        </p:nvSpPr>
        <p:spPr>
          <a:xfrm>
            <a:off x="770467" y="2408634"/>
            <a:ext cx="52101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输出层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0467" y="2618184"/>
            <a:ext cx="52006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用户表示与商品嵌入点积得购买概率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1392" y="2922919"/>
            <a:ext cx="657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参数量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7104" y="3075252"/>
            <a:ext cx="6858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38.62M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24651" y="2922919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序列长度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010363" y="3075252"/>
            <a:ext cx="542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30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54109" y="2922919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嵌入维度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39821" y="3075252"/>
            <a:ext cx="5429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64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7579" y="376846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29" name="Text 27"/>
          <p:cNvSpPr/>
          <p:nvPr/>
        </p:nvSpPr>
        <p:spPr>
          <a:xfrm>
            <a:off x="794279" y="3739886"/>
            <a:ext cx="2057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训练稳定性方案（关键难点）</a:t>
            </a:r>
            <a:endParaRPr lang="en-US" sz="12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2727" y="4139936"/>
            <a:ext cx="1047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6667" y="4120886"/>
            <a:ext cx="7524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EMA稳定器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8567" y="4349486"/>
            <a:ext cx="2343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衰减率0.999，滑动平均模型参数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87328" y="4139936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590925" y="4120886"/>
            <a:ext cx="8572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Warmup调度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552825" y="4349486"/>
            <a:ext cx="2343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前2轮线性升温（0→0.0005）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1548" y="4749471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6667" y="4730421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标签平滑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08567" y="4959021"/>
            <a:ext cx="2343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0/1标签→0.05/0.95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385939" y="4749471"/>
            <a:ext cx="1238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590925" y="4730421"/>
            <a:ext cx="6000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早停策略</a:t>
            </a:r>
            <a:endParaRPr lang="en-US" sz="105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3552825" y="4959021"/>
            <a:ext cx="234315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patience=2，第1轮即达最佳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5233" y="5473699"/>
            <a:ext cx="5647267" cy="808567"/>
          </a:xfrm>
          <a:custGeom>
            <a:avLst/>
            <a:gdLst/>
            <a:ahLst/>
            <a:cxnLst/>
            <a:rect l="l" t="t" r="r" b="b"/>
            <a:pathLst>
              <a:path w="5647267" h="808567">
                <a:moveTo>
                  <a:pt x="114299" y="0"/>
                </a:moveTo>
                <a:lnTo>
                  <a:pt x="5532968" y="0"/>
                </a:lnTo>
                <a:cubicBezTo>
                  <a:pt x="5596093" y="0"/>
                  <a:pt x="5647267" y="51173"/>
                  <a:pt x="5647267" y="114299"/>
                </a:cubicBezTo>
                <a:lnTo>
                  <a:pt x="5647267" y="694268"/>
                </a:lnTo>
                <a:cubicBezTo>
                  <a:pt x="5647267" y="757393"/>
                  <a:pt x="5596093" y="808567"/>
                  <a:pt x="5532968" y="808567"/>
                </a:cubicBezTo>
                <a:lnTo>
                  <a:pt x="114299" y="808567"/>
                </a:lnTo>
                <a:cubicBezTo>
                  <a:pt x="51173" y="808567"/>
                  <a:pt x="0" y="757393"/>
                  <a:pt x="0" y="694268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3767" y="5592233"/>
            <a:ext cx="952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Test AUC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03767" y="5820833"/>
            <a:ext cx="10287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0.7525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2602508" y="5592233"/>
            <a:ext cx="11049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Val AUC（最佳）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2526308" y="5820833"/>
            <a:ext cx="11811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0.7604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915959" y="5668433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验证结论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4915959" y="5897033"/>
            <a:ext cx="1000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序列建模可行性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57383" y="1147233"/>
            <a:ext cx="5647267" cy="5132917"/>
          </a:xfrm>
          <a:custGeom>
            <a:avLst/>
            <a:gdLst/>
            <a:ahLst/>
            <a:cxnLst/>
            <a:rect l="l" t="t" r="r" b="b"/>
            <a:pathLst>
              <a:path w="5647267" h="5132917">
                <a:moveTo>
                  <a:pt x="114310" y="0"/>
                </a:moveTo>
                <a:lnTo>
                  <a:pt x="5532957" y="0"/>
                </a:lnTo>
                <a:cubicBezTo>
                  <a:pt x="5596088" y="0"/>
                  <a:pt x="5647267" y="51178"/>
                  <a:pt x="5647267" y="114310"/>
                </a:cubicBezTo>
                <a:lnTo>
                  <a:pt x="5647267" y="5018607"/>
                </a:lnTo>
                <a:cubicBezTo>
                  <a:pt x="5647267" y="5081738"/>
                  <a:pt x="5596088" y="5132917"/>
                  <a:pt x="5532957" y="5132917"/>
                </a:cubicBezTo>
                <a:lnTo>
                  <a:pt x="114310" y="5132917"/>
                </a:lnTo>
                <a:cubicBezTo>
                  <a:pt x="51178" y="5132917"/>
                  <a:pt x="0" y="5081738"/>
                  <a:pt x="0" y="5018607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75917" y="1265767"/>
            <a:ext cx="11144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训练过程监控</a:t>
            </a:r>
            <a:endParaRPr lang="en-US" sz="1600" dirty="0"/>
          </a:p>
        </p:txBody>
      </p:sp>
      <p:pic>
        <p:nvPicPr>
          <p:cNvPr id="61" name="Image 0" descr="https://kimi-img.moonshot.cn/pub/slides/26-04-02-14:00:42-d770c2gv02509ba8ma1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275917" y="1608667"/>
            <a:ext cx="5410200" cy="4152900"/>
          </a:xfrm>
          <a:prstGeom prst="roundRect">
            <a:avLst>
              <a:gd name="adj" fmla="val 0"/>
            </a:avLst>
          </a:prstGeom>
        </p:spPr>
      </p:pic>
      <p:sp>
        <p:nvSpPr>
          <p:cNvPr id="63" name="Shape 60"/>
          <p:cNvSpPr/>
          <p:nvPr/>
        </p:nvSpPr>
        <p:spPr>
          <a:xfrm>
            <a:off x="6379633" y="592666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76200" y="40481"/>
                </a:moveTo>
                <a:cubicBezTo>
                  <a:pt x="80159" y="40481"/>
                  <a:pt x="83344" y="43666"/>
                  <a:pt x="83344" y="47625"/>
                </a:cubicBezTo>
                <a:lnTo>
                  <a:pt x="83344" y="80962"/>
                </a:lnTo>
                <a:cubicBezTo>
                  <a:pt x="83344" y="84921"/>
                  <a:pt x="80159" y="88106"/>
                  <a:pt x="76200" y="88106"/>
                </a:cubicBezTo>
                <a:cubicBezTo>
                  <a:pt x="72241" y="88106"/>
                  <a:pt x="69056" y="84921"/>
                  <a:pt x="69056" y="80962"/>
                </a:cubicBezTo>
                <a:lnTo>
                  <a:pt x="69056" y="47625"/>
                </a:lnTo>
                <a:cubicBezTo>
                  <a:pt x="69056" y="43666"/>
                  <a:pt x="72241" y="40481"/>
                  <a:pt x="76200" y="40481"/>
                </a:cubicBezTo>
                <a:close/>
                <a:moveTo>
                  <a:pt x="68253" y="104775"/>
                </a:moveTo>
                <a:cubicBezTo>
                  <a:pt x="68072" y="101825"/>
                  <a:pt x="69543" y="99018"/>
                  <a:pt x="72072" y="97489"/>
                </a:cubicBezTo>
                <a:cubicBezTo>
                  <a:pt x="74601" y="95959"/>
                  <a:pt x="77770" y="95959"/>
                  <a:pt x="80298" y="97489"/>
                </a:cubicBezTo>
                <a:cubicBezTo>
                  <a:pt x="82827" y="99018"/>
                  <a:pt x="84298" y="101825"/>
                  <a:pt x="84118" y="104775"/>
                </a:cubicBezTo>
                <a:cubicBezTo>
                  <a:pt x="84298" y="107725"/>
                  <a:pt x="82827" y="110532"/>
                  <a:pt x="80298" y="112061"/>
                </a:cubicBezTo>
                <a:cubicBezTo>
                  <a:pt x="77770" y="113591"/>
                  <a:pt x="74601" y="113591"/>
                  <a:pt x="72072" y="112061"/>
                </a:cubicBezTo>
                <a:cubicBezTo>
                  <a:pt x="69543" y="110532"/>
                  <a:pt x="68072" y="107725"/>
                  <a:pt x="68253" y="104775"/>
                </a:cubicBezTo>
                <a:close/>
              </a:path>
            </a:pathLst>
          </a:custGeom>
          <a:solidFill>
            <a:srgbClr val="5E8B7E"/>
          </a:solidFill>
        </p:spPr>
      </p:sp>
      <p:sp>
        <p:nvSpPr>
          <p:cNvPr id="64" name="Text 61"/>
          <p:cNvSpPr/>
          <p:nvPr/>
        </p:nvSpPr>
        <p:spPr>
          <a:xfrm>
            <a:off x="6627283" y="5926666"/>
            <a:ext cx="446722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E8B7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过拟合现象：</a:t>
            </a:r>
            <a:r>
              <a:rPr lang="en-US" sz="900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第1轮达到Val AUC峰值0.7604后快速下降，验证集与训练集Gap迅速扩大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1" bldLvl="0" animBg="1" advAuto="0"/>
      <p:bldP spid="232" grpId="2" bldLvl="0" animBg="1" advAuto="0"/>
      <p:bldP spid="230" grpId="3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33"/>
          <p:cNvSpPr txBox="1"/>
          <p:nvPr/>
        </p:nvSpPr>
        <p:spPr>
          <a:xfrm>
            <a:off x="1230608" y="171550"/>
            <a:ext cx="34429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多维度评估与稳定性监控</a:t>
            </a:r>
            <a:endParaRPr>
              <a:sym typeface="+mn-ea"/>
            </a:endParaRPr>
          </a:p>
          <a:p/>
        </p:txBody>
      </p:sp>
      <p:sp>
        <p:nvSpPr>
          <p:cNvPr id="231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32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550843" y="807904"/>
            <a:ext cx="11356554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Comprehensive Evaluation Framework &amp; Stability Monitoring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309" y="1215936"/>
            <a:ext cx="5626763" cy="1495438"/>
          </a:xfrm>
          <a:custGeom>
            <a:avLst/>
            <a:gdLst/>
            <a:ahLst/>
            <a:cxnLst/>
            <a:rect l="l" t="t" r="r" b="b"/>
            <a:pathLst>
              <a:path w="5626763" h="1495438">
                <a:moveTo>
                  <a:pt x="110169" y="0"/>
                </a:moveTo>
                <a:lnTo>
                  <a:pt x="5516594" y="0"/>
                </a:lnTo>
                <a:cubicBezTo>
                  <a:pt x="5577439" y="0"/>
                  <a:pt x="5626763" y="49324"/>
                  <a:pt x="5626763" y="110169"/>
                </a:cubicBezTo>
                <a:lnTo>
                  <a:pt x="5626763" y="1385269"/>
                </a:lnTo>
                <a:cubicBezTo>
                  <a:pt x="5626763" y="1446113"/>
                  <a:pt x="5577439" y="1495438"/>
                  <a:pt x="5516594" y="1495438"/>
                </a:cubicBezTo>
                <a:lnTo>
                  <a:pt x="110169" y="1495438"/>
                </a:lnTo>
                <a:cubicBezTo>
                  <a:pt x="49324" y="1495438"/>
                  <a:pt x="0" y="1446113"/>
                  <a:pt x="0" y="1385269"/>
                </a:cubicBezTo>
                <a:lnTo>
                  <a:pt x="0" y="110169"/>
                </a:lnTo>
                <a:cubicBezTo>
                  <a:pt x="0" y="49324"/>
                  <a:pt x="49324" y="0"/>
                  <a:pt x="110169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5233" y="1403631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11476" y="11476"/>
                </a:moveTo>
                <a:cubicBezTo>
                  <a:pt x="17824" y="11476"/>
                  <a:pt x="22952" y="16604"/>
                  <a:pt x="22952" y="22952"/>
                </a:cubicBezTo>
                <a:lnTo>
                  <a:pt x="22952" y="143449"/>
                </a:lnTo>
                <a:cubicBezTo>
                  <a:pt x="22952" y="146605"/>
                  <a:pt x="25534" y="149187"/>
                  <a:pt x="28690" y="149187"/>
                </a:cubicBezTo>
                <a:lnTo>
                  <a:pt x="172139" y="149187"/>
                </a:lnTo>
                <a:cubicBezTo>
                  <a:pt x="178486" y="149187"/>
                  <a:pt x="183614" y="154315"/>
                  <a:pt x="183614" y="160663"/>
                </a:cubicBezTo>
                <a:cubicBezTo>
                  <a:pt x="183614" y="167010"/>
                  <a:pt x="178486" y="172139"/>
                  <a:pt x="172139" y="172139"/>
                </a:cubicBezTo>
                <a:lnTo>
                  <a:pt x="28690" y="172139"/>
                </a:lnTo>
                <a:cubicBezTo>
                  <a:pt x="12839" y="172139"/>
                  <a:pt x="0" y="159300"/>
                  <a:pt x="0" y="143449"/>
                </a:cubicBezTo>
                <a:lnTo>
                  <a:pt x="0" y="22952"/>
                </a:lnTo>
                <a:cubicBezTo>
                  <a:pt x="0" y="16604"/>
                  <a:pt x="5128" y="11476"/>
                  <a:pt x="11476" y="11476"/>
                </a:cubicBezTo>
                <a:close/>
                <a:moveTo>
                  <a:pt x="45904" y="34428"/>
                </a:moveTo>
                <a:cubicBezTo>
                  <a:pt x="45904" y="28080"/>
                  <a:pt x="51032" y="22952"/>
                  <a:pt x="57380" y="22952"/>
                </a:cubicBezTo>
                <a:lnTo>
                  <a:pt x="126235" y="22952"/>
                </a:lnTo>
                <a:cubicBezTo>
                  <a:pt x="132583" y="22952"/>
                  <a:pt x="137711" y="28080"/>
                  <a:pt x="137711" y="34428"/>
                </a:cubicBezTo>
                <a:cubicBezTo>
                  <a:pt x="137711" y="40775"/>
                  <a:pt x="132583" y="45904"/>
                  <a:pt x="126235" y="45904"/>
                </a:cubicBezTo>
                <a:lnTo>
                  <a:pt x="57380" y="45904"/>
                </a:lnTo>
                <a:cubicBezTo>
                  <a:pt x="51032" y="45904"/>
                  <a:pt x="45904" y="40775"/>
                  <a:pt x="45904" y="34428"/>
                </a:cubicBezTo>
                <a:close/>
                <a:moveTo>
                  <a:pt x="57380" y="63117"/>
                </a:moveTo>
                <a:lnTo>
                  <a:pt x="103283" y="63117"/>
                </a:lnTo>
                <a:cubicBezTo>
                  <a:pt x="109631" y="63117"/>
                  <a:pt x="114759" y="68246"/>
                  <a:pt x="114759" y="74593"/>
                </a:cubicBezTo>
                <a:cubicBezTo>
                  <a:pt x="114759" y="80941"/>
                  <a:pt x="109631" y="86069"/>
                  <a:pt x="103283" y="86069"/>
                </a:cubicBezTo>
                <a:lnTo>
                  <a:pt x="57380" y="86069"/>
                </a:lnTo>
                <a:cubicBezTo>
                  <a:pt x="51032" y="86069"/>
                  <a:pt x="45904" y="80941"/>
                  <a:pt x="45904" y="74593"/>
                </a:cubicBezTo>
                <a:cubicBezTo>
                  <a:pt x="45904" y="68246"/>
                  <a:pt x="51032" y="63117"/>
                  <a:pt x="57380" y="63117"/>
                </a:cubicBezTo>
                <a:close/>
                <a:moveTo>
                  <a:pt x="57380" y="103283"/>
                </a:moveTo>
                <a:lnTo>
                  <a:pt x="149187" y="103283"/>
                </a:lnTo>
                <a:cubicBezTo>
                  <a:pt x="155534" y="103283"/>
                  <a:pt x="160663" y="108411"/>
                  <a:pt x="160663" y="114759"/>
                </a:cubicBezTo>
                <a:cubicBezTo>
                  <a:pt x="160663" y="121107"/>
                  <a:pt x="155534" y="126235"/>
                  <a:pt x="149187" y="126235"/>
                </a:cubicBezTo>
                <a:lnTo>
                  <a:pt x="57380" y="126235"/>
                </a:lnTo>
                <a:cubicBezTo>
                  <a:pt x="51032" y="126235"/>
                  <a:pt x="45904" y="121107"/>
                  <a:pt x="45904" y="114759"/>
                </a:cubicBezTo>
                <a:cubicBezTo>
                  <a:pt x="45904" y="108411"/>
                  <a:pt x="51032" y="103283"/>
                  <a:pt x="57380" y="103283"/>
                </a:cubicBezTo>
                <a:close/>
              </a:path>
            </a:pathLst>
          </a:custGeom>
          <a:solidFill>
            <a:srgbClr val="4A6C8C"/>
          </a:solidFill>
        </p:spPr>
      </p:sp>
      <p:sp>
        <p:nvSpPr>
          <p:cNvPr id="7" name="Text 5"/>
          <p:cNvSpPr/>
          <p:nvPr/>
        </p:nvSpPr>
        <p:spPr>
          <a:xfrm>
            <a:off x="825245" y="1366908"/>
            <a:ext cx="2230916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离线指标（适配不平衡数据）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2281" y="1734137"/>
            <a:ext cx="1698434" cy="826265"/>
          </a:xfrm>
          <a:custGeom>
            <a:avLst/>
            <a:gdLst/>
            <a:ahLst/>
            <a:cxnLst/>
            <a:rect l="l" t="t" r="r" b="b"/>
            <a:pathLst>
              <a:path w="1698434" h="826265">
                <a:moveTo>
                  <a:pt x="73447" y="0"/>
                </a:moveTo>
                <a:lnTo>
                  <a:pt x="1624987" y="0"/>
                </a:lnTo>
                <a:cubicBezTo>
                  <a:pt x="1665551" y="0"/>
                  <a:pt x="1698434" y="32883"/>
                  <a:pt x="1698434" y="73447"/>
                </a:cubicBezTo>
                <a:lnTo>
                  <a:pt x="1698434" y="752818"/>
                </a:lnTo>
                <a:cubicBezTo>
                  <a:pt x="1698434" y="793382"/>
                  <a:pt x="1665551" y="826265"/>
                  <a:pt x="1624987" y="826265"/>
                </a:cubicBezTo>
                <a:lnTo>
                  <a:pt x="73447" y="826265"/>
                </a:lnTo>
                <a:cubicBezTo>
                  <a:pt x="32883" y="826265"/>
                  <a:pt x="0" y="793382"/>
                  <a:pt x="0" y="752818"/>
                </a:cubicBezTo>
                <a:lnTo>
                  <a:pt x="0" y="73447"/>
                </a:lnTo>
                <a:cubicBezTo>
                  <a:pt x="0" y="32910"/>
                  <a:pt x="32910" y="0"/>
                  <a:pt x="7344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77366" y="1844305"/>
            <a:ext cx="1588265" cy="293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5E8B7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AUC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4908" y="2174749"/>
            <a:ext cx="1533181" cy="27542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6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主指标，衡量排序能力（不受阈值影响）</a:t>
            </a:r>
            <a:endParaRPr lang="en-US" sz="86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4581" y="1734137"/>
            <a:ext cx="1698434" cy="826265"/>
          </a:xfrm>
          <a:custGeom>
            <a:avLst/>
            <a:gdLst/>
            <a:ahLst/>
            <a:cxnLst/>
            <a:rect l="l" t="t" r="r" b="b"/>
            <a:pathLst>
              <a:path w="1698434" h="826265">
                <a:moveTo>
                  <a:pt x="73447" y="0"/>
                </a:moveTo>
                <a:lnTo>
                  <a:pt x="1624987" y="0"/>
                </a:lnTo>
                <a:cubicBezTo>
                  <a:pt x="1665551" y="0"/>
                  <a:pt x="1698434" y="32883"/>
                  <a:pt x="1698434" y="73447"/>
                </a:cubicBezTo>
                <a:lnTo>
                  <a:pt x="1698434" y="752818"/>
                </a:lnTo>
                <a:cubicBezTo>
                  <a:pt x="1698434" y="793382"/>
                  <a:pt x="1665551" y="826265"/>
                  <a:pt x="1624987" y="826265"/>
                </a:cubicBezTo>
                <a:lnTo>
                  <a:pt x="73447" y="826265"/>
                </a:lnTo>
                <a:cubicBezTo>
                  <a:pt x="32883" y="826265"/>
                  <a:pt x="0" y="793382"/>
                  <a:pt x="0" y="752818"/>
                </a:cubicBezTo>
                <a:lnTo>
                  <a:pt x="0" y="73447"/>
                </a:lnTo>
                <a:cubicBezTo>
                  <a:pt x="0" y="32910"/>
                  <a:pt x="32910" y="0"/>
                  <a:pt x="7344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2389666" y="1844305"/>
            <a:ext cx="1588265" cy="293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4A6C8C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17208" y="2174749"/>
            <a:ext cx="1533181" cy="13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6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精确率与召回率调和平均</a:t>
            </a:r>
            <a:endParaRPr lang="en-US" sz="86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146945" y="1734137"/>
            <a:ext cx="1698434" cy="826265"/>
          </a:xfrm>
          <a:custGeom>
            <a:avLst/>
            <a:gdLst/>
            <a:ahLst/>
            <a:cxnLst/>
            <a:rect l="l" t="t" r="r" b="b"/>
            <a:pathLst>
              <a:path w="1698434" h="826265">
                <a:moveTo>
                  <a:pt x="73447" y="0"/>
                </a:moveTo>
                <a:lnTo>
                  <a:pt x="1624987" y="0"/>
                </a:lnTo>
                <a:cubicBezTo>
                  <a:pt x="1665551" y="0"/>
                  <a:pt x="1698434" y="32883"/>
                  <a:pt x="1698434" y="73447"/>
                </a:cubicBezTo>
                <a:lnTo>
                  <a:pt x="1698434" y="752818"/>
                </a:lnTo>
                <a:cubicBezTo>
                  <a:pt x="1698434" y="793382"/>
                  <a:pt x="1665551" y="826265"/>
                  <a:pt x="1624987" y="826265"/>
                </a:cubicBezTo>
                <a:lnTo>
                  <a:pt x="73447" y="826265"/>
                </a:lnTo>
                <a:cubicBezTo>
                  <a:pt x="32883" y="826265"/>
                  <a:pt x="0" y="793382"/>
                  <a:pt x="0" y="752818"/>
                </a:cubicBezTo>
                <a:lnTo>
                  <a:pt x="0" y="73447"/>
                </a:lnTo>
                <a:cubicBezTo>
                  <a:pt x="0" y="32910"/>
                  <a:pt x="32910" y="0"/>
                  <a:pt x="73447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4202030" y="1844305"/>
            <a:ext cx="1588265" cy="29378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8D99AE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P@K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29572" y="2174749"/>
            <a:ext cx="1533181" cy="13771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6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Top K预测中的实际转化率</a:t>
            </a:r>
            <a:endParaRPr lang="en-US" sz="86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71309" y="2866363"/>
            <a:ext cx="5626763" cy="2174811"/>
          </a:xfrm>
          <a:custGeom>
            <a:avLst/>
            <a:gdLst/>
            <a:ahLst/>
            <a:cxnLst/>
            <a:rect l="l" t="t" r="r" b="b"/>
            <a:pathLst>
              <a:path w="5626763" h="2174811">
                <a:moveTo>
                  <a:pt x="110176" y="0"/>
                </a:moveTo>
                <a:lnTo>
                  <a:pt x="5516587" y="0"/>
                </a:lnTo>
                <a:cubicBezTo>
                  <a:pt x="5577436" y="0"/>
                  <a:pt x="5626763" y="49327"/>
                  <a:pt x="5626763" y="110176"/>
                </a:cubicBezTo>
                <a:lnTo>
                  <a:pt x="5626763" y="2064635"/>
                </a:lnTo>
                <a:cubicBezTo>
                  <a:pt x="5626763" y="2125484"/>
                  <a:pt x="5577436" y="2174811"/>
                  <a:pt x="5516587" y="2174811"/>
                </a:cubicBezTo>
                <a:lnTo>
                  <a:pt x="110176" y="2174811"/>
                </a:lnTo>
                <a:cubicBezTo>
                  <a:pt x="49327" y="2174811"/>
                  <a:pt x="0" y="2125484"/>
                  <a:pt x="0" y="2064635"/>
                </a:cubicBezTo>
                <a:lnTo>
                  <a:pt x="0" y="110176"/>
                </a:lnTo>
                <a:cubicBezTo>
                  <a:pt x="0" y="49327"/>
                  <a:pt x="49327" y="0"/>
                  <a:pt x="110176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1289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5233" y="3054056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91807" y="0"/>
                </a:moveTo>
                <a:cubicBezTo>
                  <a:pt x="93457" y="0"/>
                  <a:pt x="95107" y="359"/>
                  <a:pt x="96613" y="1040"/>
                </a:cubicBezTo>
                <a:lnTo>
                  <a:pt x="164177" y="29694"/>
                </a:lnTo>
                <a:cubicBezTo>
                  <a:pt x="172067" y="33029"/>
                  <a:pt x="177948" y="40811"/>
                  <a:pt x="177912" y="50207"/>
                </a:cubicBezTo>
                <a:cubicBezTo>
                  <a:pt x="177733" y="85782"/>
                  <a:pt x="163101" y="150872"/>
                  <a:pt x="101311" y="180459"/>
                </a:cubicBezTo>
                <a:cubicBezTo>
                  <a:pt x="95322" y="183328"/>
                  <a:pt x="88364" y="183328"/>
                  <a:pt x="82375" y="180459"/>
                </a:cubicBezTo>
                <a:cubicBezTo>
                  <a:pt x="20549" y="150872"/>
                  <a:pt x="5953" y="85782"/>
                  <a:pt x="5774" y="50207"/>
                </a:cubicBezTo>
                <a:cubicBezTo>
                  <a:pt x="5738" y="40811"/>
                  <a:pt x="11619" y="33029"/>
                  <a:pt x="19509" y="29694"/>
                </a:cubicBezTo>
                <a:lnTo>
                  <a:pt x="87038" y="1040"/>
                </a:lnTo>
                <a:cubicBezTo>
                  <a:pt x="88544" y="359"/>
                  <a:pt x="90158" y="0"/>
                  <a:pt x="91807" y="0"/>
                </a:cubicBezTo>
                <a:close/>
                <a:moveTo>
                  <a:pt x="91807" y="23956"/>
                </a:moveTo>
                <a:lnTo>
                  <a:pt x="91807" y="159551"/>
                </a:lnTo>
                <a:cubicBezTo>
                  <a:pt x="141297" y="135595"/>
                  <a:pt x="154602" y="82519"/>
                  <a:pt x="154925" y="50745"/>
                </a:cubicBezTo>
                <a:lnTo>
                  <a:pt x="91807" y="23992"/>
                </a:lnTo>
                <a:lnTo>
                  <a:pt x="91807" y="23992"/>
                </a:lnTo>
                <a:close/>
              </a:path>
            </a:pathLst>
          </a:custGeom>
          <a:solidFill>
            <a:srgbClr val="5E8B7E"/>
          </a:solidFill>
        </p:spPr>
      </p:sp>
      <p:sp>
        <p:nvSpPr>
          <p:cNvPr id="19" name="Text 17"/>
          <p:cNvSpPr/>
          <p:nvPr/>
        </p:nvSpPr>
        <p:spPr>
          <a:xfrm>
            <a:off x="825245" y="3017333"/>
            <a:ext cx="90889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稳定性指标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22281" y="3384562"/>
            <a:ext cx="5324819" cy="697735"/>
          </a:xfrm>
          <a:custGeom>
            <a:avLst/>
            <a:gdLst/>
            <a:ahLst/>
            <a:cxnLst/>
            <a:rect l="l" t="t" r="r" b="b"/>
            <a:pathLst>
              <a:path w="5324819" h="697735">
                <a:moveTo>
                  <a:pt x="73444" y="0"/>
                </a:moveTo>
                <a:lnTo>
                  <a:pt x="5251376" y="0"/>
                </a:lnTo>
                <a:cubicBezTo>
                  <a:pt x="5291937" y="0"/>
                  <a:pt x="5324819" y="32882"/>
                  <a:pt x="5324819" y="73444"/>
                </a:cubicBezTo>
                <a:lnTo>
                  <a:pt x="5324819" y="624291"/>
                </a:lnTo>
                <a:cubicBezTo>
                  <a:pt x="5324819" y="664853"/>
                  <a:pt x="5291937" y="697735"/>
                  <a:pt x="5251376" y="697735"/>
                </a:cubicBezTo>
                <a:lnTo>
                  <a:pt x="73444" y="697735"/>
                </a:lnTo>
                <a:cubicBezTo>
                  <a:pt x="32882" y="697735"/>
                  <a:pt x="0" y="664853"/>
                  <a:pt x="0" y="624291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32450" y="3513030"/>
            <a:ext cx="872169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Train/Val Gap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1237" y="3494731"/>
            <a:ext cx="752819" cy="220337"/>
          </a:xfrm>
          <a:prstGeom prst="rect">
            <a:avLst/>
          </a:prstGeom>
          <a:noFill/>
        </p:spPr>
        <p:txBody>
          <a:bodyPr wrap="square" lIns="73446" tIns="36723" rIns="73446" bIns="3672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过拟合监控</a:t>
            </a:r>
            <a:endParaRPr lang="en-US" sz="86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2450" y="3788451"/>
            <a:ext cx="5168747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监控训练集与验证集性能差距，Gap &gt; 5%视为过拟合风险</a:t>
            </a:r>
            <a:endParaRPr lang="en-US" sz="101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22281" y="4192403"/>
            <a:ext cx="5324819" cy="697735"/>
          </a:xfrm>
          <a:custGeom>
            <a:avLst/>
            <a:gdLst/>
            <a:ahLst/>
            <a:cxnLst/>
            <a:rect l="l" t="t" r="r" b="b"/>
            <a:pathLst>
              <a:path w="5324819" h="697735">
                <a:moveTo>
                  <a:pt x="73444" y="0"/>
                </a:moveTo>
                <a:lnTo>
                  <a:pt x="5251376" y="0"/>
                </a:lnTo>
                <a:cubicBezTo>
                  <a:pt x="5291937" y="0"/>
                  <a:pt x="5324819" y="32882"/>
                  <a:pt x="5324819" y="73444"/>
                </a:cubicBezTo>
                <a:lnTo>
                  <a:pt x="5324819" y="624291"/>
                </a:lnTo>
                <a:cubicBezTo>
                  <a:pt x="5324819" y="664853"/>
                  <a:pt x="5291937" y="697735"/>
                  <a:pt x="5251376" y="697735"/>
                </a:cubicBezTo>
                <a:lnTo>
                  <a:pt x="73444" y="697735"/>
                </a:lnTo>
                <a:cubicBezTo>
                  <a:pt x="32882" y="697735"/>
                  <a:pt x="0" y="664853"/>
                  <a:pt x="0" y="624291"/>
                </a:cubicBezTo>
                <a:lnTo>
                  <a:pt x="0" y="73444"/>
                </a:lnTo>
                <a:cubicBezTo>
                  <a:pt x="0" y="32909"/>
                  <a:pt x="32909" y="0"/>
                  <a:pt x="73444" y="0"/>
                </a:cubicBezTo>
                <a:close/>
              </a:path>
            </a:pathLst>
          </a:custGeom>
          <a:solidFill>
            <a:srgbClr val="2B2D42">
              <a:alpha val="5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632450" y="4320870"/>
            <a:ext cx="578386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学习曲线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81594" y="4302572"/>
            <a:ext cx="908892" cy="220337"/>
          </a:xfrm>
          <a:prstGeom prst="rect">
            <a:avLst/>
          </a:prstGeom>
          <a:noFill/>
        </p:spPr>
        <p:txBody>
          <a:bodyPr wrap="square" lIns="73446" tIns="36723" rIns="73446" bIns="3672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偏差-方差分析</a:t>
            </a:r>
            <a:endParaRPr lang="en-US" sz="865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2450" y="4596292"/>
            <a:ext cx="5168747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chemeClr val="bg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样本比例-性能曲线验证高方差/高偏差问题</a:t>
            </a:r>
            <a:endParaRPr lang="en-US" sz="1010" dirty="0">
              <a:solidFill>
                <a:schemeClr val="bg1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71309" y="5196097"/>
            <a:ext cx="5626763" cy="1660691"/>
          </a:xfrm>
          <a:custGeom>
            <a:avLst/>
            <a:gdLst/>
            <a:ahLst/>
            <a:cxnLst/>
            <a:rect l="l" t="t" r="r" b="b"/>
            <a:pathLst>
              <a:path w="5626763" h="1660691">
                <a:moveTo>
                  <a:pt x="110170" y="0"/>
                </a:moveTo>
                <a:lnTo>
                  <a:pt x="5516593" y="0"/>
                </a:lnTo>
                <a:cubicBezTo>
                  <a:pt x="5577438" y="0"/>
                  <a:pt x="5626763" y="49325"/>
                  <a:pt x="5626763" y="110170"/>
                </a:cubicBezTo>
                <a:lnTo>
                  <a:pt x="5626763" y="1550521"/>
                </a:lnTo>
                <a:cubicBezTo>
                  <a:pt x="5626763" y="1611366"/>
                  <a:pt x="5577438" y="1660691"/>
                  <a:pt x="5516593" y="1660691"/>
                </a:cubicBezTo>
                <a:lnTo>
                  <a:pt x="110170" y="1660691"/>
                </a:lnTo>
                <a:cubicBezTo>
                  <a:pt x="49325" y="1660691"/>
                  <a:pt x="0" y="1611366"/>
                  <a:pt x="0" y="1550521"/>
                </a:cubicBezTo>
                <a:lnTo>
                  <a:pt x="0" y="110170"/>
                </a:lnTo>
                <a:cubicBezTo>
                  <a:pt x="0" y="49366"/>
                  <a:pt x="49366" y="0"/>
                  <a:pt x="110170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1289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5233" y="5383795"/>
            <a:ext cx="183614" cy="183614"/>
          </a:xfrm>
          <a:custGeom>
            <a:avLst/>
            <a:gdLst/>
            <a:ahLst/>
            <a:cxnLst/>
            <a:rect l="l" t="t" r="r" b="b"/>
            <a:pathLst>
              <a:path w="183614" h="183614">
                <a:moveTo>
                  <a:pt x="0" y="91807"/>
                </a:moveTo>
                <a:cubicBezTo>
                  <a:pt x="0" y="41137"/>
                  <a:pt x="41137" y="0"/>
                  <a:pt x="91807" y="0"/>
                </a:cubicBezTo>
                <a:cubicBezTo>
                  <a:pt x="142477" y="0"/>
                  <a:pt x="183614" y="41137"/>
                  <a:pt x="183614" y="91807"/>
                </a:cubicBezTo>
                <a:cubicBezTo>
                  <a:pt x="183614" y="142477"/>
                  <a:pt x="142477" y="183614"/>
                  <a:pt x="91807" y="183614"/>
                </a:cubicBezTo>
                <a:cubicBezTo>
                  <a:pt x="41137" y="183614"/>
                  <a:pt x="0" y="142477"/>
                  <a:pt x="0" y="91807"/>
                </a:cubicBezTo>
                <a:close/>
                <a:moveTo>
                  <a:pt x="103283" y="34428"/>
                </a:moveTo>
                <a:cubicBezTo>
                  <a:pt x="103283" y="28094"/>
                  <a:pt x="98141" y="22952"/>
                  <a:pt x="91807" y="22952"/>
                </a:cubicBezTo>
                <a:cubicBezTo>
                  <a:pt x="85474" y="22952"/>
                  <a:pt x="80331" y="28094"/>
                  <a:pt x="80331" y="34428"/>
                </a:cubicBezTo>
                <a:cubicBezTo>
                  <a:pt x="80331" y="40761"/>
                  <a:pt x="85474" y="45904"/>
                  <a:pt x="91807" y="45904"/>
                </a:cubicBezTo>
                <a:cubicBezTo>
                  <a:pt x="98141" y="45904"/>
                  <a:pt x="103283" y="40761"/>
                  <a:pt x="103283" y="34428"/>
                </a:cubicBezTo>
                <a:close/>
                <a:moveTo>
                  <a:pt x="91807" y="149187"/>
                </a:moveTo>
                <a:cubicBezTo>
                  <a:pt x="104467" y="149187"/>
                  <a:pt x="114759" y="138894"/>
                  <a:pt x="114759" y="126235"/>
                </a:cubicBezTo>
                <a:cubicBezTo>
                  <a:pt x="114759" y="120425"/>
                  <a:pt x="112607" y="115082"/>
                  <a:pt x="109021" y="111065"/>
                </a:cubicBezTo>
                <a:lnTo>
                  <a:pt x="133945" y="61253"/>
                </a:lnTo>
                <a:cubicBezTo>
                  <a:pt x="136061" y="56985"/>
                  <a:pt x="134340" y="51821"/>
                  <a:pt x="130108" y="49705"/>
                </a:cubicBezTo>
                <a:cubicBezTo>
                  <a:pt x="125876" y="47589"/>
                  <a:pt x="120676" y="49311"/>
                  <a:pt x="118560" y="53542"/>
                </a:cubicBezTo>
                <a:lnTo>
                  <a:pt x="93636" y="103355"/>
                </a:lnTo>
                <a:cubicBezTo>
                  <a:pt x="93027" y="103319"/>
                  <a:pt x="92417" y="103283"/>
                  <a:pt x="91807" y="103283"/>
                </a:cubicBezTo>
                <a:cubicBezTo>
                  <a:pt x="79148" y="103283"/>
                  <a:pt x="68855" y="113576"/>
                  <a:pt x="68855" y="126235"/>
                </a:cubicBezTo>
                <a:cubicBezTo>
                  <a:pt x="68855" y="138894"/>
                  <a:pt x="79148" y="149187"/>
                  <a:pt x="91807" y="149187"/>
                </a:cubicBezTo>
                <a:close/>
                <a:moveTo>
                  <a:pt x="63117" y="51642"/>
                </a:moveTo>
                <a:cubicBezTo>
                  <a:pt x="63117" y="45308"/>
                  <a:pt x="57975" y="40166"/>
                  <a:pt x="51642" y="40166"/>
                </a:cubicBezTo>
                <a:cubicBezTo>
                  <a:pt x="45308" y="40166"/>
                  <a:pt x="40166" y="45308"/>
                  <a:pt x="40166" y="51642"/>
                </a:cubicBezTo>
                <a:cubicBezTo>
                  <a:pt x="40166" y="57975"/>
                  <a:pt x="45308" y="63117"/>
                  <a:pt x="51642" y="63117"/>
                </a:cubicBezTo>
                <a:cubicBezTo>
                  <a:pt x="57975" y="63117"/>
                  <a:pt x="63117" y="57975"/>
                  <a:pt x="63117" y="51642"/>
                </a:cubicBezTo>
                <a:close/>
                <a:moveTo>
                  <a:pt x="34428" y="103283"/>
                </a:moveTo>
                <a:cubicBezTo>
                  <a:pt x="40761" y="103283"/>
                  <a:pt x="45904" y="98141"/>
                  <a:pt x="45904" y="91807"/>
                </a:cubicBezTo>
                <a:cubicBezTo>
                  <a:pt x="45904" y="85474"/>
                  <a:pt x="40761" y="80331"/>
                  <a:pt x="34428" y="80331"/>
                </a:cubicBezTo>
                <a:cubicBezTo>
                  <a:pt x="28094" y="80331"/>
                  <a:pt x="22952" y="85474"/>
                  <a:pt x="22952" y="91807"/>
                </a:cubicBezTo>
                <a:cubicBezTo>
                  <a:pt x="22952" y="98141"/>
                  <a:pt x="28094" y="103283"/>
                  <a:pt x="34428" y="103283"/>
                </a:cubicBezTo>
                <a:close/>
                <a:moveTo>
                  <a:pt x="160663" y="91807"/>
                </a:moveTo>
                <a:cubicBezTo>
                  <a:pt x="160663" y="85474"/>
                  <a:pt x="155520" y="80331"/>
                  <a:pt x="149187" y="80331"/>
                </a:cubicBezTo>
                <a:cubicBezTo>
                  <a:pt x="142853" y="80331"/>
                  <a:pt x="137711" y="85474"/>
                  <a:pt x="137711" y="91807"/>
                </a:cubicBezTo>
                <a:cubicBezTo>
                  <a:pt x="137711" y="98141"/>
                  <a:pt x="142853" y="103283"/>
                  <a:pt x="149187" y="103283"/>
                </a:cubicBezTo>
                <a:cubicBezTo>
                  <a:pt x="155520" y="103283"/>
                  <a:pt x="160663" y="98141"/>
                  <a:pt x="160663" y="91807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2" name="Text 30"/>
          <p:cNvSpPr/>
          <p:nvPr/>
        </p:nvSpPr>
        <p:spPr>
          <a:xfrm>
            <a:off x="825245" y="5347072"/>
            <a:ext cx="743639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效率指标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0149" y="5714301"/>
            <a:ext cx="2671590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推理延迟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80968" y="5934638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 0.16ms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0968" y="6191698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 3.72m</a:t>
            </a:r>
            <a:r>
              <a:rPr lang="en-US" sz="13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80968" y="6448759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SASRec 10min/epoch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208663" y="5714301"/>
            <a:ext cx="2671590" cy="18361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模型大小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199482" y="5934638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LR 1KB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199482" y="6448759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SASRec 38.6M</a:t>
            </a:r>
            <a:r>
              <a:rPr lang="en-US" sz="1300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91888" y="1215936"/>
            <a:ext cx="5626763" cy="2688932"/>
          </a:xfrm>
          <a:custGeom>
            <a:avLst/>
            <a:gdLst/>
            <a:ahLst/>
            <a:cxnLst/>
            <a:rect l="l" t="t" r="r" b="b"/>
            <a:pathLst>
              <a:path w="5626763" h="2688932">
                <a:moveTo>
                  <a:pt x="110166" y="0"/>
                </a:moveTo>
                <a:lnTo>
                  <a:pt x="5516598" y="0"/>
                </a:lnTo>
                <a:cubicBezTo>
                  <a:pt x="5577440" y="0"/>
                  <a:pt x="5626763" y="49323"/>
                  <a:pt x="5626763" y="110166"/>
                </a:cubicBezTo>
                <a:lnTo>
                  <a:pt x="5626763" y="2578766"/>
                </a:lnTo>
                <a:cubicBezTo>
                  <a:pt x="5626763" y="2639609"/>
                  <a:pt x="5577440" y="2688932"/>
                  <a:pt x="5516598" y="2688932"/>
                </a:cubicBezTo>
                <a:lnTo>
                  <a:pt x="110166" y="2688932"/>
                </a:lnTo>
                <a:cubicBezTo>
                  <a:pt x="49323" y="2688932"/>
                  <a:pt x="0" y="2639609"/>
                  <a:pt x="0" y="2578766"/>
                </a:cubicBezTo>
                <a:lnTo>
                  <a:pt x="0" y="110166"/>
                </a:lnTo>
                <a:cubicBezTo>
                  <a:pt x="0" y="49364"/>
                  <a:pt x="49364" y="0"/>
                  <a:pt x="110166" y="0"/>
                </a:cubicBezTo>
                <a:close/>
              </a:path>
            </a:pathLst>
          </a:custGeom>
          <a:solidFill>
            <a:srgbClr val="2B2D42">
              <a:alpha val="30196"/>
            </a:srgbClr>
          </a:solidFill>
          <a:ln w="11289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2860" y="1366908"/>
            <a:ext cx="1193494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5" b="1" dirty="0">
                <a:solidFill>
                  <a:srgbClr val="E0E0E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模型全面对比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936793" y="1366908"/>
            <a:ext cx="1799422" cy="257060"/>
          </a:xfrm>
          <a:prstGeom prst="rect">
            <a:avLst/>
          </a:prstGeom>
          <a:noFill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Three-Model Comparison</a:t>
            </a:r>
            <a:endParaRPr lang="en-US" sz="1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/>
        </p:nvGraphicFramePr>
        <p:xfrm>
          <a:off x="6342860" y="1734137"/>
          <a:ext cx="5324820" cy="2019762"/>
        </p:xfrm>
        <a:graphic>
          <a:graphicData uri="http://schemas.openxmlformats.org/drawingml/2006/table">
            <a:tbl>
              <a:tblPr/>
              <a:tblGrid>
                <a:gridCol w="1649686"/>
                <a:gridCol w="971482"/>
                <a:gridCol w="1136450"/>
                <a:gridCol w="1567202"/>
              </a:tblGrid>
              <a:tr h="336627">
                <a:tc>
                  <a:txBody>
                    <a:bodyPr/>
                    <a:lstStyle/>
                    <a:p>
                      <a:pPr algn="l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4A6C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LR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XGBoost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SASRec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662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Test AUC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0.7917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0.8230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0.7525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662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F1-Score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0.5234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0.5823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-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662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Train/Val Gap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0.46%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2.08%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FF646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快速发散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662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推理延迟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0.16ms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3.72ms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10min/epoch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36627">
                <a:tc>
                  <a:txBody>
                    <a:bodyPr/>
                    <a:lstStyle/>
                    <a:p>
                      <a:r>
                        <a:rPr lang="en-US" sz="1000" u="none" dirty="0">
                          <a:solidFill>
                            <a:srgbClr val="8D99A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模型大小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5E8B7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1KB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872KB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u="none" dirty="0">
                          <a:solidFill>
                            <a:srgbClr val="E0E0E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38.6MB</a:t>
                      </a:r>
                      <a:endParaRPr lang="en-US"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73446" marR="73446" marT="73446" marB="7344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7" name="Text 44"/>
          <p:cNvSpPr/>
          <p:nvPr/>
        </p:nvSpPr>
        <p:spPr>
          <a:xfrm>
            <a:off x="6342860" y="4214974"/>
            <a:ext cx="1716795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过拟合监控：Gap对比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0660159" y="4214974"/>
            <a:ext cx="1074145" cy="257060"/>
          </a:xfrm>
          <a:prstGeom prst="rect">
            <a:avLst/>
          </a:prstGeom>
          <a:noFill/>
        </p:spPr>
        <p:txBody>
          <a:bodyPr wrap="square" lIns="110169" tIns="36723" rIns="110169" bIns="36723" rtlCol="0" anchor="ctr"/>
          <a:lstStyle/>
          <a:p>
            <a:pPr>
              <a:lnSpc>
                <a:spcPct val="120000"/>
              </a:lnSpc>
            </a:pPr>
            <a:r>
              <a:rPr lang="en-US" sz="101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Stability Alert</a:t>
            </a:r>
            <a:endParaRPr lang="en-US" sz="1600" dirty="0"/>
          </a:p>
        </p:txBody>
      </p:sp>
      <p:pic>
        <p:nvPicPr>
          <p:cNvPr id="50" name="Image 0" descr="https://kimi-img.moonshot.cn/pub/slides/26-04-02-14:00:42-d770c2kchmtggaob2fk0.png"/>
          <p:cNvPicPr>
            <a:picLocks noChangeAspect="1"/>
          </p:cNvPicPr>
          <p:nvPr/>
        </p:nvPicPr>
        <p:blipFill>
          <a:blip r:embed="rId1"/>
          <a:srcRect l="71" r="71"/>
          <a:stretch>
            <a:fillRect/>
          </a:stretch>
        </p:blipFill>
        <p:spPr>
          <a:xfrm>
            <a:off x="6342860" y="4545480"/>
            <a:ext cx="5104482" cy="2157470"/>
          </a:xfrm>
          <a:prstGeom prst="roundRect">
            <a:avLst>
              <a:gd name="adj" fmla="val 0"/>
            </a:avLst>
          </a:prstGeom>
        </p:spPr>
      </p:pic>
      <p:sp>
        <p:nvSpPr>
          <p:cNvPr id="39" name="Text 37"/>
          <p:cNvSpPr/>
          <p:nvPr/>
        </p:nvSpPr>
        <p:spPr>
          <a:xfrm>
            <a:off x="3199482" y="6191698"/>
            <a:ext cx="2689952" cy="2570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00" b="1" dirty="0">
                <a:solidFill>
                  <a:schemeClr val="accent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XGB 872KB</a:t>
            </a:r>
            <a:endParaRPr lang="en-US" sz="1300" b="1" dirty="0">
              <a:solidFill>
                <a:schemeClr val="accent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1" bldLvl="0" animBg="1" advAuto="0"/>
      <p:bldP spid="232" grpId="2" bldLvl="0" animBg="1" advAuto="0"/>
      <p:bldP spid="230" grpId="3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矩形 33"/>
          <p:cNvSpPr/>
          <p:nvPr/>
        </p:nvSpPr>
        <p:spPr>
          <a:xfrm>
            <a:off x="-389" y="0"/>
            <a:ext cx="12189602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09" name="矩形 24"/>
          <p:cNvSpPr/>
          <p:nvPr/>
        </p:nvSpPr>
        <p:spPr>
          <a:xfrm>
            <a:off x="-389" y="1797668"/>
            <a:ext cx="12189602" cy="3454201"/>
          </a:xfrm>
          <a:prstGeom prst="rect">
            <a:avLst/>
          </a:prstGeom>
          <a:solidFill>
            <a:srgbClr val="F26F20">
              <a:alpha val="8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10" name="直接连接符 25"/>
          <p:cNvSpPr/>
          <p:nvPr/>
        </p:nvSpPr>
        <p:spPr>
          <a:xfrm flipH="1">
            <a:off x="4367119" y="2181321"/>
            <a:ext cx="1" cy="2686900"/>
          </a:xfrm>
          <a:prstGeom prst="line">
            <a:avLst/>
          </a:prstGeom>
          <a:ln>
            <a:solidFill>
              <a:schemeClr val="accent1">
                <a:lumOff val="44000"/>
              </a:schemeClr>
            </a:solidFill>
            <a:prstDash val="sysDash"/>
          </a:ln>
        </p:spPr>
        <p:txBody>
          <a:bodyPr lIns="45719" rIns="45719"/>
          <a:lstStyle/>
          <a:p/>
        </p:txBody>
      </p:sp>
      <p:sp>
        <p:nvSpPr>
          <p:cNvPr id="211" name="TextBox 10"/>
          <p:cNvSpPr txBox="1"/>
          <p:nvPr/>
        </p:nvSpPr>
        <p:spPr>
          <a:xfrm>
            <a:off x="5031966" y="2421350"/>
            <a:ext cx="5913271" cy="7697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chemeClr val="accent1">
                    <a:lumOff val="44000"/>
                  </a:schemeClr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t>第三部分 </a:t>
            </a:r>
            <a:r>
              <a:rPr sz="3100"/>
              <a:t>| </a:t>
            </a:r>
            <a:r>
              <a:rPr sz="5300"/>
              <a:t>成果展示</a:t>
            </a:r>
            <a:endParaRPr sz="5300"/>
          </a:p>
        </p:txBody>
      </p:sp>
      <p:sp>
        <p:nvSpPr>
          <p:cNvPr id="212" name="文本框 9"/>
          <p:cNvSpPr txBox="1"/>
          <p:nvPr/>
        </p:nvSpPr>
        <p:spPr>
          <a:xfrm>
            <a:off x="5070890" y="3516043"/>
            <a:ext cx="2031634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sp>
        <p:nvSpPr>
          <p:cNvPr id="213" name="文本框 9"/>
          <p:cNvSpPr txBox="1"/>
          <p:nvPr/>
        </p:nvSpPr>
        <p:spPr>
          <a:xfrm>
            <a:off x="7591169" y="3516043"/>
            <a:ext cx="2031634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</a:p>
        </p:txBody>
      </p:sp>
      <p:grpSp>
        <p:nvGrpSpPr>
          <p:cNvPr id="216" name="组合 3"/>
          <p:cNvGrpSpPr/>
          <p:nvPr/>
        </p:nvGrpSpPr>
        <p:grpSpPr>
          <a:xfrm>
            <a:off x="1575943" y="2565268"/>
            <a:ext cx="1919004" cy="1919002"/>
            <a:chOff x="0" y="0"/>
            <a:chExt cx="1919002" cy="1919000"/>
          </a:xfrm>
        </p:grpSpPr>
        <p:sp>
          <p:nvSpPr>
            <p:cNvPr id="214" name="椭圆 29"/>
            <p:cNvSpPr/>
            <p:nvPr/>
          </p:nvSpPr>
          <p:spPr>
            <a:xfrm>
              <a:off x="-1" y="-1"/>
              <a:ext cx="1919004" cy="1919002"/>
            </a:xfrm>
            <a:prstGeom prst="ellipse">
              <a:avLst/>
            </a:prstGeom>
            <a:gradFill flip="none" rotWithShape="1">
              <a:gsLst>
                <a:gs pos="0">
                  <a:srgbClr val="E0E0E0"/>
                </a:gs>
                <a:gs pos="100000">
                  <a:schemeClr val="accent1">
                    <a:lumOff val="44000"/>
                  </a:schemeClr>
                </a:gs>
              </a:gsLst>
              <a:lin ang="8100000" scaled="0"/>
            </a:gradFill>
            <a:ln w="63500" cap="flat">
              <a:solidFill>
                <a:srgbClr val="ECECEC"/>
              </a:solidFill>
              <a:prstDash val="solid"/>
              <a:round/>
            </a:ln>
            <a:effectLst>
              <a:outerShdw blurRad="254000" dist="279400" dir="8100000" rotWithShape="0">
                <a:schemeClr val="accent6">
                  <a:alpha val="40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15" name="KSO_Shape"/>
            <p:cNvSpPr/>
            <p:nvPr/>
          </p:nvSpPr>
          <p:spPr>
            <a:xfrm>
              <a:off x="504781" y="566541"/>
              <a:ext cx="909439" cy="9094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820" y="10423"/>
                  </a:moveTo>
                  <a:lnTo>
                    <a:pt x="15172" y="10325"/>
                  </a:lnTo>
                  <a:lnTo>
                    <a:pt x="15574" y="10197"/>
                  </a:lnTo>
                  <a:lnTo>
                    <a:pt x="16025" y="10060"/>
                  </a:lnTo>
                  <a:lnTo>
                    <a:pt x="16534" y="9898"/>
                  </a:lnTo>
                  <a:lnTo>
                    <a:pt x="16799" y="9810"/>
                  </a:lnTo>
                  <a:lnTo>
                    <a:pt x="17054" y="9712"/>
                  </a:lnTo>
                  <a:lnTo>
                    <a:pt x="17304" y="9609"/>
                  </a:lnTo>
                  <a:lnTo>
                    <a:pt x="17539" y="9497"/>
                  </a:lnTo>
                  <a:lnTo>
                    <a:pt x="17764" y="9379"/>
                  </a:lnTo>
                  <a:lnTo>
                    <a:pt x="17989" y="9256"/>
                  </a:lnTo>
                  <a:lnTo>
                    <a:pt x="18200" y="9119"/>
                  </a:lnTo>
                  <a:lnTo>
                    <a:pt x="18401" y="8987"/>
                  </a:lnTo>
                  <a:lnTo>
                    <a:pt x="18602" y="8840"/>
                  </a:lnTo>
                  <a:lnTo>
                    <a:pt x="18783" y="8693"/>
                  </a:lnTo>
                  <a:lnTo>
                    <a:pt x="18964" y="8546"/>
                  </a:lnTo>
                  <a:lnTo>
                    <a:pt x="19136" y="8384"/>
                  </a:lnTo>
                  <a:lnTo>
                    <a:pt x="19302" y="8227"/>
                  </a:lnTo>
                  <a:lnTo>
                    <a:pt x="19454" y="8056"/>
                  </a:lnTo>
                  <a:lnTo>
                    <a:pt x="19606" y="7889"/>
                  </a:lnTo>
                  <a:lnTo>
                    <a:pt x="19748" y="7718"/>
                  </a:lnTo>
                  <a:lnTo>
                    <a:pt x="19885" y="7541"/>
                  </a:lnTo>
                  <a:lnTo>
                    <a:pt x="20013" y="7360"/>
                  </a:lnTo>
                  <a:lnTo>
                    <a:pt x="20135" y="7184"/>
                  </a:lnTo>
                  <a:lnTo>
                    <a:pt x="20253" y="6997"/>
                  </a:lnTo>
                  <a:lnTo>
                    <a:pt x="20365" y="6811"/>
                  </a:lnTo>
                  <a:lnTo>
                    <a:pt x="20463" y="6620"/>
                  </a:lnTo>
                  <a:lnTo>
                    <a:pt x="20566" y="6429"/>
                  </a:lnTo>
                  <a:lnTo>
                    <a:pt x="20659" y="6243"/>
                  </a:lnTo>
                  <a:lnTo>
                    <a:pt x="20743" y="6052"/>
                  </a:lnTo>
                  <a:lnTo>
                    <a:pt x="20826" y="5861"/>
                  </a:lnTo>
                  <a:lnTo>
                    <a:pt x="20904" y="5665"/>
                  </a:lnTo>
                  <a:lnTo>
                    <a:pt x="21042" y="5282"/>
                  </a:lnTo>
                  <a:lnTo>
                    <a:pt x="21159" y="4900"/>
                  </a:lnTo>
                  <a:lnTo>
                    <a:pt x="21208" y="4709"/>
                  </a:lnTo>
                  <a:lnTo>
                    <a:pt x="21262" y="4523"/>
                  </a:lnTo>
                  <a:lnTo>
                    <a:pt x="21306" y="4332"/>
                  </a:lnTo>
                  <a:lnTo>
                    <a:pt x="21345" y="4150"/>
                  </a:lnTo>
                  <a:lnTo>
                    <a:pt x="21384" y="3964"/>
                  </a:lnTo>
                  <a:lnTo>
                    <a:pt x="21443" y="3607"/>
                  </a:lnTo>
                  <a:lnTo>
                    <a:pt x="21492" y="3259"/>
                  </a:lnTo>
                  <a:lnTo>
                    <a:pt x="21531" y="2930"/>
                  </a:lnTo>
                  <a:lnTo>
                    <a:pt x="21561" y="2617"/>
                  </a:lnTo>
                  <a:lnTo>
                    <a:pt x="21580" y="2323"/>
                  </a:lnTo>
                  <a:lnTo>
                    <a:pt x="21590" y="2048"/>
                  </a:lnTo>
                  <a:lnTo>
                    <a:pt x="21600" y="1798"/>
                  </a:lnTo>
                  <a:lnTo>
                    <a:pt x="21600" y="1377"/>
                  </a:lnTo>
                  <a:lnTo>
                    <a:pt x="21590" y="1210"/>
                  </a:lnTo>
                  <a:lnTo>
                    <a:pt x="21576" y="985"/>
                  </a:lnTo>
                  <a:lnTo>
                    <a:pt x="21571" y="897"/>
                  </a:lnTo>
                  <a:lnTo>
                    <a:pt x="17103" y="897"/>
                  </a:lnTo>
                  <a:lnTo>
                    <a:pt x="17103" y="0"/>
                  </a:lnTo>
                  <a:lnTo>
                    <a:pt x="4502" y="0"/>
                  </a:lnTo>
                  <a:lnTo>
                    <a:pt x="4502" y="897"/>
                  </a:lnTo>
                  <a:lnTo>
                    <a:pt x="29" y="897"/>
                  </a:lnTo>
                  <a:lnTo>
                    <a:pt x="24" y="985"/>
                  </a:lnTo>
                  <a:lnTo>
                    <a:pt x="10" y="1210"/>
                  </a:lnTo>
                  <a:lnTo>
                    <a:pt x="5" y="1382"/>
                  </a:lnTo>
                  <a:lnTo>
                    <a:pt x="0" y="1573"/>
                  </a:lnTo>
                  <a:lnTo>
                    <a:pt x="5" y="1798"/>
                  </a:lnTo>
                  <a:lnTo>
                    <a:pt x="10" y="2053"/>
                  </a:lnTo>
                  <a:lnTo>
                    <a:pt x="20" y="2328"/>
                  </a:lnTo>
                  <a:lnTo>
                    <a:pt x="39" y="2622"/>
                  </a:lnTo>
                  <a:lnTo>
                    <a:pt x="69" y="2935"/>
                  </a:lnTo>
                  <a:lnTo>
                    <a:pt x="108" y="3268"/>
                  </a:lnTo>
                  <a:lnTo>
                    <a:pt x="157" y="3611"/>
                  </a:lnTo>
                  <a:lnTo>
                    <a:pt x="220" y="3974"/>
                  </a:lnTo>
                  <a:lnTo>
                    <a:pt x="255" y="4155"/>
                  </a:lnTo>
                  <a:lnTo>
                    <a:pt x="299" y="4342"/>
                  </a:lnTo>
                  <a:lnTo>
                    <a:pt x="338" y="4528"/>
                  </a:lnTo>
                  <a:lnTo>
                    <a:pt x="387" y="4714"/>
                  </a:lnTo>
                  <a:lnTo>
                    <a:pt x="446" y="4910"/>
                  </a:lnTo>
                  <a:lnTo>
                    <a:pt x="500" y="5101"/>
                  </a:lnTo>
                  <a:lnTo>
                    <a:pt x="563" y="5292"/>
                  </a:lnTo>
                  <a:lnTo>
                    <a:pt x="627" y="5488"/>
                  </a:lnTo>
                  <a:lnTo>
                    <a:pt x="696" y="5674"/>
                  </a:lnTo>
                  <a:lnTo>
                    <a:pt x="779" y="5870"/>
                  </a:lnTo>
                  <a:lnTo>
                    <a:pt x="857" y="6062"/>
                  </a:lnTo>
                  <a:lnTo>
                    <a:pt x="1034" y="6444"/>
                  </a:lnTo>
                  <a:lnTo>
                    <a:pt x="1137" y="6635"/>
                  </a:lnTo>
                  <a:lnTo>
                    <a:pt x="1239" y="6821"/>
                  </a:lnTo>
                  <a:lnTo>
                    <a:pt x="1347" y="7007"/>
                  </a:lnTo>
                  <a:lnTo>
                    <a:pt x="1465" y="7193"/>
                  </a:lnTo>
                  <a:lnTo>
                    <a:pt x="1587" y="7370"/>
                  </a:lnTo>
                  <a:lnTo>
                    <a:pt x="1715" y="7551"/>
                  </a:lnTo>
                  <a:lnTo>
                    <a:pt x="1852" y="7728"/>
                  </a:lnTo>
                  <a:lnTo>
                    <a:pt x="1994" y="7899"/>
                  </a:lnTo>
                  <a:lnTo>
                    <a:pt x="2146" y="8066"/>
                  </a:lnTo>
                  <a:lnTo>
                    <a:pt x="2303" y="8237"/>
                  </a:lnTo>
                  <a:lnTo>
                    <a:pt x="2464" y="8394"/>
                  </a:lnTo>
                  <a:lnTo>
                    <a:pt x="2636" y="8556"/>
                  </a:lnTo>
                  <a:lnTo>
                    <a:pt x="2812" y="8703"/>
                  </a:lnTo>
                  <a:lnTo>
                    <a:pt x="3003" y="8850"/>
                  </a:lnTo>
                  <a:lnTo>
                    <a:pt x="3199" y="8992"/>
                  </a:lnTo>
                  <a:lnTo>
                    <a:pt x="3400" y="9129"/>
                  </a:lnTo>
                  <a:lnTo>
                    <a:pt x="3616" y="9261"/>
                  </a:lnTo>
                  <a:lnTo>
                    <a:pt x="3831" y="9384"/>
                  </a:lnTo>
                  <a:lnTo>
                    <a:pt x="4061" y="9501"/>
                  </a:lnTo>
                  <a:lnTo>
                    <a:pt x="4301" y="9614"/>
                  </a:lnTo>
                  <a:lnTo>
                    <a:pt x="4546" y="9717"/>
                  </a:lnTo>
                  <a:lnTo>
                    <a:pt x="4806" y="9810"/>
                  </a:lnTo>
                  <a:lnTo>
                    <a:pt x="5071" y="9898"/>
                  </a:lnTo>
                  <a:lnTo>
                    <a:pt x="5570" y="10060"/>
                  </a:lnTo>
                  <a:lnTo>
                    <a:pt x="6026" y="10192"/>
                  </a:lnTo>
                  <a:lnTo>
                    <a:pt x="6423" y="10315"/>
                  </a:lnTo>
                  <a:lnTo>
                    <a:pt x="6780" y="10413"/>
                  </a:lnTo>
                  <a:lnTo>
                    <a:pt x="6942" y="10604"/>
                  </a:lnTo>
                  <a:lnTo>
                    <a:pt x="7113" y="10795"/>
                  </a:lnTo>
                  <a:lnTo>
                    <a:pt x="7290" y="10981"/>
                  </a:lnTo>
                  <a:lnTo>
                    <a:pt x="7471" y="11148"/>
                  </a:lnTo>
                  <a:lnTo>
                    <a:pt x="7652" y="11315"/>
                  </a:lnTo>
                  <a:lnTo>
                    <a:pt x="7839" y="11466"/>
                  </a:lnTo>
                  <a:lnTo>
                    <a:pt x="8030" y="11613"/>
                  </a:lnTo>
                  <a:lnTo>
                    <a:pt x="8226" y="11751"/>
                  </a:lnTo>
                  <a:lnTo>
                    <a:pt x="8426" y="11878"/>
                  </a:lnTo>
                  <a:lnTo>
                    <a:pt x="8627" y="12001"/>
                  </a:lnTo>
                  <a:lnTo>
                    <a:pt x="8833" y="12108"/>
                  </a:lnTo>
                  <a:lnTo>
                    <a:pt x="9039" y="12201"/>
                  </a:lnTo>
                  <a:lnTo>
                    <a:pt x="9249" y="12290"/>
                  </a:lnTo>
                  <a:lnTo>
                    <a:pt x="9470" y="12373"/>
                  </a:lnTo>
                  <a:lnTo>
                    <a:pt x="9681" y="12437"/>
                  </a:lnTo>
                  <a:lnTo>
                    <a:pt x="9901" y="12491"/>
                  </a:lnTo>
                  <a:lnTo>
                    <a:pt x="9901" y="18934"/>
                  </a:lnTo>
                  <a:lnTo>
                    <a:pt x="9617" y="18954"/>
                  </a:lnTo>
                  <a:lnTo>
                    <a:pt x="9338" y="18978"/>
                  </a:lnTo>
                  <a:lnTo>
                    <a:pt x="9063" y="19013"/>
                  </a:lnTo>
                  <a:lnTo>
                    <a:pt x="8794" y="19047"/>
                  </a:lnTo>
                  <a:lnTo>
                    <a:pt x="8529" y="19086"/>
                  </a:lnTo>
                  <a:lnTo>
                    <a:pt x="8270" y="19130"/>
                  </a:lnTo>
                  <a:lnTo>
                    <a:pt x="8015" y="19184"/>
                  </a:lnTo>
                  <a:lnTo>
                    <a:pt x="7775" y="19238"/>
                  </a:lnTo>
                  <a:lnTo>
                    <a:pt x="7530" y="19302"/>
                  </a:lnTo>
                  <a:lnTo>
                    <a:pt x="7295" y="19361"/>
                  </a:lnTo>
                  <a:lnTo>
                    <a:pt x="7074" y="19429"/>
                  </a:lnTo>
                  <a:lnTo>
                    <a:pt x="6854" y="19503"/>
                  </a:lnTo>
                  <a:lnTo>
                    <a:pt x="6638" y="19576"/>
                  </a:lnTo>
                  <a:lnTo>
                    <a:pt x="6437" y="19660"/>
                  </a:lnTo>
                  <a:lnTo>
                    <a:pt x="6241" y="19743"/>
                  </a:lnTo>
                  <a:lnTo>
                    <a:pt x="6060" y="19826"/>
                  </a:lnTo>
                  <a:lnTo>
                    <a:pt x="5879" y="19919"/>
                  </a:lnTo>
                  <a:lnTo>
                    <a:pt x="5712" y="20017"/>
                  </a:lnTo>
                  <a:lnTo>
                    <a:pt x="5556" y="20110"/>
                  </a:lnTo>
                  <a:lnTo>
                    <a:pt x="5409" y="20208"/>
                  </a:lnTo>
                  <a:lnTo>
                    <a:pt x="5271" y="20316"/>
                  </a:lnTo>
                  <a:lnTo>
                    <a:pt x="5139" y="20419"/>
                  </a:lnTo>
                  <a:lnTo>
                    <a:pt x="5026" y="20527"/>
                  </a:lnTo>
                  <a:lnTo>
                    <a:pt x="4919" y="20635"/>
                  </a:lnTo>
                  <a:lnTo>
                    <a:pt x="4821" y="20752"/>
                  </a:lnTo>
                  <a:lnTo>
                    <a:pt x="4742" y="20870"/>
                  </a:lnTo>
                  <a:lnTo>
                    <a:pt x="4669" y="20983"/>
                  </a:lnTo>
                  <a:lnTo>
                    <a:pt x="4639" y="21046"/>
                  </a:lnTo>
                  <a:lnTo>
                    <a:pt x="4610" y="21105"/>
                  </a:lnTo>
                  <a:lnTo>
                    <a:pt x="4586" y="21169"/>
                  </a:lnTo>
                  <a:lnTo>
                    <a:pt x="4561" y="21228"/>
                  </a:lnTo>
                  <a:lnTo>
                    <a:pt x="4541" y="21286"/>
                  </a:lnTo>
                  <a:lnTo>
                    <a:pt x="4527" y="21355"/>
                  </a:lnTo>
                  <a:lnTo>
                    <a:pt x="4517" y="21414"/>
                  </a:lnTo>
                  <a:lnTo>
                    <a:pt x="4507" y="21477"/>
                  </a:lnTo>
                  <a:lnTo>
                    <a:pt x="4502" y="21541"/>
                  </a:lnTo>
                  <a:lnTo>
                    <a:pt x="4502" y="21600"/>
                  </a:lnTo>
                  <a:lnTo>
                    <a:pt x="17103" y="21600"/>
                  </a:lnTo>
                  <a:lnTo>
                    <a:pt x="17103" y="21541"/>
                  </a:lnTo>
                  <a:lnTo>
                    <a:pt x="17098" y="21477"/>
                  </a:lnTo>
                  <a:lnTo>
                    <a:pt x="17088" y="21414"/>
                  </a:lnTo>
                  <a:lnTo>
                    <a:pt x="17078" y="21355"/>
                  </a:lnTo>
                  <a:lnTo>
                    <a:pt x="17059" y="21286"/>
                  </a:lnTo>
                  <a:lnTo>
                    <a:pt x="17019" y="21169"/>
                  </a:lnTo>
                  <a:lnTo>
                    <a:pt x="16995" y="21105"/>
                  </a:lnTo>
                  <a:lnTo>
                    <a:pt x="16965" y="21046"/>
                  </a:lnTo>
                  <a:lnTo>
                    <a:pt x="16936" y="20983"/>
                  </a:lnTo>
                  <a:lnTo>
                    <a:pt x="16867" y="20870"/>
                  </a:lnTo>
                  <a:lnTo>
                    <a:pt x="16784" y="20752"/>
                  </a:lnTo>
                  <a:lnTo>
                    <a:pt x="16686" y="20635"/>
                  </a:lnTo>
                  <a:lnTo>
                    <a:pt x="16578" y="20527"/>
                  </a:lnTo>
                  <a:lnTo>
                    <a:pt x="16466" y="20419"/>
                  </a:lnTo>
                  <a:lnTo>
                    <a:pt x="16333" y="20316"/>
                  </a:lnTo>
                  <a:lnTo>
                    <a:pt x="16196" y="20208"/>
                  </a:lnTo>
                  <a:lnTo>
                    <a:pt x="16049" y="20110"/>
                  </a:lnTo>
                  <a:lnTo>
                    <a:pt x="15893" y="20017"/>
                  </a:lnTo>
                  <a:lnTo>
                    <a:pt x="15726" y="19919"/>
                  </a:lnTo>
                  <a:lnTo>
                    <a:pt x="15545" y="19826"/>
                  </a:lnTo>
                  <a:lnTo>
                    <a:pt x="15363" y="19743"/>
                  </a:lnTo>
                  <a:lnTo>
                    <a:pt x="15168" y="19660"/>
                  </a:lnTo>
                  <a:lnTo>
                    <a:pt x="14962" y="19576"/>
                  </a:lnTo>
                  <a:lnTo>
                    <a:pt x="14751" y="19503"/>
                  </a:lnTo>
                  <a:lnTo>
                    <a:pt x="14531" y="19429"/>
                  </a:lnTo>
                  <a:lnTo>
                    <a:pt x="14310" y="19361"/>
                  </a:lnTo>
                  <a:lnTo>
                    <a:pt x="14075" y="19302"/>
                  </a:lnTo>
                  <a:lnTo>
                    <a:pt x="13830" y="19238"/>
                  </a:lnTo>
                  <a:lnTo>
                    <a:pt x="13585" y="19184"/>
                  </a:lnTo>
                  <a:lnTo>
                    <a:pt x="13335" y="19130"/>
                  </a:lnTo>
                  <a:lnTo>
                    <a:pt x="13076" y="19086"/>
                  </a:lnTo>
                  <a:lnTo>
                    <a:pt x="12811" y="19047"/>
                  </a:lnTo>
                  <a:lnTo>
                    <a:pt x="12537" y="19013"/>
                  </a:lnTo>
                  <a:lnTo>
                    <a:pt x="12267" y="18978"/>
                  </a:lnTo>
                  <a:lnTo>
                    <a:pt x="11988" y="18954"/>
                  </a:lnTo>
                  <a:lnTo>
                    <a:pt x="11704" y="18934"/>
                  </a:lnTo>
                  <a:lnTo>
                    <a:pt x="11704" y="12491"/>
                  </a:lnTo>
                  <a:lnTo>
                    <a:pt x="11924" y="12437"/>
                  </a:lnTo>
                  <a:lnTo>
                    <a:pt x="12135" y="12373"/>
                  </a:lnTo>
                  <a:lnTo>
                    <a:pt x="12566" y="12206"/>
                  </a:lnTo>
                  <a:lnTo>
                    <a:pt x="12772" y="12108"/>
                  </a:lnTo>
                  <a:lnTo>
                    <a:pt x="12978" y="12001"/>
                  </a:lnTo>
                  <a:lnTo>
                    <a:pt x="13174" y="11883"/>
                  </a:lnTo>
                  <a:lnTo>
                    <a:pt x="13374" y="11756"/>
                  </a:lnTo>
                  <a:lnTo>
                    <a:pt x="13566" y="11613"/>
                  </a:lnTo>
                  <a:lnTo>
                    <a:pt x="13761" y="11471"/>
                  </a:lnTo>
                  <a:lnTo>
                    <a:pt x="13943" y="11319"/>
                  </a:lnTo>
                  <a:lnTo>
                    <a:pt x="14129" y="11153"/>
                  </a:lnTo>
                  <a:lnTo>
                    <a:pt x="14310" y="10986"/>
                  </a:lnTo>
                  <a:lnTo>
                    <a:pt x="14482" y="10805"/>
                  </a:lnTo>
                  <a:lnTo>
                    <a:pt x="14658" y="10619"/>
                  </a:lnTo>
                  <a:lnTo>
                    <a:pt x="14820" y="10423"/>
                  </a:lnTo>
                  <a:close/>
                  <a:moveTo>
                    <a:pt x="17103" y="3876"/>
                  </a:moveTo>
                  <a:lnTo>
                    <a:pt x="17103" y="1798"/>
                  </a:lnTo>
                  <a:lnTo>
                    <a:pt x="20703" y="1798"/>
                  </a:lnTo>
                  <a:lnTo>
                    <a:pt x="20703" y="1975"/>
                  </a:lnTo>
                  <a:lnTo>
                    <a:pt x="20699" y="2161"/>
                  </a:lnTo>
                  <a:lnTo>
                    <a:pt x="20689" y="2362"/>
                  </a:lnTo>
                  <a:lnTo>
                    <a:pt x="20674" y="2573"/>
                  </a:lnTo>
                  <a:lnTo>
                    <a:pt x="20654" y="2793"/>
                  </a:lnTo>
                  <a:lnTo>
                    <a:pt x="20630" y="3023"/>
                  </a:lnTo>
                  <a:lnTo>
                    <a:pt x="20601" y="3259"/>
                  </a:lnTo>
                  <a:lnTo>
                    <a:pt x="20566" y="3509"/>
                  </a:lnTo>
                  <a:lnTo>
                    <a:pt x="20517" y="3758"/>
                  </a:lnTo>
                  <a:lnTo>
                    <a:pt x="20463" y="4013"/>
                  </a:lnTo>
                  <a:lnTo>
                    <a:pt x="20405" y="4278"/>
                  </a:lnTo>
                  <a:lnTo>
                    <a:pt x="20341" y="4542"/>
                  </a:lnTo>
                  <a:lnTo>
                    <a:pt x="20263" y="4812"/>
                  </a:lnTo>
                  <a:lnTo>
                    <a:pt x="20169" y="5081"/>
                  </a:lnTo>
                  <a:lnTo>
                    <a:pt x="20071" y="5346"/>
                  </a:lnTo>
                  <a:lnTo>
                    <a:pt x="19964" y="5616"/>
                  </a:lnTo>
                  <a:lnTo>
                    <a:pt x="19841" y="5885"/>
                  </a:lnTo>
                  <a:lnTo>
                    <a:pt x="19709" y="6150"/>
                  </a:lnTo>
                  <a:lnTo>
                    <a:pt x="19640" y="6277"/>
                  </a:lnTo>
                  <a:lnTo>
                    <a:pt x="19567" y="6405"/>
                  </a:lnTo>
                  <a:lnTo>
                    <a:pt x="19484" y="6537"/>
                  </a:lnTo>
                  <a:lnTo>
                    <a:pt x="19405" y="6664"/>
                  </a:lnTo>
                  <a:lnTo>
                    <a:pt x="19322" y="6787"/>
                  </a:lnTo>
                  <a:lnTo>
                    <a:pt x="19234" y="6919"/>
                  </a:lnTo>
                  <a:lnTo>
                    <a:pt x="19141" y="7037"/>
                  </a:lnTo>
                  <a:lnTo>
                    <a:pt x="19043" y="7164"/>
                  </a:lnTo>
                  <a:lnTo>
                    <a:pt x="18847" y="7399"/>
                  </a:lnTo>
                  <a:lnTo>
                    <a:pt x="18734" y="7517"/>
                  </a:lnTo>
                  <a:lnTo>
                    <a:pt x="18626" y="7630"/>
                  </a:lnTo>
                  <a:lnTo>
                    <a:pt x="18514" y="7737"/>
                  </a:lnTo>
                  <a:lnTo>
                    <a:pt x="18391" y="7850"/>
                  </a:lnTo>
                  <a:lnTo>
                    <a:pt x="18269" y="7953"/>
                  </a:lnTo>
                  <a:lnTo>
                    <a:pt x="18141" y="8056"/>
                  </a:lnTo>
                  <a:lnTo>
                    <a:pt x="18009" y="8154"/>
                  </a:lnTo>
                  <a:lnTo>
                    <a:pt x="17877" y="8257"/>
                  </a:lnTo>
                  <a:lnTo>
                    <a:pt x="17730" y="8350"/>
                  </a:lnTo>
                  <a:lnTo>
                    <a:pt x="17588" y="8438"/>
                  </a:lnTo>
                  <a:lnTo>
                    <a:pt x="17441" y="8526"/>
                  </a:lnTo>
                  <a:lnTo>
                    <a:pt x="17284" y="8615"/>
                  </a:lnTo>
                  <a:lnTo>
                    <a:pt x="17127" y="8698"/>
                  </a:lnTo>
                  <a:lnTo>
                    <a:pt x="16794" y="8845"/>
                  </a:lnTo>
                  <a:lnTo>
                    <a:pt x="16618" y="8918"/>
                  </a:lnTo>
                  <a:lnTo>
                    <a:pt x="16446" y="8982"/>
                  </a:lnTo>
                  <a:lnTo>
                    <a:pt x="16260" y="9046"/>
                  </a:lnTo>
                  <a:lnTo>
                    <a:pt x="15638" y="9242"/>
                  </a:lnTo>
                  <a:lnTo>
                    <a:pt x="15809" y="8943"/>
                  </a:lnTo>
                  <a:lnTo>
                    <a:pt x="15961" y="8639"/>
                  </a:lnTo>
                  <a:lnTo>
                    <a:pt x="16113" y="8330"/>
                  </a:lnTo>
                  <a:lnTo>
                    <a:pt x="16250" y="8012"/>
                  </a:lnTo>
                  <a:lnTo>
                    <a:pt x="16387" y="7688"/>
                  </a:lnTo>
                  <a:lnTo>
                    <a:pt x="16505" y="7355"/>
                  </a:lnTo>
                  <a:lnTo>
                    <a:pt x="16613" y="7022"/>
                  </a:lnTo>
                  <a:lnTo>
                    <a:pt x="16711" y="6684"/>
                  </a:lnTo>
                  <a:lnTo>
                    <a:pt x="16804" y="6341"/>
                  </a:lnTo>
                  <a:lnTo>
                    <a:pt x="16882" y="5993"/>
                  </a:lnTo>
                  <a:lnTo>
                    <a:pt x="16946" y="5645"/>
                  </a:lnTo>
                  <a:lnTo>
                    <a:pt x="17000" y="5292"/>
                  </a:lnTo>
                  <a:lnTo>
                    <a:pt x="17024" y="5116"/>
                  </a:lnTo>
                  <a:lnTo>
                    <a:pt x="17044" y="4939"/>
                  </a:lnTo>
                  <a:lnTo>
                    <a:pt x="17059" y="4763"/>
                  </a:lnTo>
                  <a:lnTo>
                    <a:pt x="17078" y="4587"/>
                  </a:lnTo>
                  <a:lnTo>
                    <a:pt x="17088" y="4410"/>
                  </a:lnTo>
                  <a:lnTo>
                    <a:pt x="17098" y="4229"/>
                  </a:lnTo>
                  <a:lnTo>
                    <a:pt x="17103" y="4057"/>
                  </a:lnTo>
                  <a:lnTo>
                    <a:pt x="17103" y="3876"/>
                  </a:lnTo>
                  <a:close/>
                  <a:moveTo>
                    <a:pt x="5345" y="9046"/>
                  </a:moveTo>
                  <a:lnTo>
                    <a:pt x="5159" y="8982"/>
                  </a:lnTo>
                  <a:lnTo>
                    <a:pt x="4982" y="8918"/>
                  </a:lnTo>
                  <a:lnTo>
                    <a:pt x="4806" y="8845"/>
                  </a:lnTo>
                  <a:lnTo>
                    <a:pt x="4639" y="8776"/>
                  </a:lnTo>
                  <a:lnTo>
                    <a:pt x="4473" y="8698"/>
                  </a:lnTo>
                  <a:lnTo>
                    <a:pt x="4316" y="8619"/>
                  </a:lnTo>
                  <a:lnTo>
                    <a:pt x="4159" y="8531"/>
                  </a:lnTo>
                  <a:lnTo>
                    <a:pt x="3865" y="8355"/>
                  </a:lnTo>
                  <a:lnTo>
                    <a:pt x="3723" y="8262"/>
                  </a:lnTo>
                  <a:lnTo>
                    <a:pt x="3591" y="8159"/>
                  </a:lnTo>
                  <a:lnTo>
                    <a:pt x="3454" y="8061"/>
                  </a:lnTo>
                  <a:lnTo>
                    <a:pt x="3331" y="7958"/>
                  </a:lnTo>
                  <a:lnTo>
                    <a:pt x="3209" y="7855"/>
                  </a:lnTo>
                  <a:lnTo>
                    <a:pt x="3086" y="7742"/>
                  </a:lnTo>
                  <a:lnTo>
                    <a:pt x="2974" y="7634"/>
                  </a:lnTo>
                  <a:lnTo>
                    <a:pt x="2866" y="7522"/>
                  </a:lnTo>
                  <a:lnTo>
                    <a:pt x="2753" y="7404"/>
                  </a:lnTo>
                  <a:lnTo>
                    <a:pt x="2650" y="7287"/>
                  </a:lnTo>
                  <a:lnTo>
                    <a:pt x="2552" y="7169"/>
                  </a:lnTo>
                  <a:lnTo>
                    <a:pt x="2454" y="7046"/>
                  </a:lnTo>
                  <a:lnTo>
                    <a:pt x="2366" y="6924"/>
                  </a:lnTo>
                  <a:lnTo>
                    <a:pt x="2278" y="6797"/>
                  </a:lnTo>
                  <a:lnTo>
                    <a:pt x="2195" y="6669"/>
                  </a:lnTo>
                  <a:lnTo>
                    <a:pt x="2111" y="6547"/>
                  </a:lnTo>
                  <a:lnTo>
                    <a:pt x="2033" y="6414"/>
                  </a:lnTo>
                  <a:lnTo>
                    <a:pt x="1960" y="6287"/>
                  </a:lnTo>
                  <a:lnTo>
                    <a:pt x="1822" y="6022"/>
                  </a:lnTo>
                  <a:lnTo>
                    <a:pt x="1754" y="5890"/>
                  </a:lnTo>
                  <a:lnTo>
                    <a:pt x="1636" y="5621"/>
                  </a:lnTo>
                  <a:lnTo>
                    <a:pt x="1529" y="5351"/>
                  </a:lnTo>
                  <a:lnTo>
                    <a:pt x="1426" y="5086"/>
                  </a:lnTo>
                  <a:lnTo>
                    <a:pt x="1337" y="4817"/>
                  </a:lnTo>
                  <a:lnTo>
                    <a:pt x="1264" y="4547"/>
                  </a:lnTo>
                  <a:lnTo>
                    <a:pt x="1195" y="4283"/>
                  </a:lnTo>
                  <a:lnTo>
                    <a:pt x="1137" y="4018"/>
                  </a:lnTo>
                  <a:lnTo>
                    <a:pt x="1083" y="3763"/>
                  </a:lnTo>
                  <a:lnTo>
                    <a:pt x="1039" y="3509"/>
                  </a:lnTo>
                  <a:lnTo>
                    <a:pt x="999" y="3264"/>
                  </a:lnTo>
                  <a:lnTo>
                    <a:pt x="970" y="3028"/>
                  </a:lnTo>
                  <a:lnTo>
                    <a:pt x="950" y="2793"/>
                  </a:lnTo>
                  <a:lnTo>
                    <a:pt x="931" y="2573"/>
                  </a:lnTo>
                  <a:lnTo>
                    <a:pt x="916" y="2362"/>
                  </a:lnTo>
                  <a:lnTo>
                    <a:pt x="906" y="2161"/>
                  </a:lnTo>
                  <a:lnTo>
                    <a:pt x="901" y="1980"/>
                  </a:lnTo>
                  <a:lnTo>
                    <a:pt x="901" y="1798"/>
                  </a:lnTo>
                  <a:lnTo>
                    <a:pt x="4502" y="1798"/>
                  </a:lnTo>
                  <a:lnTo>
                    <a:pt x="4502" y="4057"/>
                  </a:lnTo>
                  <a:lnTo>
                    <a:pt x="4507" y="4229"/>
                  </a:lnTo>
                  <a:lnTo>
                    <a:pt x="4517" y="4410"/>
                  </a:lnTo>
                  <a:lnTo>
                    <a:pt x="4527" y="4587"/>
                  </a:lnTo>
                  <a:lnTo>
                    <a:pt x="4556" y="4939"/>
                  </a:lnTo>
                  <a:lnTo>
                    <a:pt x="4605" y="5292"/>
                  </a:lnTo>
                  <a:lnTo>
                    <a:pt x="4659" y="5640"/>
                  </a:lnTo>
                  <a:lnTo>
                    <a:pt x="4723" y="5993"/>
                  </a:lnTo>
                  <a:lnTo>
                    <a:pt x="4801" y="6336"/>
                  </a:lnTo>
                  <a:lnTo>
                    <a:pt x="4889" y="6679"/>
                  </a:lnTo>
                  <a:lnTo>
                    <a:pt x="4992" y="7017"/>
                  </a:lnTo>
                  <a:lnTo>
                    <a:pt x="5100" y="7355"/>
                  </a:lnTo>
                  <a:lnTo>
                    <a:pt x="5218" y="7683"/>
                  </a:lnTo>
                  <a:lnTo>
                    <a:pt x="5350" y="8007"/>
                  </a:lnTo>
                  <a:lnTo>
                    <a:pt x="5487" y="8325"/>
                  </a:lnTo>
                  <a:lnTo>
                    <a:pt x="5639" y="8639"/>
                  </a:lnTo>
                  <a:lnTo>
                    <a:pt x="5796" y="8943"/>
                  </a:lnTo>
                  <a:lnTo>
                    <a:pt x="5962" y="9237"/>
                  </a:lnTo>
                  <a:lnTo>
                    <a:pt x="5345" y="9046"/>
                  </a:lnTo>
                  <a:close/>
                  <a:moveTo>
                    <a:pt x="10802" y="7968"/>
                  </a:moveTo>
                  <a:lnTo>
                    <a:pt x="8020" y="9898"/>
                  </a:lnTo>
                  <a:lnTo>
                    <a:pt x="9000" y="6659"/>
                  </a:lnTo>
                  <a:lnTo>
                    <a:pt x="6305" y="4606"/>
                  </a:lnTo>
                  <a:lnTo>
                    <a:pt x="9690" y="4542"/>
                  </a:lnTo>
                  <a:lnTo>
                    <a:pt x="10802" y="1343"/>
                  </a:lnTo>
                  <a:lnTo>
                    <a:pt x="11919" y="4542"/>
                  </a:lnTo>
                  <a:lnTo>
                    <a:pt x="15300" y="4606"/>
                  </a:lnTo>
                  <a:lnTo>
                    <a:pt x="12605" y="6659"/>
                  </a:lnTo>
                  <a:lnTo>
                    <a:pt x="13580" y="9898"/>
                  </a:lnTo>
                  <a:lnTo>
                    <a:pt x="10802" y="7968"/>
                  </a:ln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217" name="2"/>
          <p:cNvSpPr/>
          <p:nvPr/>
        </p:nvSpPr>
        <p:spPr>
          <a:xfrm>
            <a:off x="7995253" y="106076"/>
            <a:ext cx="1020239" cy="1008450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18" name="1"/>
          <p:cNvSpPr/>
          <p:nvPr/>
        </p:nvSpPr>
        <p:spPr>
          <a:xfrm>
            <a:off x="7027963" y="-379535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19" name="3"/>
          <p:cNvSpPr/>
          <p:nvPr/>
        </p:nvSpPr>
        <p:spPr>
          <a:xfrm>
            <a:off x="9117392" y="-761823"/>
            <a:ext cx="1262891" cy="124830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0" name="4"/>
          <p:cNvSpPr/>
          <p:nvPr/>
        </p:nvSpPr>
        <p:spPr>
          <a:xfrm>
            <a:off x="10636766" y="-159345"/>
            <a:ext cx="795353" cy="78616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1" name="6"/>
          <p:cNvSpPr/>
          <p:nvPr/>
        </p:nvSpPr>
        <p:spPr>
          <a:xfrm>
            <a:off x="11726385" y="-679850"/>
            <a:ext cx="962425" cy="951306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2" name="5"/>
          <p:cNvSpPr/>
          <p:nvPr/>
        </p:nvSpPr>
        <p:spPr>
          <a:xfrm>
            <a:off x="11527542" y="565591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3" name="8"/>
          <p:cNvSpPr/>
          <p:nvPr/>
        </p:nvSpPr>
        <p:spPr>
          <a:xfrm flipH="1">
            <a:off x="3115938" y="6653207"/>
            <a:ext cx="1020239" cy="100845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4" name="7"/>
          <p:cNvSpPr/>
          <p:nvPr/>
        </p:nvSpPr>
        <p:spPr>
          <a:xfrm flipH="1">
            <a:off x="4409213" y="6402904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5" name="9"/>
          <p:cNvSpPr/>
          <p:nvPr/>
        </p:nvSpPr>
        <p:spPr>
          <a:xfrm flipH="1">
            <a:off x="1751122" y="6020613"/>
            <a:ext cx="1262892" cy="124830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6" name="9"/>
          <p:cNvSpPr/>
          <p:nvPr/>
        </p:nvSpPr>
        <p:spPr>
          <a:xfrm flipH="1">
            <a:off x="699311" y="6623094"/>
            <a:ext cx="795353" cy="78616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7" name="11"/>
          <p:cNvSpPr/>
          <p:nvPr/>
        </p:nvSpPr>
        <p:spPr>
          <a:xfrm flipH="1">
            <a:off x="-557396" y="6102589"/>
            <a:ext cx="962425" cy="951305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28" name="10"/>
          <p:cNvSpPr/>
          <p:nvPr/>
        </p:nvSpPr>
        <p:spPr>
          <a:xfrm flipH="1">
            <a:off x="343522" y="7348918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grpId="7" nodeType="afterEffect">
                                  <p:stCondLst>
                                    <p:cond delay="2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32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32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35" presetClass="emph" presetSubtype="0" repeatCount="3000" fill="hold" grpId="8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25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900"/>
                            </p:stCondLst>
                            <p:childTnLst>
                              <p:par>
                                <p:cTn id="41" presetID="23" presetClass="entr" presetSubtype="16" fill="hold" grpId="9" nodeType="afterEffect">
                                  <p:stCondLst>
                                    <p:cond delay="3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99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99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66"/>
                            </p:stCondLst>
                            <p:childTnLst>
                              <p:par>
                                <p:cTn id="46" presetID="35" presetClass="emph" presetSubtype="0" repeatCount="3000" fill="hold" grpId="10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25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316"/>
                            </p:stCondLst>
                            <p:childTnLst>
                              <p:par>
                                <p:cTn id="49" presetID="23" presetClass="entr" presetSubtype="16" fill="hold" grpId="11" nodeType="afterEffect">
                                  <p:stCondLst>
                                    <p:cond delay="353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7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7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989"/>
                            </p:stCondLst>
                            <p:childTnLst>
                              <p:par>
                                <p:cTn id="54" presetID="35" presetClass="emph" presetSubtype="0" repeatCount="3000" fill="hold" grpId="12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25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39"/>
                            </p:stCondLst>
                            <p:childTnLst>
                              <p:par>
                                <p:cTn id="57" presetID="23" presetClass="entr" presetSubtype="16" fill="hold" grpId="13" nodeType="afterEffect">
                                  <p:stCondLst>
                                    <p:cond delay="32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997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97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306"/>
                            </p:stCondLst>
                            <p:childTnLst>
                              <p:par>
                                <p:cTn id="62" presetID="35" presetClass="emph" presetSubtype="0" repeatCount="3000" fill="hold" grpId="14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25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56"/>
                            </p:stCondLst>
                            <p:childTnLst>
                              <p:par>
                                <p:cTn id="65" presetID="23" presetClass="entr" presetSubtype="16" fill="hold" grpId="15" nodeType="afterEffect">
                                  <p:stCondLst>
                                    <p:cond delay="57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4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45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230"/>
                            </p:stCondLst>
                            <p:childTnLst>
                              <p:par>
                                <p:cTn id="70" presetID="35" presetClass="emph" presetSubtype="0" repeatCount="3000" fill="hold" grpId="16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1" dur="25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480"/>
                            </p:stCondLst>
                            <p:childTnLst>
                              <p:par>
                                <p:cTn id="73" presetID="23" presetClass="entr" presetSubtype="16" fill="hold" grpId="17" nodeType="afterEffect">
                                  <p:stCondLst>
                                    <p:cond delay="592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6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6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382"/>
                            </p:stCondLst>
                            <p:childTnLst>
                              <p:par>
                                <p:cTn id="78" presetID="35" presetClass="emph" presetSubtype="0" repeatCount="3000" fill="hold" grpId="18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25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382"/>
                            </p:stCondLst>
                            <p:childTnLst>
                              <p:par>
                                <p:cTn id="81" presetID="23" presetClass="entr" presetSubtype="16" fill="hold" grpId="19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914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14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46"/>
                            </p:stCondLst>
                            <p:childTnLst>
                              <p:par>
                                <p:cTn id="86" presetID="35" presetClass="emph" presetSubtype="0" repeatCount="3000" fill="hold" grpId="2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2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46"/>
                            </p:stCondLst>
                            <p:childTnLst>
                              <p:par>
                                <p:cTn id="89" presetID="23" presetClass="entr" presetSubtype="16" fill="hold" grpId="21" nodeType="afterEffect">
                                  <p:stCondLst>
                                    <p:cond delay="36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indefinite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91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91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248"/>
                            </p:stCondLst>
                            <p:childTnLst>
                              <p:par>
                                <p:cTn id="94" presetID="35" presetClass="emph" presetSubtype="0" repeatCount="3000" fill="hold" grpId="22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25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7748"/>
                            </p:stCondLst>
                            <p:childTnLst>
                              <p:par>
                                <p:cTn id="97" presetID="23" presetClass="entr" presetSubtype="16" fill="hold" grpId="23" nodeType="afterEffect">
                                  <p:stCondLst>
                                    <p:cond delay="31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2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029"/>
                            </p:stCondLst>
                            <p:childTnLst>
                              <p:par>
                                <p:cTn id="102" presetID="35" presetClass="emph" presetSubtype="0" repeatCount="3000" fill="hold" grpId="24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25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529"/>
                            </p:stCondLst>
                            <p:childTnLst>
                              <p:par>
                                <p:cTn id="105" presetID="23" presetClass="entr" presetSubtype="16" fill="hold" grpId="25" nodeType="afterEffect">
                                  <p:stCondLst>
                                    <p:cond delay="265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43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43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387"/>
                            </p:stCondLst>
                            <p:childTnLst>
                              <p:par>
                                <p:cTn id="110" presetID="35" presetClass="emph" presetSubtype="0" repeatCount="3000" fill="hold" grpId="26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2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2387"/>
                            </p:stCondLst>
                            <p:childTnLst>
                              <p:par>
                                <p:cTn id="113" presetID="23" presetClass="entr" presetSubtype="16" fill="hold" grpId="27" nodeType="afterEffect">
                                  <p:stCondLst>
                                    <p:cond delay="45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74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74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3871"/>
                            </p:stCondLst>
                            <p:childTnLst>
                              <p:par>
                                <p:cTn id="118" presetID="35" presetClass="emph" presetSubtype="0" repeatCount="3000" fill="hold" grpId="28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621"/>
                            </p:stCondLst>
                            <p:childTnLst>
                              <p:par>
                                <p:cTn id="121" presetID="23" presetClass="entr" presetSubtype="16" fill="hold" grpId="29" nodeType="afterEffect">
                                  <p:stCondLst>
                                    <p:cond delay="364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dur="indefinite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675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75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6910"/>
                            </p:stCondLst>
                            <p:childTnLst>
                              <p:par>
                                <p:cTn id="126" presetID="35" presetClass="emph" presetSubtype="0" repeatCount="3000" fill="hold" grpId="3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2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10" animBg="1" advAuto="0"/>
      <p:bldP spid="216" grpId="2" animBg="1" advAuto="0"/>
      <p:bldP spid="220" grpId="25" animBg="1" advAuto="0"/>
      <p:bldP spid="220" grpId="26" animBg="1" advAuto="0"/>
      <p:bldP spid="222" grpId="27" animBg="1" advAuto="0"/>
      <p:bldP spid="222" grpId="28" animBg="1" advAuto="0"/>
      <p:bldP spid="211" grpId="4" animBg="1" advAuto="0"/>
      <p:bldP spid="212" grpId="5" animBg="1" advAuto="0"/>
      <p:bldP spid="219" grpId="20" animBg="1" advAuto="0"/>
      <p:bldP spid="227" grpId="7" animBg="1" advAuto="0"/>
      <p:bldP spid="227" grpId="8" animBg="1" advAuto="0"/>
      <p:bldP spid="219" grpId="19" animBg="1" advAuto="0"/>
      <p:bldP spid="226" grpId="11" animBg="1" advAuto="0"/>
      <p:bldP spid="226" grpId="12" animBg="1" advAuto="0"/>
      <p:bldP spid="210" grpId="3" animBg="1" advAuto="0"/>
      <p:bldP spid="218" grpId="21" animBg="1" advAuto="0"/>
      <p:bldP spid="218" grpId="22" animBg="1" advAuto="0"/>
      <p:bldP spid="225" grpId="13" animBg="1" advAuto="0"/>
      <p:bldP spid="225" grpId="14" animBg="1" advAuto="0"/>
      <p:bldP spid="213" grpId="6" animBg="1" advAuto="0"/>
      <p:bldP spid="221" grpId="29" animBg="1" advAuto="0"/>
      <p:bldP spid="221" grpId="30" animBg="1" advAuto="0"/>
      <p:bldP spid="224" grpId="17" animBg="1" advAuto="0"/>
      <p:bldP spid="223" grpId="16" animBg="1" advAuto="0"/>
      <p:bldP spid="224" grpId="18" animBg="1" advAuto="0"/>
      <p:bldP spid="223" grpId="15" animBg="1" advAuto="0"/>
      <p:bldP spid="217" grpId="23" animBg="1" advAuto="0"/>
      <p:bldP spid="217" grpId="24" animBg="1" advAuto="0"/>
      <p:bldP spid="228" grpId="9" animBg="1" advAuto="0"/>
      <p:bldP spid="209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30"/>
          <p:cNvSpPr/>
          <p:nvPr/>
        </p:nvSpPr>
        <p:spPr>
          <a:xfrm>
            <a:off x="4241800" y="1219200"/>
            <a:ext cx="3705225" cy="5257800"/>
          </a:xfrm>
          <a:custGeom>
            <a:avLst/>
            <a:gdLst/>
            <a:ahLst/>
            <a:cxnLst/>
            <a:rect l="l" t="t" r="r" b="b"/>
            <a:pathLst>
              <a:path w="3705225" h="52578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5143494"/>
                </a:lnTo>
                <a:cubicBezTo>
                  <a:pt x="3705225" y="5206623"/>
                  <a:pt x="3654048" y="5257800"/>
                  <a:pt x="3590919" y="5257800"/>
                </a:cubicBezTo>
                <a:lnTo>
                  <a:pt x="114306" y="5257800"/>
                </a:lnTo>
                <a:cubicBezTo>
                  <a:pt x="51177" y="5257800"/>
                  <a:pt x="0" y="5206623"/>
                  <a:pt x="0" y="51434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6" name="TextBox 33"/>
          <p:cNvSpPr txBox="1"/>
          <p:nvPr/>
        </p:nvSpPr>
        <p:spPr>
          <a:xfrm>
            <a:off x="1230608" y="171550"/>
            <a:ext cx="43573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差异化业务场景与模型匹配策略</a:t>
            </a:r>
            <a:endParaRPr>
              <a:sym typeface="+mn-ea"/>
            </a:endParaRPr>
          </a:p>
          <a:p/>
        </p:txBody>
      </p:sp>
      <p:sp>
        <p:nvSpPr>
          <p:cNvPr id="257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58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30" name="Shape 3"/>
          <p:cNvSpPr/>
          <p:nvPr/>
        </p:nvSpPr>
        <p:spPr>
          <a:xfrm>
            <a:off x="381000" y="1219200"/>
            <a:ext cx="3705225" cy="5257800"/>
          </a:xfrm>
          <a:custGeom>
            <a:avLst/>
            <a:gdLst/>
            <a:ahLst/>
            <a:cxnLst/>
            <a:rect l="l" t="t" r="r" b="b"/>
            <a:pathLst>
              <a:path w="3705225" h="52578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5143494"/>
                </a:lnTo>
                <a:cubicBezTo>
                  <a:pt x="3705225" y="5206623"/>
                  <a:pt x="3654048" y="5257800"/>
                  <a:pt x="3590919" y="5257800"/>
                </a:cubicBezTo>
                <a:lnTo>
                  <a:pt x="114306" y="5257800"/>
                </a:lnTo>
                <a:cubicBezTo>
                  <a:pt x="51177" y="5257800"/>
                  <a:pt x="0" y="5206623"/>
                  <a:pt x="0" y="51434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4"/>
          <p:cNvSpPr/>
          <p:nvPr/>
        </p:nvSpPr>
        <p:spPr>
          <a:xfrm>
            <a:off x="381000" y="1219200"/>
            <a:ext cx="3705225" cy="952500"/>
          </a:xfrm>
          <a:custGeom>
            <a:avLst/>
            <a:gdLst/>
            <a:ahLst/>
            <a:cxnLst/>
            <a:rect l="l" t="t" r="r" b="b"/>
            <a:pathLst>
              <a:path w="3705225" h="952500">
                <a:moveTo>
                  <a:pt x="0" y="0"/>
                </a:moveTo>
                <a:lnTo>
                  <a:pt x="3705225" y="0"/>
                </a:lnTo>
                <a:lnTo>
                  <a:pt x="37052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6A33"/>
              </a:gs>
              <a:gs pos="100000">
                <a:srgbClr val="F4C542"/>
              </a:gs>
            </a:gsLst>
            <a:lin ang="0" scaled="1"/>
          </a:gradFill>
        </p:spPr>
      </p:sp>
      <p:sp>
        <p:nvSpPr>
          <p:cNvPr id="32" name="Shape 5"/>
          <p:cNvSpPr/>
          <p:nvPr/>
        </p:nvSpPr>
        <p:spPr>
          <a:xfrm>
            <a:off x="561975" y="1390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33" name="Text 6"/>
          <p:cNvSpPr/>
          <p:nvPr/>
        </p:nvSpPr>
        <p:spPr>
          <a:xfrm>
            <a:off x="895350" y="1371600"/>
            <a:ext cx="6191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场景A</a:t>
            </a:r>
            <a:endParaRPr lang="en-US" sz="1600" dirty="0"/>
          </a:p>
        </p:txBody>
      </p:sp>
      <p:sp>
        <p:nvSpPr>
          <p:cNvPr id="34" name="Text 9"/>
          <p:cNvSpPr/>
          <p:nvPr/>
        </p:nvSpPr>
        <p:spPr>
          <a:xfrm>
            <a:off x="533400" y="1714500"/>
            <a:ext cx="3514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精准营销触达</a:t>
            </a:r>
            <a:endParaRPr lang="en-US" sz="1600" dirty="0"/>
          </a:p>
        </p:txBody>
      </p:sp>
      <p:sp>
        <p:nvSpPr>
          <p:cNvPr id="35" name="Shape 10"/>
          <p:cNvSpPr/>
          <p:nvPr/>
        </p:nvSpPr>
        <p:spPr>
          <a:xfrm>
            <a:off x="552450" y="2362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E86A33"/>
          </a:solidFill>
        </p:spPr>
      </p:sp>
      <p:sp>
        <p:nvSpPr>
          <p:cNvPr id="36" name="Text 11"/>
          <p:cNvSpPr/>
          <p:nvPr/>
        </p:nvSpPr>
        <p:spPr>
          <a:xfrm>
            <a:off x="800100" y="2324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37" name="Text 12"/>
          <p:cNvSpPr/>
          <p:nvPr/>
        </p:nvSpPr>
        <p:spPr>
          <a:xfrm>
            <a:off x="533400" y="2628835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识别高意向用户，定向发放优惠券</a:t>
            </a:r>
            <a:endParaRPr lang="en-US" sz="1600" dirty="0"/>
          </a:p>
        </p:txBody>
      </p:sp>
      <p:sp>
        <p:nvSpPr>
          <p:cNvPr id="38" name="Shape 13"/>
          <p:cNvSpPr/>
          <p:nvPr/>
        </p:nvSpPr>
        <p:spPr>
          <a:xfrm>
            <a:off x="533400" y="2971735"/>
            <a:ext cx="3400425" cy="990600"/>
          </a:xfrm>
          <a:custGeom>
            <a:avLst/>
            <a:gdLst/>
            <a:ahLst/>
            <a:cxnLst/>
            <a:rect l="l" t="t" r="r" b="b"/>
            <a:pathLst>
              <a:path w="3400425" h="9906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914403"/>
                </a:lnTo>
                <a:cubicBezTo>
                  <a:pt x="3400425" y="956485"/>
                  <a:pt x="3366310" y="990600"/>
                  <a:pt x="33242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E86A33">
              <a:alpha val="10196"/>
            </a:srgbClr>
          </a:solidFill>
        </p:spPr>
      </p:sp>
      <p:sp>
        <p:nvSpPr>
          <p:cNvPr id="39" name="Shape 14"/>
          <p:cNvSpPr/>
          <p:nvPr/>
        </p:nvSpPr>
        <p:spPr>
          <a:xfrm>
            <a:off x="666750" y="3124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E86A33"/>
          </a:solidFill>
        </p:spPr>
      </p:sp>
      <p:sp>
        <p:nvSpPr>
          <p:cNvPr id="40" name="Text 15"/>
          <p:cNvSpPr/>
          <p:nvPr/>
        </p:nvSpPr>
        <p:spPr>
          <a:xfrm>
            <a:off x="914400" y="3086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41" name="Text 16"/>
          <p:cNvSpPr/>
          <p:nvPr/>
        </p:nvSpPr>
        <p:spPr>
          <a:xfrm>
            <a:off x="647700" y="3390835"/>
            <a:ext cx="714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42" name="Text 17"/>
          <p:cNvSpPr/>
          <p:nvPr/>
        </p:nvSpPr>
        <p:spPr>
          <a:xfrm>
            <a:off x="3295849" y="3390835"/>
            <a:ext cx="6000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6A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50.23%</a:t>
            </a:r>
            <a:endParaRPr lang="en-US" sz="1600" dirty="0"/>
          </a:p>
        </p:txBody>
      </p:sp>
      <p:sp>
        <p:nvSpPr>
          <p:cNvPr id="43" name="Text 18"/>
          <p:cNvSpPr/>
          <p:nvPr/>
        </p:nvSpPr>
        <p:spPr>
          <a:xfrm>
            <a:off x="647700" y="3657535"/>
            <a:ext cx="32385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每推100人，50人实际购买</a:t>
            </a:r>
            <a:endParaRPr lang="en-US" sz="1600" dirty="0"/>
          </a:p>
        </p:txBody>
      </p:sp>
      <p:sp>
        <p:nvSpPr>
          <p:cNvPr id="44" name="Shape 19"/>
          <p:cNvSpPr/>
          <p:nvPr/>
        </p:nvSpPr>
        <p:spPr>
          <a:xfrm>
            <a:off x="533400" y="4076635"/>
            <a:ext cx="3400425" cy="1028700"/>
          </a:xfrm>
          <a:custGeom>
            <a:avLst/>
            <a:gdLst/>
            <a:ahLst/>
            <a:cxnLst/>
            <a:rect l="l" t="t" r="r" b="b"/>
            <a:pathLst>
              <a:path w="3400425" h="1028700">
                <a:moveTo>
                  <a:pt x="76196" y="0"/>
                </a:moveTo>
                <a:lnTo>
                  <a:pt x="3324229" y="0"/>
                </a:lnTo>
                <a:cubicBezTo>
                  <a:pt x="3366311" y="0"/>
                  <a:pt x="3400425" y="34114"/>
                  <a:pt x="3400425" y="76196"/>
                </a:cubicBezTo>
                <a:lnTo>
                  <a:pt x="3400425" y="952504"/>
                </a:lnTo>
                <a:cubicBezTo>
                  <a:pt x="3400425" y="994586"/>
                  <a:pt x="3366311" y="1028700"/>
                  <a:pt x="33242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45" name="Shape 20"/>
          <p:cNvSpPr/>
          <p:nvPr/>
        </p:nvSpPr>
        <p:spPr>
          <a:xfrm>
            <a:off x="666750" y="42290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2952" y="0"/>
                </a:moveTo>
                <a:lnTo>
                  <a:pt x="109627" y="0"/>
                </a:lnTo>
                <a:cubicBezTo>
                  <a:pt x="117515" y="0"/>
                  <a:pt x="123944" y="6489"/>
                  <a:pt x="123646" y="14347"/>
                </a:cubicBezTo>
                <a:cubicBezTo>
                  <a:pt x="123587" y="15925"/>
                  <a:pt x="123527" y="17502"/>
                  <a:pt x="123438" y="19050"/>
                </a:cubicBezTo>
                <a:lnTo>
                  <a:pt x="138202" y="19050"/>
                </a:lnTo>
                <a:cubicBezTo>
                  <a:pt x="145971" y="19050"/>
                  <a:pt x="152817" y="25479"/>
                  <a:pt x="152221" y="33873"/>
                </a:cubicBezTo>
                <a:cubicBezTo>
                  <a:pt x="149989" y="64740"/>
                  <a:pt x="134213" y="81707"/>
                  <a:pt x="117098" y="90577"/>
                </a:cubicBezTo>
                <a:cubicBezTo>
                  <a:pt x="112395" y="93018"/>
                  <a:pt x="107603" y="94833"/>
                  <a:pt x="103049" y="96173"/>
                </a:cubicBezTo>
                <a:cubicBezTo>
                  <a:pt x="97036" y="104686"/>
                  <a:pt x="90785" y="109180"/>
                  <a:pt x="85814" y="111591"/>
                </a:cubicBezTo>
                <a:lnTo>
                  <a:pt x="85814" y="133350"/>
                </a:lnTo>
                <a:lnTo>
                  <a:pt x="104864" y="133350"/>
                </a:lnTo>
                <a:cubicBezTo>
                  <a:pt x="110133" y="133350"/>
                  <a:pt x="114389" y="137606"/>
                  <a:pt x="114389" y="142875"/>
                </a:cubicBezTo>
                <a:cubicBezTo>
                  <a:pt x="114389" y="148144"/>
                  <a:pt x="110133" y="152400"/>
                  <a:pt x="104864" y="152400"/>
                </a:cubicBezTo>
                <a:lnTo>
                  <a:pt x="47714" y="152400"/>
                </a:lnTo>
                <a:cubicBezTo>
                  <a:pt x="42446" y="152400"/>
                  <a:pt x="38189" y="148144"/>
                  <a:pt x="38189" y="142875"/>
                </a:cubicBezTo>
                <a:cubicBezTo>
                  <a:pt x="38189" y="137606"/>
                  <a:pt x="42446" y="133350"/>
                  <a:pt x="47714" y="133350"/>
                </a:cubicBezTo>
                <a:lnTo>
                  <a:pt x="66764" y="133350"/>
                </a:lnTo>
                <a:lnTo>
                  <a:pt x="66764" y="111591"/>
                </a:lnTo>
                <a:cubicBezTo>
                  <a:pt x="62002" y="109299"/>
                  <a:pt x="56078" y="105043"/>
                  <a:pt x="50304" y="97215"/>
                </a:cubicBezTo>
                <a:cubicBezTo>
                  <a:pt x="44827" y="95786"/>
                  <a:pt x="38874" y="93613"/>
                  <a:pt x="33070" y="90339"/>
                </a:cubicBezTo>
                <a:cubicBezTo>
                  <a:pt x="16966" y="81320"/>
                  <a:pt x="2441" y="64324"/>
                  <a:pt x="357" y="33814"/>
                </a:cubicBezTo>
                <a:cubicBezTo>
                  <a:pt x="-208" y="25450"/>
                  <a:pt x="6608" y="19020"/>
                  <a:pt x="14377" y="19020"/>
                </a:cubicBezTo>
                <a:lnTo>
                  <a:pt x="29141" y="19020"/>
                </a:lnTo>
                <a:cubicBezTo>
                  <a:pt x="29051" y="17472"/>
                  <a:pt x="28992" y="15925"/>
                  <a:pt x="28932" y="14317"/>
                </a:cubicBezTo>
                <a:cubicBezTo>
                  <a:pt x="28635" y="6429"/>
                  <a:pt x="35064" y="-30"/>
                  <a:pt x="42952" y="-30"/>
                </a:cubicBezTo>
                <a:close/>
                <a:moveTo>
                  <a:pt x="30212" y="33338"/>
                </a:moveTo>
                <a:lnTo>
                  <a:pt x="14615" y="33338"/>
                </a:lnTo>
                <a:cubicBezTo>
                  <a:pt x="16460" y="58549"/>
                  <a:pt x="28039" y="71170"/>
                  <a:pt x="39975" y="77867"/>
                </a:cubicBezTo>
                <a:cubicBezTo>
                  <a:pt x="35689" y="66764"/>
                  <a:pt x="32147" y="52268"/>
                  <a:pt x="30212" y="33338"/>
                </a:cubicBezTo>
                <a:close/>
                <a:moveTo>
                  <a:pt x="113109" y="76438"/>
                </a:moveTo>
                <a:cubicBezTo>
                  <a:pt x="125164" y="69354"/>
                  <a:pt x="136059" y="56763"/>
                  <a:pt x="137904" y="33338"/>
                </a:cubicBezTo>
                <a:lnTo>
                  <a:pt x="122337" y="33338"/>
                </a:lnTo>
                <a:cubicBezTo>
                  <a:pt x="120491" y="51465"/>
                  <a:pt x="117157" y="65544"/>
                  <a:pt x="113109" y="76438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46" name="Text 21"/>
          <p:cNvSpPr/>
          <p:nvPr/>
        </p:nvSpPr>
        <p:spPr>
          <a:xfrm>
            <a:off x="914400" y="4190935"/>
            <a:ext cx="6286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ROI对比</a:t>
            </a:r>
            <a:endParaRPr lang="en-US" sz="1600" dirty="0"/>
          </a:p>
        </p:txBody>
      </p:sp>
      <p:sp>
        <p:nvSpPr>
          <p:cNvPr id="47" name="Text 22"/>
          <p:cNvSpPr/>
          <p:nvPr/>
        </p:nvSpPr>
        <p:spPr>
          <a:xfrm>
            <a:off x="647700" y="4495735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人工经验</a:t>
            </a:r>
            <a:endParaRPr lang="en-US" sz="1600" dirty="0"/>
          </a:p>
        </p:txBody>
      </p:sp>
      <p:sp>
        <p:nvSpPr>
          <p:cNvPr id="48" name="Text 23"/>
          <p:cNvSpPr/>
          <p:nvPr/>
        </p:nvSpPr>
        <p:spPr>
          <a:xfrm>
            <a:off x="3427016" y="4495735"/>
            <a:ext cx="476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+43%</a:t>
            </a:r>
            <a:endParaRPr lang="en-US" sz="1600" dirty="0"/>
          </a:p>
        </p:txBody>
      </p:sp>
      <p:sp>
        <p:nvSpPr>
          <p:cNvPr id="49" name="Text 24"/>
          <p:cNvSpPr/>
          <p:nvPr/>
        </p:nvSpPr>
        <p:spPr>
          <a:xfrm>
            <a:off x="647700" y="4762435"/>
            <a:ext cx="8763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随机投放</a:t>
            </a:r>
            <a:endParaRPr lang="en-US" sz="1600" dirty="0"/>
          </a:p>
        </p:txBody>
      </p:sp>
      <p:sp>
        <p:nvSpPr>
          <p:cNvPr id="50" name="Text 25"/>
          <p:cNvSpPr/>
          <p:nvPr/>
        </p:nvSpPr>
        <p:spPr>
          <a:xfrm>
            <a:off x="3514791" y="476243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10倍</a:t>
            </a:r>
            <a:endParaRPr lang="en-US" sz="1600" dirty="0"/>
          </a:p>
        </p:txBody>
      </p:sp>
      <p:sp>
        <p:nvSpPr>
          <p:cNvPr id="51" name="Shape 26"/>
          <p:cNvSpPr/>
          <p:nvPr/>
        </p:nvSpPr>
        <p:spPr>
          <a:xfrm>
            <a:off x="533400" y="5219635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52" name="Text 28"/>
          <p:cNvSpPr/>
          <p:nvPr/>
        </p:nvSpPr>
        <p:spPr>
          <a:xfrm>
            <a:off x="914400" y="53339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风控要点</a:t>
            </a:r>
            <a:endParaRPr lang="en-US" sz="1600" dirty="0"/>
          </a:p>
        </p:txBody>
      </p:sp>
      <p:sp>
        <p:nvSpPr>
          <p:cNvPr id="53" name="Text 29"/>
          <p:cNvSpPr/>
          <p:nvPr/>
        </p:nvSpPr>
        <p:spPr>
          <a:xfrm>
            <a:off x="647700" y="560063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设置概率阈值</a:t>
            </a:r>
            <a:r>
              <a:rPr lang="en-US" sz="1200" b="1" dirty="0">
                <a:solidFill>
                  <a:srgbClr val="D08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≥0.6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才触发推送，避免过度打扰</a:t>
            </a:r>
            <a:endParaRPr lang="en-US" sz="1600" dirty="0"/>
          </a:p>
        </p:txBody>
      </p:sp>
      <p:sp>
        <p:nvSpPr>
          <p:cNvPr id="54" name="Shape 31"/>
          <p:cNvSpPr/>
          <p:nvPr/>
        </p:nvSpPr>
        <p:spPr>
          <a:xfrm>
            <a:off x="4241800" y="1219200"/>
            <a:ext cx="3705225" cy="952500"/>
          </a:xfrm>
          <a:custGeom>
            <a:avLst/>
            <a:gdLst/>
            <a:ahLst/>
            <a:cxnLst/>
            <a:rect l="l" t="t" r="r" b="b"/>
            <a:pathLst>
              <a:path w="3705225" h="952500">
                <a:moveTo>
                  <a:pt x="0" y="0"/>
                </a:moveTo>
                <a:lnTo>
                  <a:pt x="3705225" y="0"/>
                </a:lnTo>
                <a:lnTo>
                  <a:pt x="37052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0" scaled="1"/>
          </a:gradFill>
        </p:spPr>
      </p:sp>
      <p:sp>
        <p:nvSpPr>
          <p:cNvPr id="55" name="Shape 32"/>
          <p:cNvSpPr/>
          <p:nvPr/>
        </p:nvSpPr>
        <p:spPr>
          <a:xfrm>
            <a:off x="4437063" y="1390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56" name="Text 33"/>
          <p:cNvSpPr/>
          <p:nvPr/>
        </p:nvSpPr>
        <p:spPr>
          <a:xfrm>
            <a:off x="4756150" y="1371600"/>
            <a:ext cx="600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场景B</a:t>
            </a:r>
            <a:endParaRPr lang="en-US" sz="1600" dirty="0"/>
          </a:p>
        </p:txBody>
      </p:sp>
      <p:sp>
        <p:nvSpPr>
          <p:cNvPr id="57" name="Text 36"/>
          <p:cNvSpPr/>
          <p:nvPr/>
        </p:nvSpPr>
        <p:spPr>
          <a:xfrm>
            <a:off x="4394200" y="1714500"/>
            <a:ext cx="3514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实时推荐排序</a:t>
            </a:r>
            <a:endParaRPr lang="en-US" sz="1600" dirty="0"/>
          </a:p>
        </p:txBody>
      </p:sp>
      <p:sp>
        <p:nvSpPr>
          <p:cNvPr id="58" name="Shape 37"/>
          <p:cNvSpPr/>
          <p:nvPr/>
        </p:nvSpPr>
        <p:spPr>
          <a:xfrm>
            <a:off x="4413250" y="2362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00A63E"/>
          </a:solidFill>
        </p:spPr>
      </p:sp>
      <p:sp>
        <p:nvSpPr>
          <p:cNvPr id="59" name="Text 38"/>
          <p:cNvSpPr/>
          <p:nvPr/>
        </p:nvSpPr>
        <p:spPr>
          <a:xfrm>
            <a:off x="4660900" y="2324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60" name="Text 39"/>
          <p:cNvSpPr/>
          <p:nvPr/>
        </p:nvSpPr>
        <p:spPr>
          <a:xfrm>
            <a:off x="4394200" y="2628835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首页"猜你喜欢"实时重排</a:t>
            </a:r>
            <a:endParaRPr lang="en-US" sz="1600" dirty="0"/>
          </a:p>
        </p:txBody>
      </p:sp>
      <p:sp>
        <p:nvSpPr>
          <p:cNvPr id="61" name="Shape 40"/>
          <p:cNvSpPr/>
          <p:nvPr/>
        </p:nvSpPr>
        <p:spPr>
          <a:xfrm>
            <a:off x="4394200" y="2971735"/>
            <a:ext cx="3400425" cy="1028700"/>
          </a:xfrm>
          <a:custGeom>
            <a:avLst/>
            <a:gdLst/>
            <a:ahLst/>
            <a:cxnLst/>
            <a:rect l="l" t="t" r="r" b="b"/>
            <a:pathLst>
              <a:path w="3400425" h="1028700">
                <a:moveTo>
                  <a:pt x="76196" y="0"/>
                </a:moveTo>
                <a:lnTo>
                  <a:pt x="3324229" y="0"/>
                </a:lnTo>
                <a:cubicBezTo>
                  <a:pt x="3366311" y="0"/>
                  <a:pt x="3400425" y="34114"/>
                  <a:pt x="3400425" y="76196"/>
                </a:cubicBezTo>
                <a:lnTo>
                  <a:pt x="3400425" y="952504"/>
                </a:lnTo>
                <a:cubicBezTo>
                  <a:pt x="3400425" y="994586"/>
                  <a:pt x="3366311" y="1028700"/>
                  <a:pt x="3324229" y="1028700"/>
                </a:cubicBezTo>
                <a:lnTo>
                  <a:pt x="76196" y="1028700"/>
                </a:lnTo>
                <a:cubicBezTo>
                  <a:pt x="34114" y="1028700"/>
                  <a:pt x="0" y="994586"/>
                  <a:pt x="0" y="9525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0FDF4"/>
          </a:solidFill>
        </p:spPr>
      </p:sp>
      <p:sp>
        <p:nvSpPr>
          <p:cNvPr id="62" name="Shape 41"/>
          <p:cNvSpPr/>
          <p:nvPr/>
        </p:nvSpPr>
        <p:spPr>
          <a:xfrm>
            <a:off x="4527550" y="3124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76200" y="123825"/>
                </a:moveTo>
                <a:cubicBezTo>
                  <a:pt x="86707" y="123825"/>
                  <a:pt x="95250" y="115282"/>
                  <a:pt x="95250" y="104775"/>
                </a:cubicBezTo>
                <a:cubicBezTo>
                  <a:pt x="95250" y="99953"/>
                  <a:pt x="93464" y="95518"/>
                  <a:pt x="90488" y="92184"/>
                </a:cubicBezTo>
                <a:lnTo>
                  <a:pt x="111175" y="50840"/>
                </a:lnTo>
                <a:cubicBezTo>
                  <a:pt x="112931" y="47298"/>
                  <a:pt x="111502" y="43011"/>
                  <a:pt x="107990" y="41255"/>
                </a:cubicBezTo>
                <a:cubicBezTo>
                  <a:pt x="104477" y="39499"/>
                  <a:pt x="100161" y="40928"/>
                  <a:pt x="98405" y="44440"/>
                </a:cubicBezTo>
                <a:lnTo>
                  <a:pt x="77718" y="85785"/>
                </a:lnTo>
                <a:cubicBezTo>
                  <a:pt x="77212" y="85755"/>
                  <a:pt x="76706" y="85725"/>
                  <a:pt x="76200" y="85725"/>
                </a:cubicBezTo>
                <a:cubicBezTo>
                  <a:pt x="65693" y="85725"/>
                  <a:pt x="57150" y="94268"/>
                  <a:pt x="57150" y="104775"/>
                </a:cubicBezTo>
                <a:cubicBezTo>
                  <a:pt x="57150" y="115282"/>
                  <a:pt x="65693" y="123825"/>
                  <a:pt x="76200" y="123825"/>
                </a:cubicBezTo>
                <a:close/>
                <a:moveTo>
                  <a:pt x="52388" y="42863"/>
                </a:moveTo>
                <a:cubicBezTo>
                  <a:pt x="52388" y="37606"/>
                  <a:pt x="48119" y="33338"/>
                  <a:pt x="42863" y="33338"/>
                </a:cubicBezTo>
                <a:cubicBezTo>
                  <a:pt x="37606" y="33338"/>
                  <a:pt x="33338" y="37606"/>
                  <a:pt x="33338" y="42863"/>
                </a:cubicBezTo>
                <a:cubicBezTo>
                  <a:pt x="33338" y="48119"/>
                  <a:pt x="37606" y="52388"/>
                  <a:pt x="42863" y="52388"/>
                </a:cubicBezTo>
                <a:cubicBezTo>
                  <a:pt x="48119" y="52388"/>
                  <a:pt x="52388" y="48119"/>
                  <a:pt x="52388" y="42863"/>
                </a:cubicBezTo>
                <a:close/>
                <a:moveTo>
                  <a:pt x="28575" y="85725"/>
                </a:moveTo>
                <a:cubicBezTo>
                  <a:pt x="33832" y="85725"/>
                  <a:pt x="38100" y="81457"/>
                  <a:pt x="38100" y="76200"/>
                </a:cubicBez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lose/>
                <a:moveTo>
                  <a:pt x="133350" y="76200"/>
                </a:moveTo>
                <a:cubicBezTo>
                  <a:pt x="133350" y="70943"/>
                  <a:pt x="129082" y="66675"/>
                  <a:pt x="123825" y="66675"/>
                </a:cubicBezTo>
                <a:cubicBezTo>
                  <a:pt x="118568" y="66675"/>
                  <a:pt x="114300" y="70943"/>
                  <a:pt x="114300" y="76200"/>
                </a:cubicBezTo>
                <a:cubicBezTo>
                  <a:pt x="114300" y="81457"/>
                  <a:pt x="118568" y="85725"/>
                  <a:pt x="123825" y="85725"/>
                </a:cubicBezTo>
                <a:cubicBezTo>
                  <a:pt x="129082" y="85725"/>
                  <a:pt x="133350" y="81457"/>
                  <a:pt x="133350" y="76200"/>
                </a:cubicBezTo>
                <a:close/>
              </a:path>
            </a:pathLst>
          </a:custGeom>
          <a:solidFill>
            <a:srgbClr val="00A63E"/>
          </a:solidFill>
        </p:spPr>
      </p:sp>
      <p:sp>
        <p:nvSpPr>
          <p:cNvPr id="63" name="Text 42"/>
          <p:cNvSpPr/>
          <p:nvPr/>
        </p:nvSpPr>
        <p:spPr>
          <a:xfrm>
            <a:off x="4775200" y="3086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核心指标</a:t>
            </a:r>
            <a:endParaRPr lang="en-US" sz="1600" dirty="0"/>
          </a:p>
        </p:txBody>
      </p:sp>
      <p:sp>
        <p:nvSpPr>
          <p:cNvPr id="64" name="Text 43"/>
          <p:cNvSpPr/>
          <p:nvPr/>
        </p:nvSpPr>
        <p:spPr>
          <a:xfrm>
            <a:off x="4508500" y="3390835"/>
            <a:ext cx="381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延迟</a:t>
            </a:r>
            <a:endParaRPr lang="en-US" sz="1600" dirty="0"/>
          </a:p>
        </p:txBody>
      </p:sp>
      <p:sp>
        <p:nvSpPr>
          <p:cNvPr id="65" name="Text 44"/>
          <p:cNvSpPr/>
          <p:nvPr/>
        </p:nvSpPr>
        <p:spPr>
          <a:xfrm>
            <a:off x="7190449" y="3390835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0.16ms</a:t>
            </a:r>
            <a:endParaRPr lang="en-US" sz="1600" dirty="0"/>
          </a:p>
        </p:txBody>
      </p:sp>
      <p:sp>
        <p:nvSpPr>
          <p:cNvPr id="66" name="Text 45"/>
          <p:cNvSpPr/>
          <p:nvPr/>
        </p:nvSpPr>
        <p:spPr>
          <a:xfrm>
            <a:off x="4508500" y="365753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吞吐量</a:t>
            </a:r>
            <a:endParaRPr lang="en-US" sz="1600" dirty="0"/>
          </a:p>
        </p:txBody>
      </p:sp>
      <p:sp>
        <p:nvSpPr>
          <p:cNvPr id="67" name="Text 46"/>
          <p:cNvSpPr/>
          <p:nvPr/>
        </p:nvSpPr>
        <p:spPr>
          <a:xfrm>
            <a:off x="6932150" y="3657535"/>
            <a:ext cx="8286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A63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6,250 QPS</a:t>
            </a:r>
            <a:endParaRPr lang="en-US" sz="1600" dirty="0"/>
          </a:p>
        </p:txBody>
      </p:sp>
      <p:sp>
        <p:nvSpPr>
          <p:cNvPr id="68" name="Shape 47"/>
          <p:cNvSpPr/>
          <p:nvPr/>
        </p:nvSpPr>
        <p:spPr>
          <a:xfrm>
            <a:off x="4394200" y="4114735"/>
            <a:ext cx="3400425" cy="762000"/>
          </a:xfrm>
          <a:custGeom>
            <a:avLst/>
            <a:gdLst/>
            <a:ahLst/>
            <a:cxnLst/>
            <a:rect l="l" t="t" r="r" b="b"/>
            <a:pathLst>
              <a:path w="3400425" h="7620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685800"/>
                </a:lnTo>
                <a:cubicBezTo>
                  <a:pt x="3400425" y="727856"/>
                  <a:pt x="3366281" y="762000"/>
                  <a:pt x="33242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69" name="Shape 48"/>
          <p:cNvSpPr/>
          <p:nvPr/>
        </p:nvSpPr>
        <p:spPr>
          <a:xfrm>
            <a:off x="4527550" y="4267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70" name="Text 49"/>
          <p:cNvSpPr/>
          <p:nvPr/>
        </p:nvSpPr>
        <p:spPr>
          <a:xfrm>
            <a:off x="4775200" y="4229035"/>
            <a:ext cx="533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稳定性</a:t>
            </a:r>
            <a:endParaRPr lang="en-US" sz="1600" dirty="0"/>
          </a:p>
        </p:txBody>
      </p:sp>
      <p:sp>
        <p:nvSpPr>
          <p:cNvPr id="71" name="Text 50"/>
          <p:cNvSpPr/>
          <p:nvPr/>
        </p:nvSpPr>
        <p:spPr>
          <a:xfrm>
            <a:off x="4508500" y="453383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55DF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0.46%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泛化Gap保证线上AUC不会突然暴跌</a:t>
            </a:r>
            <a:endParaRPr lang="en-US" sz="1600" dirty="0"/>
          </a:p>
        </p:txBody>
      </p:sp>
      <p:sp>
        <p:nvSpPr>
          <p:cNvPr id="72" name="Shape 51"/>
          <p:cNvSpPr/>
          <p:nvPr/>
        </p:nvSpPr>
        <p:spPr>
          <a:xfrm>
            <a:off x="4394200" y="4991035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AF5FF"/>
          </a:solidFill>
        </p:spPr>
      </p:sp>
      <p:sp>
        <p:nvSpPr>
          <p:cNvPr id="73" name="Shape 52"/>
          <p:cNvSpPr/>
          <p:nvPr/>
        </p:nvSpPr>
        <p:spPr>
          <a:xfrm>
            <a:off x="4508500" y="514343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9810FA"/>
          </a:solidFill>
        </p:spPr>
      </p:sp>
      <p:sp>
        <p:nvSpPr>
          <p:cNvPr id="74" name="Text 53"/>
          <p:cNvSpPr/>
          <p:nvPr/>
        </p:nvSpPr>
        <p:spPr>
          <a:xfrm>
            <a:off x="4775200" y="51053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适用规模</a:t>
            </a:r>
            <a:endParaRPr lang="en-US" sz="1600" dirty="0"/>
          </a:p>
        </p:txBody>
      </p:sp>
      <p:sp>
        <p:nvSpPr>
          <p:cNvPr id="75" name="Text 54"/>
          <p:cNvSpPr/>
          <p:nvPr/>
        </p:nvSpPr>
        <p:spPr>
          <a:xfrm>
            <a:off x="4508500" y="537203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9810F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千万级DAU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的高并发场景</a:t>
            </a:r>
            <a:endParaRPr lang="en-US" sz="1600" dirty="0"/>
          </a:p>
        </p:txBody>
      </p:sp>
      <p:sp>
        <p:nvSpPr>
          <p:cNvPr id="76" name="Shape 55"/>
          <p:cNvSpPr/>
          <p:nvPr/>
        </p:nvSpPr>
        <p:spPr>
          <a:xfrm>
            <a:off x="8102600" y="1219200"/>
            <a:ext cx="3705225" cy="5257800"/>
          </a:xfrm>
          <a:custGeom>
            <a:avLst/>
            <a:gdLst/>
            <a:ahLst/>
            <a:cxnLst/>
            <a:rect l="l" t="t" r="r" b="b"/>
            <a:pathLst>
              <a:path w="3705225" h="52578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5143494"/>
                </a:lnTo>
                <a:cubicBezTo>
                  <a:pt x="3705225" y="5206623"/>
                  <a:pt x="3654048" y="5257800"/>
                  <a:pt x="3590919" y="5257800"/>
                </a:cubicBezTo>
                <a:lnTo>
                  <a:pt x="114306" y="5257800"/>
                </a:lnTo>
                <a:cubicBezTo>
                  <a:pt x="51177" y="5257800"/>
                  <a:pt x="0" y="5206623"/>
                  <a:pt x="0" y="51434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7" name="Shape 56"/>
          <p:cNvSpPr/>
          <p:nvPr/>
        </p:nvSpPr>
        <p:spPr>
          <a:xfrm>
            <a:off x="8102600" y="1219200"/>
            <a:ext cx="3705225" cy="952500"/>
          </a:xfrm>
          <a:custGeom>
            <a:avLst/>
            <a:gdLst/>
            <a:ahLst/>
            <a:cxnLst/>
            <a:rect l="l" t="t" r="r" b="b"/>
            <a:pathLst>
              <a:path w="3705225" h="952500">
                <a:moveTo>
                  <a:pt x="0" y="0"/>
                </a:moveTo>
                <a:lnTo>
                  <a:pt x="3705225" y="0"/>
                </a:lnTo>
                <a:lnTo>
                  <a:pt x="3705225" y="952500"/>
                </a:lnTo>
                <a:lnTo>
                  <a:pt x="0" y="9525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4A4A"/>
              </a:gs>
              <a:gs pos="100000">
                <a:srgbClr val="2D2D2D"/>
              </a:gs>
            </a:gsLst>
            <a:lin ang="0" scaled="1"/>
          </a:gradFill>
        </p:spPr>
      </p:sp>
      <p:sp>
        <p:nvSpPr>
          <p:cNvPr id="78" name="Shape 57"/>
          <p:cNvSpPr/>
          <p:nvPr/>
        </p:nvSpPr>
        <p:spPr>
          <a:xfrm>
            <a:off x="8297863" y="13906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9" name="Text 58"/>
          <p:cNvSpPr/>
          <p:nvPr/>
        </p:nvSpPr>
        <p:spPr>
          <a:xfrm>
            <a:off x="8616950" y="1371600"/>
            <a:ext cx="6096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场景C</a:t>
            </a:r>
            <a:endParaRPr lang="en-US" sz="1600" dirty="0"/>
          </a:p>
        </p:txBody>
      </p:sp>
      <p:sp>
        <p:nvSpPr>
          <p:cNvPr id="80" name="Text 61"/>
          <p:cNvSpPr/>
          <p:nvPr/>
        </p:nvSpPr>
        <p:spPr>
          <a:xfrm>
            <a:off x="8255000" y="1714500"/>
            <a:ext cx="35147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序列行为分析</a:t>
            </a:r>
            <a:endParaRPr lang="en-US" sz="1600" dirty="0"/>
          </a:p>
        </p:txBody>
      </p:sp>
      <p:sp>
        <p:nvSpPr>
          <p:cNvPr id="81" name="Shape 62"/>
          <p:cNvSpPr/>
          <p:nvPr/>
        </p:nvSpPr>
        <p:spPr>
          <a:xfrm>
            <a:off x="8274050" y="2362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7150" y="19050"/>
                </a:moveTo>
                <a:cubicBezTo>
                  <a:pt x="57150" y="13781"/>
                  <a:pt x="61406" y="9525"/>
                  <a:pt x="66675" y="9525"/>
                </a:cubicBezTo>
                <a:lnTo>
                  <a:pt x="85725" y="9525"/>
                </a:lnTo>
                <a:cubicBezTo>
                  <a:pt x="90994" y="9525"/>
                  <a:pt x="95250" y="13781"/>
                  <a:pt x="95250" y="19050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83344" y="47625"/>
                </a:lnTo>
                <a:lnTo>
                  <a:pt x="83344" y="66675"/>
                </a:lnTo>
                <a:lnTo>
                  <a:pt x="119062" y="66675"/>
                </a:lnTo>
                <a:cubicBezTo>
                  <a:pt x="130909" y="66675"/>
                  <a:pt x="140494" y="76260"/>
                  <a:pt x="140494" y="88106"/>
                </a:cubicBezTo>
                <a:lnTo>
                  <a:pt x="140494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23825" y="142875"/>
                </a:lnTo>
                <a:cubicBezTo>
                  <a:pt x="118556" y="142875"/>
                  <a:pt x="114300" y="138619"/>
                  <a:pt x="114300" y="133350"/>
                </a:cubicBezTo>
                <a:lnTo>
                  <a:pt x="114300" y="114300"/>
                </a:lnTo>
                <a:cubicBezTo>
                  <a:pt x="114300" y="109031"/>
                  <a:pt x="118556" y="104775"/>
                  <a:pt x="123825" y="104775"/>
                </a:cubicBezTo>
                <a:lnTo>
                  <a:pt x="126206" y="104775"/>
                </a:lnTo>
                <a:lnTo>
                  <a:pt x="126206" y="88106"/>
                </a:lnTo>
                <a:cubicBezTo>
                  <a:pt x="126206" y="84147"/>
                  <a:pt x="123021" y="80962"/>
                  <a:pt x="119062" y="80962"/>
                </a:cubicBezTo>
                <a:lnTo>
                  <a:pt x="83344" y="80962"/>
                </a:lnTo>
                <a:lnTo>
                  <a:pt x="83344" y="104775"/>
                </a:lnTo>
                <a:lnTo>
                  <a:pt x="85725" y="104775"/>
                </a:lnTo>
                <a:cubicBezTo>
                  <a:pt x="90994" y="104775"/>
                  <a:pt x="95250" y="109031"/>
                  <a:pt x="95250" y="114300"/>
                </a:cubicBezTo>
                <a:lnTo>
                  <a:pt x="95250" y="133350"/>
                </a:lnTo>
                <a:cubicBezTo>
                  <a:pt x="95250" y="138619"/>
                  <a:pt x="90994" y="142875"/>
                  <a:pt x="85725" y="142875"/>
                </a:cubicBezTo>
                <a:lnTo>
                  <a:pt x="66675" y="142875"/>
                </a:lnTo>
                <a:cubicBezTo>
                  <a:pt x="61406" y="142875"/>
                  <a:pt x="57150" y="138619"/>
                  <a:pt x="57150" y="133350"/>
                </a:cubicBezTo>
                <a:lnTo>
                  <a:pt x="57150" y="114300"/>
                </a:lnTo>
                <a:cubicBezTo>
                  <a:pt x="57150" y="109031"/>
                  <a:pt x="61406" y="104775"/>
                  <a:pt x="66675" y="104775"/>
                </a:cubicBezTo>
                <a:lnTo>
                  <a:pt x="69056" y="104775"/>
                </a:lnTo>
                <a:lnTo>
                  <a:pt x="69056" y="80962"/>
                </a:lnTo>
                <a:lnTo>
                  <a:pt x="33338" y="80962"/>
                </a:lnTo>
                <a:cubicBezTo>
                  <a:pt x="29379" y="80962"/>
                  <a:pt x="26194" y="84147"/>
                  <a:pt x="26194" y="88106"/>
                </a:cubicBezTo>
                <a:lnTo>
                  <a:pt x="26194" y="104775"/>
                </a:lnTo>
                <a:lnTo>
                  <a:pt x="28575" y="104775"/>
                </a:lnTo>
                <a:cubicBezTo>
                  <a:pt x="33844" y="104775"/>
                  <a:pt x="38100" y="109031"/>
                  <a:pt x="38100" y="114300"/>
                </a:cubicBezTo>
                <a:lnTo>
                  <a:pt x="38100" y="133350"/>
                </a:lnTo>
                <a:cubicBezTo>
                  <a:pt x="38100" y="138619"/>
                  <a:pt x="33844" y="142875"/>
                  <a:pt x="28575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14300"/>
                </a:lnTo>
                <a:cubicBezTo>
                  <a:pt x="0" y="109031"/>
                  <a:pt x="4256" y="104775"/>
                  <a:pt x="9525" y="104775"/>
                </a:cubicBezTo>
                <a:lnTo>
                  <a:pt x="11906" y="104775"/>
                </a:lnTo>
                <a:lnTo>
                  <a:pt x="11906" y="88106"/>
                </a:lnTo>
                <a:cubicBezTo>
                  <a:pt x="11906" y="76260"/>
                  <a:pt x="21491" y="66675"/>
                  <a:pt x="33338" y="66675"/>
                </a:cubicBezTo>
                <a:lnTo>
                  <a:pt x="69056" y="66675"/>
                </a:lnTo>
                <a:lnTo>
                  <a:pt x="69056" y="47625"/>
                </a:lnTo>
                <a:lnTo>
                  <a:pt x="66675" y="47625"/>
                </a:lnTo>
                <a:cubicBezTo>
                  <a:pt x="61406" y="47625"/>
                  <a:pt x="57150" y="43369"/>
                  <a:pt x="57150" y="38100"/>
                </a:cubicBezTo>
                <a:lnTo>
                  <a:pt x="57150" y="19050"/>
                </a:lnTo>
                <a:close/>
              </a:path>
            </a:pathLst>
          </a:custGeom>
          <a:solidFill>
            <a:srgbClr val="4A4A4A"/>
          </a:solidFill>
        </p:spPr>
      </p:sp>
      <p:sp>
        <p:nvSpPr>
          <p:cNvPr id="82" name="Text 63"/>
          <p:cNvSpPr/>
          <p:nvPr/>
        </p:nvSpPr>
        <p:spPr>
          <a:xfrm>
            <a:off x="8521700" y="2324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83" name="Text 64"/>
          <p:cNvSpPr/>
          <p:nvPr/>
        </p:nvSpPr>
        <p:spPr>
          <a:xfrm>
            <a:off x="8255000" y="2628835"/>
            <a:ext cx="34766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购物车推荐、"看过还看"的下一跳预测</a:t>
            </a:r>
            <a:endParaRPr lang="en-US" sz="1600" dirty="0"/>
          </a:p>
        </p:txBody>
      </p:sp>
      <p:sp>
        <p:nvSpPr>
          <p:cNvPr id="84" name="Shape 65"/>
          <p:cNvSpPr/>
          <p:nvPr/>
        </p:nvSpPr>
        <p:spPr>
          <a:xfrm>
            <a:off x="8255000" y="2971735"/>
            <a:ext cx="3400425" cy="762000"/>
          </a:xfrm>
          <a:custGeom>
            <a:avLst/>
            <a:gdLst/>
            <a:ahLst/>
            <a:cxnLst/>
            <a:rect l="l" t="t" r="r" b="b"/>
            <a:pathLst>
              <a:path w="3400425" h="762000">
                <a:moveTo>
                  <a:pt x="76200" y="0"/>
                </a:moveTo>
                <a:lnTo>
                  <a:pt x="3324225" y="0"/>
                </a:lnTo>
                <a:cubicBezTo>
                  <a:pt x="3366281" y="0"/>
                  <a:pt x="3400425" y="34144"/>
                  <a:pt x="3400425" y="76200"/>
                </a:cubicBezTo>
                <a:lnTo>
                  <a:pt x="3400425" y="685800"/>
                </a:lnTo>
                <a:cubicBezTo>
                  <a:pt x="3400425" y="727856"/>
                  <a:pt x="3366281" y="762000"/>
                  <a:pt x="332422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4A4A">
              <a:alpha val="10196"/>
            </a:srgbClr>
          </a:solidFill>
        </p:spPr>
      </p:sp>
      <p:sp>
        <p:nvSpPr>
          <p:cNvPr id="85" name="Shape 66"/>
          <p:cNvSpPr/>
          <p:nvPr/>
        </p:nvSpPr>
        <p:spPr>
          <a:xfrm>
            <a:off x="8388350" y="31241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4A4A4A"/>
          </a:solidFill>
        </p:spPr>
      </p:sp>
      <p:sp>
        <p:nvSpPr>
          <p:cNvPr id="86" name="Text 67"/>
          <p:cNvSpPr/>
          <p:nvPr/>
        </p:nvSpPr>
        <p:spPr>
          <a:xfrm>
            <a:off x="8636000" y="30860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技术价值</a:t>
            </a:r>
            <a:endParaRPr lang="en-US" sz="1600" dirty="0"/>
          </a:p>
        </p:txBody>
      </p:sp>
      <p:sp>
        <p:nvSpPr>
          <p:cNvPr id="87" name="Shape 69"/>
          <p:cNvSpPr/>
          <p:nvPr/>
        </p:nvSpPr>
        <p:spPr>
          <a:xfrm>
            <a:off x="8255000" y="3848035"/>
            <a:ext cx="3400425" cy="990600"/>
          </a:xfrm>
          <a:custGeom>
            <a:avLst/>
            <a:gdLst/>
            <a:ahLst/>
            <a:cxnLst/>
            <a:rect l="l" t="t" r="r" b="b"/>
            <a:pathLst>
              <a:path w="3400425" h="990600">
                <a:moveTo>
                  <a:pt x="76197" y="0"/>
                </a:moveTo>
                <a:lnTo>
                  <a:pt x="3324228" y="0"/>
                </a:lnTo>
                <a:cubicBezTo>
                  <a:pt x="3366310" y="0"/>
                  <a:pt x="3400425" y="34115"/>
                  <a:pt x="3400425" y="76197"/>
                </a:cubicBezTo>
                <a:lnTo>
                  <a:pt x="3400425" y="914403"/>
                </a:lnTo>
                <a:cubicBezTo>
                  <a:pt x="3400425" y="956485"/>
                  <a:pt x="3366310" y="990600"/>
                  <a:pt x="3324228" y="990600"/>
                </a:cubicBezTo>
                <a:lnTo>
                  <a:pt x="76197" y="990600"/>
                </a:lnTo>
                <a:cubicBezTo>
                  <a:pt x="34115" y="990600"/>
                  <a:pt x="0" y="956485"/>
                  <a:pt x="0" y="9144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EFCE8"/>
          </a:solidFill>
        </p:spPr>
      </p:sp>
      <p:sp>
        <p:nvSpPr>
          <p:cNvPr id="88" name="Shape 70"/>
          <p:cNvSpPr/>
          <p:nvPr/>
        </p:nvSpPr>
        <p:spPr>
          <a:xfrm>
            <a:off x="8388350" y="400043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08700"/>
          </a:solidFill>
        </p:spPr>
      </p:sp>
      <p:sp>
        <p:nvSpPr>
          <p:cNvPr id="89" name="Text 71"/>
          <p:cNvSpPr/>
          <p:nvPr/>
        </p:nvSpPr>
        <p:spPr>
          <a:xfrm>
            <a:off x="8636000" y="39623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当前局限</a:t>
            </a:r>
            <a:endParaRPr lang="en-US" sz="1600" dirty="0"/>
          </a:p>
        </p:txBody>
      </p:sp>
      <p:sp>
        <p:nvSpPr>
          <p:cNvPr id="90" name="Text 72"/>
          <p:cNvSpPr/>
          <p:nvPr/>
        </p:nvSpPr>
        <p:spPr>
          <a:xfrm>
            <a:off x="8369300" y="4267135"/>
            <a:ext cx="324802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需配合</a:t>
            </a:r>
            <a:r>
              <a:rPr lang="en-US" sz="1200" b="1" dirty="0">
                <a:solidFill>
                  <a:srgbClr val="D087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更大规模数据（100M+样本）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才能发挥38M参数优势</a:t>
            </a:r>
            <a:endParaRPr lang="en-US" sz="1600" dirty="0"/>
          </a:p>
        </p:txBody>
      </p:sp>
      <p:sp>
        <p:nvSpPr>
          <p:cNvPr id="91" name="Shape 73"/>
          <p:cNvSpPr/>
          <p:nvPr/>
        </p:nvSpPr>
        <p:spPr>
          <a:xfrm>
            <a:off x="8255000" y="4952935"/>
            <a:ext cx="3400425" cy="723900"/>
          </a:xfrm>
          <a:custGeom>
            <a:avLst/>
            <a:gdLst/>
            <a:ahLst/>
            <a:cxnLst/>
            <a:rect l="l" t="t" r="r" b="b"/>
            <a:pathLst>
              <a:path w="3400425" h="723900">
                <a:moveTo>
                  <a:pt x="76198" y="0"/>
                </a:moveTo>
                <a:lnTo>
                  <a:pt x="3324227" y="0"/>
                </a:lnTo>
                <a:cubicBezTo>
                  <a:pt x="3366282" y="0"/>
                  <a:pt x="3400425" y="34143"/>
                  <a:pt x="3400425" y="76198"/>
                </a:cubicBezTo>
                <a:lnTo>
                  <a:pt x="3400425" y="647702"/>
                </a:lnTo>
                <a:cubicBezTo>
                  <a:pt x="3400425" y="689757"/>
                  <a:pt x="3366282" y="723900"/>
                  <a:pt x="33242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EFF6FF"/>
          </a:solidFill>
        </p:spPr>
      </p:sp>
      <p:sp>
        <p:nvSpPr>
          <p:cNvPr id="92" name="Shape 74"/>
          <p:cNvSpPr/>
          <p:nvPr/>
        </p:nvSpPr>
        <p:spPr>
          <a:xfrm>
            <a:off x="8407400" y="510533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155DFC"/>
          </a:solidFill>
        </p:spPr>
      </p:sp>
      <p:sp>
        <p:nvSpPr>
          <p:cNvPr id="93" name="Text 75"/>
          <p:cNvSpPr/>
          <p:nvPr/>
        </p:nvSpPr>
        <p:spPr>
          <a:xfrm>
            <a:off x="8636000" y="5067235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2D2D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技术储备</a:t>
            </a:r>
            <a:endParaRPr lang="en-US" sz="1600" dirty="0"/>
          </a:p>
        </p:txBody>
      </p:sp>
      <p:sp>
        <p:nvSpPr>
          <p:cNvPr id="94" name="Text 76"/>
          <p:cNvSpPr/>
          <p:nvPr/>
        </p:nvSpPr>
        <p:spPr>
          <a:xfrm>
            <a:off x="8369300" y="533393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作为</a:t>
            </a:r>
            <a:r>
              <a:rPr lang="en-US" sz="1200" b="1" dirty="0">
                <a:solidFill>
                  <a:srgbClr val="155DFC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技术储备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待数据规模扩大后启用</a:t>
            </a:r>
            <a:endParaRPr lang="en-US" sz="1600" dirty="0"/>
          </a:p>
        </p:txBody>
      </p:sp>
      <p:sp>
        <p:nvSpPr>
          <p:cNvPr id="96" name="Text 68"/>
          <p:cNvSpPr/>
          <p:nvPr/>
        </p:nvSpPr>
        <p:spPr>
          <a:xfrm>
            <a:off x="8369300" y="3390835"/>
            <a:ext cx="32480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为</a:t>
            </a:r>
            <a:r>
              <a:rPr lang="en-US" sz="1200" b="1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下一代实时序列推荐引擎</a:t>
            </a:r>
            <a:r>
              <a:rPr lang="en-US" sz="1200" dirty="0">
                <a:solidFill>
                  <a:srgbClr val="4A4A4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奠定技术基础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2" bldLvl="0" animBg="1" advAuto="0"/>
      <p:bldP spid="257" grpId="1" bldLvl="0" animBg="1" advAuto="0"/>
      <p:bldP spid="256" grpId="3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33"/>
          <p:cNvSpPr txBox="1"/>
          <p:nvPr/>
        </p:nvSpPr>
        <p:spPr>
          <a:xfrm>
            <a:off x="1230608" y="171550"/>
            <a:ext cx="46621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误差模式分析：三类典型失误场景</a:t>
            </a:r>
            <a:endParaRPr>
              <a:sym typeface="+mn-ea"/>
            </a:endParaRPr>
          </a:p>
          <a:p/>
        </p:txBody>
      </p:sp>
      <p:sp>
        <p:nvSpPr>
          <p:cNvPr id="257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58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5" name="Shape 3"/>
          <p:cNvSpPr/>
          <p:nvPr/>
        </p:nvSpPr>
        <p:spPr>
          <a:xfrm>
            <a:off x="381000" y="1219200"/>
            <a:ext cx="6343650" cy="5257800"/>
          </a:xfrm>
          <a:custGeom>
            <a:avLst/>
            <a:gdLst/>
            <a:ahLst/>
            <a:cxnLst/>
            <a:rect l="l" t="t" r="r" b="b"/>
            <a:pathLst>
              <a:path w="6343650" h="5257800">
                <a:moveTo>
                  <a:pt x="114305" y="0"/>
                </a:moveTo>
                <a:lnTo>
                  <a:pt x="6229345" y="0"/>
                </a:lnTo>
                <a:cubicBezTo>
                  <a:pt x="6292474" y="0"/>
                  <a:pt x="6343650" y="51176"/>
                  <a:pt x="6343650" y="114305"/>
                </a:cubicBezTo>
                <a:lnTo>
                  <a:pt x="6343650" y="5143495"/>
                </a:lnTo>
                <a:cubicBezTo>
                  <a:pt x="6343650" y="5206624"/>
                  <a:pt x="6292474" y="5257800"/>
                  <a:pt x="6229345" y="5257800"/>
                </a:cubicBezTo>
                <a:lnTo>
                  <a:pt x="114305" y="5257800"/>
                </a:lnTo>
                <a:cubicBezTo>
                  <a:pt x="51176" y="5257800"/>
                  <a:pt x="0" y="5206624"/>
                  <a:pt x="0" y="51434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3400" y="1371600"/>
            <a:ext cx="61341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2D2D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误差类型对比分析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33400" y="1752600"/>
          <a:ext cx="6038850" cy="3333752"/>
        </p:xfrm>
        <a:graphic>
          <a:graphicData uri="http://schemas.openxmlformats.org/drawingml/2006/table">
            <a:tbl>
              <a:tblPr/>
              <a:tblGrid>
                <a:gridCol w="1030325"/>
                <a:gridCol w="1879389"/>
                <a:gridCol w="1240206"/>
                <a:gridCol w="1888929"/>
              </a:tblGrid>
              <a:tr h="833438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误差类型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6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典型特征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6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影响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6A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根因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6A3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类型1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冷启动用户漏报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历史行为&lt;5次，漏斗得分&lt;0.5，但实际购买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Recall仅~69%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31%真实购买者被误判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缺乏行为序列支撑，无法捕捉"沉默用户突然购买"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类型2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加购后流失误报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已加购+高关注度，但3天后未购买（比价流失）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Precision仅50%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约一半"高意向"实际未转化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静态特征无法建模"加购后时间衰减"的动态过程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1289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类型3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跨类目尝鲜误判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历史偏好类目A（得分0.9），实际购买类目B（新品类）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模型prob仅0.22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en-US" sz="1200" u="none" dirty="0">
                          <a:solidFill>
                            <a:srgbClr val="2D2D2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基于历史偏好错误排斥新品类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4A4A4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pitchFamily="34" charset="-120"/>
                        </a:rPr>
                        <a:t>需要多兴趣建模（Multi-Interest）而非单一用户向量</a:t>
                      </a:r>
                      <a:endParaRPr lang="en-US"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73214" y="1219200"/>
            <a:ext cx="4933950" cy="3524250"/>
          </a:xfrm>
          <a:custGeom>
            <a:avLst/>
            <a:gdLst/>
            <a:ahLst/>
            <a:cxnLst/>
            <a:rect l="l" t="t" r="r" b="b"/>
            <a:pathLst>
              <a:path w="4933950" h="3524250">
                <a:moveTo>
                  <a:pt x="114291" y="0"/>
                </a:moveTo>
                <a:lnTo>
                  <a:pt x="4819659" y="0"/>
                </a:lnTo>
                <a:cubicBezTo>
                  <a:pt x="4882780" y="0"/>
                  <a:pt x="4933950" y="51170"/>
                  <a:pt x="4933950" y="114291"/>
                </a:cubicBezTo>
                <a:lnTo>
                  <a:pt x="4933950" y="3409959"/>
                </a:lnTo>
                <a:cubicBezTo>
                  <a:pt x="4933950" y="3473080"/>
                  <a:pt x="4882780" y="3524250"/>
                  <a:pt x="4819659" y="3524250"/>
                </a:cubicBezTo>
                <a:lnTo>
                  <a:pt x="114291" y="3524250"/>
                </a:lnTo>
                <a:cubicBezTo>
                  <a:pt x="51170" y="3524250"/>
                  <a:pt x="0" y="3473080"/>
                  <a:pt x="0" y="34099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25614" y="1371600"/>
            <a:ext cx="47244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2D2D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误差分布可视化</a:t>
            </a:r>
            <a:endParaRPr lang="en-US" sz="1600" dirty="0"/>
          </a:p>
        </p:txBody>
      </p:sp>
      <p:pic>
        <p:nvPicPr>
          <p:cNvPr id="10" name="Image 0" descr="https://kimi-img.moonshot.cn/pub/slides/26-04-03-16:35:00-d77nnd4chmtggap0bsm0.png"/>
          <p:cNvPicPr>
            <a:picLocks noChangeAspect="1"/>
          </p:cNvPicPr>
          <p:nvPr/>
        </p:nvPicPr>
        <p:blipFill>
          <a:blip r:embed="rId1"/>
          <a:srcRect t="23" b="23"/>
          <a:stretch>
            <a:fillRect/>
          </a:stretch>
        </p:blipFill>
        <p:spPr>
          <a:xfrm>
            <a:off x="7025614" y="1752600"/>
            <a:ext cx="4629150" cy="1905000"/>
          </a:xfrm>
          <a:prstGeom prst="roundRect">
            <a:avLst>
              <a:gd name="adj" fmla="val 0"/>
            </a:avLst>
          </a:prstGeom>
        </p:spPr>
      </p:pic>
      <p:sp>
        <p:nvSpPr>
          <p:cNvPr id="11" name="Shape 7"/>
          <p:cNvSpPr/>
          <p:nvPr/>
        </p:nvSpPr>
        <p:spPr>
          <a:xfrm>
            <a:off x="6873214" y="4895850"/>
            <a:ext cx="4933950" cy="1581150"/>
          </a:xfrm>
          <a:custGeom>
            <a:avLst/>
            <a:gdLst/>
            <a:ahLst/>
            <a:cxnLst/>
            <a:rect l="l" t="t" r="r" b="b"/>
            <a:pathLst>
              <a:path w="4933950" h="1581150">
                <a:moveTo>
                  <a:pt x="114301" y="0"/>
                </a:moveTo>
                <a:lnTo>
                  <a:pt x="4819649" y="0"/>
                </a:lnTo>
                <a:cubicBezTo>
                  <a:pt x="4882776" y="0"/>
                  <a:pt x="4933950" y="51174"/>
                  <a:pt x="4933950" y="114301"/>
                </a:cubicBezTo>
                <a:lnTo>
                  <a:pt x="4933950" y="1466849"/>
                </a:lnTo>
                <a:cubicBezTo>
                  <a:pt x="4933950" y="1529976"/>
                  <a:pt x="4882776" y="1581150"/>
                  <a:pt x="4819649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E86A33"/>
              </a:gs>
              <a:gs pos="100000">
                <a:srgbClr val="F4C542"/>
              </a:gs>
            </a:gsLst>
            <a:lin ang="2700000" scaled="1"/>
          </a:gradFill>
        </p:spPr>
      </p:sp>
      <p:sp>
        <p:nvSpPr>
          <p:cNvPr id="12" name="Text 8"/>
          <p:cNvSpPr/>
          <p:nvPr/>
        </p:nvSpPr>
        <p:spPr>
          <a:xfrm>
            <a:off x="7025614" y="5048250"/>
            <a:ext cx="47148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limama ShuHeiTi" pitchFamily="34" charset="-122"/>
                <a:ea typeface="Alimama ShuHeiTi" pitchFamily="34" charset="-122"/>
                <a:cs typeface="Alimama ShuHeiTi" pitchFamily="34" charset="-120"/>
              </a:rPr>
              <a:t>💡 改进方向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13654" y="546735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30414" y="5429250"/>
            <a:ext cx="32194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冷启动优化：</a:t>
            </a: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引入用户画像+相似用户迁移学习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102409" y="579120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330414" y="5753100"/>
            <a:ext cx="35242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时序建模：</a:t>
            </a: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加入时间衰减因子+购物车停留时长特征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100689" y="611505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330414" y="6076950"/>
            <a:ext cx="379095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多兴趣建模：</a:t>
            </a:r>
            <a:r>
              <a:rPr lang="en-US" sz="12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采用Multi-Interest Network替代单一向量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2" bldLvl="0" animBg="1" advAuto="0"/>
      <p:bldP spid="257" grpId="1" bldLvl="0" animBg="1" advAuto="0"/>
      <p:bldP spid="256" grpId="3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矩形 33"/>
          <p:cNvSpPr/>
          <p:nvPr/>
        </p:nvSpPr>
        <p:spPr>
          <a:xfrm>
            <a:off x="-389" y="0"/>
            <a:ext cx="12189602" cy="6858000"/>
          </a:xfrm>
          <a:prstGeom prst="rect">
            <a:avLst/>
          </a:prstGeom>
          <a:blipFill>
            <a:blip r:embed="rId1"/>
            <a:stretch>
              <a:fillRect/>
            </a:stretch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35" name="矩形 24"/>
          <p:cNvSpPr/>
          <p:nvPr/>
        </p:nvSpPr>
        <p:spPr>
          <a:xfrm>
            <a:off x="-389" y="1797668"/>
            <a:ext cx="12189602" cy="3454201"/>
          </a:xfrm>
          <a:prstGeom prst="rect">
            <a:avLst/>
          </a:prstGeom>
          <a:solidFill>
            <a:srgbClr val="F26F20">
              <a:alpha val="85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36" name="直接连接符 25"/>
          <p:cNvSpPr/>
          <p:nvPr/>
        </p:nvSpPr>
        <p:spPr>
          <a:xfrm flipH="1">
            <a:off x="4367119" y="2181321"/>
            <a:ext cx="1" cy="2686900"/>
          </a:xfrm>
          <a:prstGeom prst="line">
            <a:avLst/>
          </a:prstGeom>
          <a:ln>
            <a:solidFill>
              <a:schemeClr val="accent1">
                <a:lumOff val="44000"/>
              </a:schemeClr>
            </a:solidFill>
            <a:prstDash val="sysDash"/>
          </a:ln>
        </p:spPr>
        <p:txBody>
          <a:bodyPr lIns="45719" rIns="45719"/>
          <a:lstStyle/>
          <a:p/>
        </p:txBody>
      </p:sp>
      <p:sp>
        <p:nvSpPr>
          <p:cNvPr id="237" name="TextBox 10"/>
          <p:cNvSpPr txBox="1"/>
          <p:nvPr/>
        </p:nvSpPr>
        <p:spPr>
          <a:xfrm>
            <a:off x="5031966" y="2421350"/>
            <a:ext cx="5913271" cy="7697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>
              <a:defRPr sz="2600">
                <a:solidFill>
                  <a:schemeClr val="accent1">
                    <a:lumOff val="44000"/>
                  </a:schemeClr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t>第四部分 </a:t>
            </a:r>
            <a:r>
              <a:rPr sz="3100"/>
              <a:t>| </a:t>
            </a:r>
            <a:r>
              <a:rPr sz="5300"/>
              <a:t>总结与展望</a:t>
            </a:r>
            <a:endParaRPr sz="5300"/>
          </a:p>
        </p:txBody>
      </p:sp>
      <p:sp>
        <p:nvSpPr>
          <p:cNvPr id="238" name="文本框 9"/>
          <p:cNvSpPr txBox="1"/>
          <p:nvPr/>
        </p:nvSpPr>
        <p:spPr>
          <a:xfrm>
            <a:off x="5070890" y="3516043"/>
            <a:ext cx="2031634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  <a:r>
              <a:t>项目总结</a:t>
            </a:r>
          </a:p>
        </p:txBody>
      </p:sp>
      <p:sp>
        <p:nvSpPr>
          <p:cNvPr id="239" name="文本框 9"/>
          <p:cNvSpPr txBox="1"/>
          <p:nvPr/>
        </p:nvSpPr>
        <p:spPr>
          <a:xfrm>
            <a:off x="7591169" y="3516043"/>
            <a:ext cx="2031634" cy="25908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28600" lvl="1" indent="-228600">
              <a:buSzPct val="100000"/>
              <a:buChar char="●"/>
              <a:defRPr sz="2000">
                <a:solidFill>
                  <a:schemeClr val="accent1">
                    <a:lumOff val="44000"/>
                  </a:schemeClr>
                </a:solidFill>
                <a:latin typeface="Heiti SC Light"/>
                <a:ea typeface="Heiti SC Light"/>
                <a:cs typeface="Heiti SC Light"/>
                <a:sym typeface="Heiti SC Light"/>
              </a:defRPr>
            </a:pPr>
            <a:r>
              <a:t>个人收获与展望</a:t>
            </a:r>
          </a:p>
        </p:txBody>
      </p:sp>
      <p:grpSp>
        <p:nvGrpSpPr>
          <p:cNvPr id="242" name="组合 14"/>
          <p:cNvGrpSpPr/>
          <p:nvPr/>
        </p:nvGrpSpPr>
        <p:grpSpPr>
          <a:xfrm>
            <a:off x="1575943" y="2565268"/>
            <a:ext cx="1919004" cy="1919002"/>
            <a:chOff x="0" y="0"/>
            <a:chExt cx="1919002" cy="1919000"/>
          </a:xfrm>
        </p:grpSpPr>
        <p:sp>
          <p:nvSpPr>
            <p:cNvPr id="240" name="椭圆 15"/>
            <p:cNvSpPr/>
            <p:nvPr/>
          </p:nvSpPr>
          <p:spPr>
            <a:xfrm>
              <a:off x="-1" y="-1"/>
              <a:ext cx="1919004" cy="1919002"/>
            </a:xfrm>
            <a:prstGeom prst="ellipse">
              <a:avLst/>
            </a:prstGeom>
            <a:gradFill flip="none" rotWithShape="1">
              <a:gsLst>
                <a:gs pos="0">
                  <a:srgbClr val="E0E0E0"/>
                </a:gs>
                <a:gs pos="100000">
                  <a:schemeClr val="accent1">
                    <a:lumOff val="44000"/>
                  </a:schemeClr>
                </a:gs>
              </a:gsLst>
              <a:lin ang="8100000" scaled="0"/>
            </a:gradFill>
            <a:ln w="63500" cap="flat">
              <a:solidFill>
                <a:srgbClr val="ECECEC"/>
              </a:solidFill>
              <a:prstDash val="solid"/>
              <a:round/>
            </a:ln>
            <a:effectLst>
              <a:outerShdw blurRad="254000" dist="279400" dir="8100000" rotWithShape="0">
                <a:schemeClr val="accent6">
                  <a:alpha val="40000"/>
                </a:scheme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  <p:sp>
          <p:nvSpPr>
            <p:cNvPr id="241" name="KSO_Shape"/>
            <p:cNvSpPr/>
            <p:nvPr/>
          </p:nvSpPr>
          <p:spPr>
            <a:xfrm>
              <a:off x="534422" y="387908"/>
              <a:ext cx="959284" cy="10340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6354"/>
                  </a:moveTo>
                  <a:cubicBezTo>
                    <a:pt x="21600" y="19249"/>
                    <a:pt x="19078" y="21600"/>
                    <a:pt x="15961" y="21600"/>
                  </a:cubicBezTo>
                  <a:cubicBezTo>
                    <a:pt x="12844" y="21600"/>
                    <a:pt x="10322" y="19249"/>
                    <a:pt x="10322" y="16354"/>
                  </a:cubicBezTo>
                  <a:cubicBezTo>
                    <a:pt x="10322" y="13622"/>
                    <a:pt x="12459" y="11380"/>
                    <a:pt x="15333" y="11139"/>
                  </a:cubicBezTo>
                  <a:cubicBezTo>
                    <a:pt x="15333" y="9948"/>
                    <a:pt x="15333" y="9948"/>
                    <a:pt x="15333" y="9948"/>
                  </a:cubicBezTo>
                  <a:cubicBezTo>
                    <a:pt x="14470" y="9948"/>
                    <a:pt x="14470" y="9948"/>
                    <a:pt x="14470" y="9948"/>
                  </a:cubicBezTo>
                  <a:cubicBezTo>
                    <a:pt x="14470" y="9045"/>
                    <a:pt x="14470" y="9045"/>
                    <a:pt x="14470" y="9045"/>
                  </a:cubicBezTo>
                  <a:cubicBezTo>
                    <a:pt x="17184" y="9045"/>
                    <a:pt x="17184" y="9045"/>
                    <a:pt x="17184" y="9045"/>
                  </a:cubicBezTo>
                  <a:cubicBezTo>
                    <a:pt x="17184" y="9948"/>
                    <a:pt x="17184" y="9948"/>
                    <a:pt x="17184" y="9948"/>
                  </a:cubicBezTo>
                  <a:cubicBezTo>
                    <a:pt x="16355" y="9948"/>
                    <a:pt x="16355" y="9948"/>
                    <a:pt x="16355" y="9948"/>
                  </a:cubicBezTo>
                  <a:cubicBezTo>
                    <a:pt x="16355" y="11139"/>
                    <a:pt x="16355" y="11139"/>
                    <a:pt x="16355" y="11139"/>
                  </a:cubicBezTo>
                  <a:cubicBezTo>
                    <a:pt x="17436" y="11232"/>
                    <a:pt x="18550" y="11606"/>
                    <a:pt x="19363" y="12182"/>
                  </a:cubicBezTo>
                  <a:cubicBezTo>
                    <a:pt x="20486" y="11139"/>
                    <a:pt x="20486" y="11139"/>
                    <a:pt x="20486" y="11139"/>
                  </a:cubicBezTo>
                  <a:cubicBezTo>
                    <a:pt x="21575" y="12150"/>
                    <a:pt x="21575" y="12150"/>
                    <a:pt x="21575" y="12150"/>
                  </a:cubicBezTo>
                  <a:cubicBezTo>
                    <a:pt x="20452" y="13194"/>
                    <a:pt x="20452" y="13194"/>
                    <a:pt x="20452" y="13194"/>
                  </a:cubicBezTo>
                  <a:cubicBezTo>
                    <a:pt x="21173" y="14073"/>
                    <a:pt x="21600" y="15171"/>
                    <a:pt x="21600" y="16354"/>
                  </a:cubicBezTo>
                  <a:close/>
                  <a:moveTo>
                    <a:pt x="15961" y="12065"/>
                  </a:moveTo>
                  <a:cubicBezTo>
                    <a:pt x="13414" y="12065"/>
                    <a:pt x="11345" y="13995"/>
                    <a:pt x="11345" y="16354"/>
                  </a:cubicBezTo>
                  <a:cubicBezTo>
                    <a:pt x="11345" y="18720"/>
                    <a:pt x="13414" y="20643"/>
                    <a:pt x="15961" y="20643"/>
                  </a:cubicBezTo>
                  <a:cubicBezTo>
                    <a:pt x="18508" y="20643"/>
                    <a:pt x="20578" y="18720"/>
                    <a:pt x="20578" y="16354"/>
                  </a:cubicBezTo>
                  <a:cubicBezTo>
                    <a:pt x="20578" y="13995"/>
                    <a:pt x="18508" y="12065"/>
                    <a:pt x="15961" y="12065"/>
                  </a:cubicBezTo>
                  <a:close/>
                  <a:moveTo>
                    <a:pt x="16355" y="17179"/>
                  </a:moveTo>
                  <a:cubicBezTo>
                    <a:pt x="16355" y="17747"/>
                    <a:pt x="16355" y="17747"/>
                    <a:pt x="16355" y="17747"/>
                  </a:cubicBezTo>
                  <a:cubicBezTo>
                    <a:pt x="15450" y="17747"/>
                    <a:pt x="15450" y="17747"/>
                    <a:pt x="15450" y="17747"/>
                  </a:cubicBezTo>
                  <a:cubicBezTo>
                    <a:pt x="15450" y="17179"/>
                    <a:pt x="15450" y="17179"/>
                    <a:pt x="15450" y="17179"/>
                  </a:cubicBezTo>
                  <a:cubicBezTo>
                    <a:pt x="15140" y="17015"/>
                    <a:pt x="14939" y="16712"/>
                    <a:pt x="14939" y="16354"/>
                  </a:cubicBezTo>
                  <a:cubicBezTo>
                    <a:pt x="14939" y="16003"/>
                    <a:pt x="15182" y="15700"/>
                    <a:pt x="15484" y="15536"/>
                  </a:cubicBezTo>
                  <a:cubicBezTo>
                    <a:pt x="15484" y="13419"/>
                    <a:pt x="15484" y="13419"/>
                    <a:pt x="15484" y="13419"/>
                  </a:cubicBezTo>
                  <a:cubicBezTo>
                    <a:pt x="16355" y="13419"/>
                    <a:pt x="16355" y="13419"/>
                    <a:pt x="16355" y="13419"/>
                  </a:cubicBezTo>
                  <a:cubicBezTo>
                    <a:pt x="16355" y="15536"/>
                    <a:pt x="16355" y="15536"/>
                    <a:pt x="16355" y="15536"/>
                  </a:cubicBezTo>
                  <a:cubicBezTo>
                    <a:pt x="16665" y="15700"/>
                    <a:pt x="16983" y="16003"/>
                    <a:pt x="16983" y="16354"/>
                  </a:cubicBezTo>
                  <a:cubicBezTo>
                    <a:pt x="16983" y="16712"/>
                    <a:pt x="16665" y="17015"/>
                    <a:pt x="16355" y="17179"/>
                  </a:cubicBezTo>
                  <a:close/>
                  <a:moveTo>
                    <a:pt x="3485" y="13388"/>
                  </a:moveTo>
                  <a:cubicBezTo>
                    <a:pt x="9384" y="13388"/>
                    <a:pt x="9384" y="13388"/>
                    <a:pt x="9384" y="13388"/>
                  </a:cubicBezTo>
                  <a:cubicBezTo>
                    <a:pt x="9166" y="13801"/>
                    <a:pt x="8999" y="14229"/>
                    <a:pt x="8881" y="14680"/>
                  </a:cubicBezTo>
                  <a:cubicBezTo>
                    <a:pt x="3485" y="14680"/>
                    <a:pt x="3485" y="14680"/>
                    <a:pt x="3485" y="14680"/>
                  </a:cubicBezTo>
                  <a:cubicBezTo>
                    <a:pt x="3100" y="14680"/>
                    <a:pt x="2790" y="14392"/>
                    <a:pt x="2790" y="14034"/>
                  </a:cubicBezTo>
                  <a:cubicBezTo>
                    <a:pt x="2790" y="13676"/>
                    <a:pt x="3100" y="13388"/>
                    <a:pt x="3485" y="13388"/>
                  </a:cubicBezTo>
                  <a:close/>
                  <a:moveTo>
                    <a:pt x="9929" y="12524"/>
                  </a:moveTo>
                  <a:cubicBezTo>
                    <a:pt x="3485" y="12524"/>
                    <a:pt x="3485" y="12524"/>
                    <a:pt x="3485" y="12524"/>
                  </a:cubicBezTo>
                  <a:cubicBezTo>
                    <a:pt x="3100" y="12524"/>
                    <a:pt x="2790" y="12236"/>
                    <a:pt x="2790" y="11878"/>
                  </a:cubicBezTo>
                  <a:cubicBezTo>
                    <a:pt x="2790" y="11520"/>
                    <a:pt x="3100" y="11224"/>
                    <a:pt x="3485" y="11224"/>
                  </a:cubicBezTo>
                  <a:cubicBezTo>
                    <a:pt x="11211" y="11224"/>
                    <a:pt x="11211" y="11224"/>
                    <a:pt x="11211" y="11224"/>
                  </a:cubicBezTo>
                  <a:cubicBezTo>
                    <a:pt x="10716" y="11606"/>
                    <a:pt x="10289" y="12042"/>
                    <a:pt x="9929" y="12524"/>
                  </a:cubicBezTo>
                  <a:close/>
                  <a:moveTo>
                    <a:pt x="3485" y="8204"/>
                  </a:moveTo>
                  <a:cubicBezTo>
                    <a:pt x="3100" y="8204"/>
                    <a:pt x="2790" y="7916"/>
                    <a:pt x="2790" y="7558"/>
                  </a:cubicBezTo>
                  <a:cubicBezTo>
                    <a:pt x="2790" y="7200"/>
                    <a:pt x="3100" y="6912"/>
                    <a:pt x="3485" y="6912"/>
                  </a:cubicBezTo>
                  <a:cubicBezTo>
                    <a:pt x="12786" y="6912"/>
                    <a:pt x="12786" y="6912"/>
                    <a:pt x="12786" y="6912"/>
                  </a:cubicBezTo>
                  <a:cubicBezTo>
                    <a:pt x="13171" y="6912"/>
                    <a:pt x="13481" y="7200"/>
                    <a:pt x="13481" y="7558"/>
                  </a:cubicBezTo>
                  <a:cubicBezTo>
                    <a:pt x="13481" y="7916"/>
                    <a:pt x="13171" y="8204"/>
                    <a:pt x="12786" y="8204"/>
                  </a:cubicBezTo>
                  <a:lnTo>
                    <a:pt x="3485" y="8204"/>
                  </a:lnTo>
                  <a:close/>
                  <a:moveTo>
                    <a:pt x="3485" y="10368"/>
                  </a:moveTo>
                  <a:cubicBezTo>
                    <a:pt x="3100" y="10368"/>
                    <a:pt x="2790" y="10072"/>
                    <a:pt x="2790" y="9714"/>
                  </a:cubicBezTo>
                  <a:cubicBezTo>
                    <a:pt x="2790" y="9356"/>
                    <a:pt x="3100" y="9068"/>
                    <a:pt x="3485" y="9068"/>
                  </a:cubicBezTo>
                  <a:cubicBezTo>
                    <a:pt x="12786" y="9068"/>
                    <a:pt x="12786" y="9068"/>
                    <a:pt x="12786" y="9068"/>
                  </a:cubicBezTo>
                  <a:cubicBezTo>
                    <a:pt x="12870" y="9068"/>
                    <a:pt x="12945" y="9091"/>
                    <a:pt x="13020" y="9107"/>
                  </a:cubicBezTo>
                  <a:cubicBezTo>
                    <a:pt x="13020" y="10205"/>
                    <a:pt x="13020" y="10205"/>
                    <a:pt x="13020" y="10205"/>
                  </a:cubicBezTo>
                  <a:cubicBezTo>
                    <a:pt x="12895" y="10259"/>
                    <a:pt x="12777" y="10306"/>
                    <a:pt x="12652" y="10368"/>
                  </a:cubicBezTo>
                  <a:lnTo>
                    <a:pt x="3485" y="10368"/>
                  </a:lnTo>
                  <a:close/>
                  <a:moveTo>
                    <a:pt x="14880" y="5612"/>
                  </a:moveTo>
                  <a:cubicBezTo>
                    <a:pt x="14880" y="4421"/>
                    <a:pt x="13833" y="3456"/>
                    <a:pt x="12551" y="3456"/>
                  </a:cubicBezTo>
                  <a:cubicBezTo>
                    <a:pt x="12526" y="3456"/>
                    <a:pt x="12526" y="3456"/>
                    <a:pt x="12526" y="3456"/>
                  </a:cubicBezTo>
                  <a:cubicBezTo>
                    <a:pt x="12543" y="3526"/>
                    <a:pt x="12551" y="3596"/>
                    <a:pt x="12551" y="3666"/>
                  </a:cubicBezTo>
                  <a:cubicBezTo>
                    <a:pt x="12551" y="4507"/>
                    <a:pt x="11822" y="5184"/>
                    <a:pt x="10926" y="5184"/>
                  </a:cubicBezTo>
                  <a:cubicBezTo>
                    <a:pt x="5346" y="5184"/>
                    <a:pt x="5346" y="5184"/>
                    <a:pt x="5346" y="5184"/>
                  </a:cubicBezTo>
                  <a:cubicBezTo>
                    <a:pt x="4449" y="5184"/>
                    <a:pt x="3720" y="4507"/>
                    <a:pt x="3720" y="3666"/>
                  </a:cubicBezTo>
                  <a:cubicBezTo>
                    <a:pt x="3720" y="3596"/>
                    <a:pt x="3728" y="3526"/>
                    <a:pt x="3745" y="3456"/>
                  </a:cubicBezTo>
                  <a:cubicBezTo>
                    <a:pt x="3720" y="3456"/>
                    <a:pt x="3720" y="3456"/>
                    <a:pt x="3720" y="3456"/>
                  </a:cubicBezTo>
                  <a:cubicBezTo>
                    <a:pt x="2438" y="3456"/>
                    <a:pt x="1391" y="4421"/>
                    <a:pt x="1391" y="5612"/>
                  </a:cubicBezTo>
                  <a:cubicBezTo>
                    <a:pt x="1391" y="18136"/>
                    <a:pt x="1391" y="18136"/>
                    <a:pt x="1391" y="18136"/>
                  </a:cubicBezTo>
                  <a:cubicBezTo>
                    <a:pt x="1391" y="19327"/>
                    <a:pt x="2438" y="20300"/>
                    <a:pt x="3720" y="20300"/>
                  </a:cubicBezTo>
                  <a:cubicBezTo>
                    <a:pt x="10222" y="20300"/>
                    <a:pt x="10222" y="20300"/>
                    <a:pt x="10222" y="20300"/>
                  </a:cubicBezTo>
                  <a:cubicBezTo>
                    <a:pt x="10649" y="20798"/>
                    <a:pt x="11152" y="21234"/>
                    <a:pt x="11713" y="21592"/>
                  </a:cubicBezTo>
                  <a:cubicBezTo>
                    <a:pt x="2790" y="21592"/>
                    <a:pt x="2790" y="21592"/>
                    <a:pt x="2790" y="21592"/>
                  </a:cubicBezTo>
                  <a:cubicBezTo>
                    <a:pt x="1508" y="21592"/>
                    <a:pt x="0" y="20627"/>
                    <a:pt x="0" y="19436"/>
                  </a:cubicBezTo>
                  <a:cubicBezTo>
                    <a:pt x="0" y="4748"/>
                    <a:pt x="0" y="4748"/>
                    <a:pt x="0" y="4748"/>
                  </a:cubicBezTo>
                  <a:cubicBezTo>
                    <a:pt x="0" y="3557"/>
                    <a:pt x="1508" y="2592"/>
                    <a:pt x="2790" y="2592"/>
                  </a:cubicBezTo>
                  <a:cubicBezTo>
                    <a:pt x="4206" y="2592"/>
                    <a:pt x="4206" y="2592"/>
                    <a:pt x="4206" y="2592"/>
                  </a:cubicBezTo>
                  <a:cubicBezTo>
                    <a:pt x="4499" y="2320"/>
                    <a:pt x="4901" y="2156"/>
                    <a:pt x="5346" y="2156"/>
                  </a:cubicBezTo>
                  <a:cubicBezTo>
                    <a:pt x="5547" y="2156"/>
                    <a:pt x="5547" y="2156"/>
                    <a:pt x="5547" y="2156"/>
                  </a:cubicBezTo>
                  <a:cubicBezTo>
                    <a:pt x="5681" y="950"/>
                    <a:pt x="6770" y="0"/>
                    <a:pt x="8110" y="0"/>
                  </a:cubicBezTo>
                  <a:cubicBezTo>
                    <a:pt x="9443" y="0"/>
                    <a:pt x="10532" y="950"/>
                    <a:pt x="10666" y="2156"/>
                  </a:cubicBezTo>
                  <a:cubicBezTo>
                    <a:pt x="10926" y="2156"/>
                    <a:pt x="10926" y="2156"/>
                    <a:pt x="10926" y="2156"/>
                  </a:cubicBezTo>
                  <a:cubicBezTo>
                    <a:pt x="11370" y="2156"/>
                    <a:pt x="11772" y="2320"/>
                    <a:pt x="12065" y="2592"/>
                  </a:cubicBezTo>
                  <a:cubicBezTo>
                    <a:pt x="13481" y="2592"/>
                    <a:pt x="13481" y="2592"/>
                    <a:pt x="13481" y="2592"/>
                  </a:cubicBezTo>
                  <a:cubicBezTo>
                    <a:pt x="14771" y="2592"/>
                    <a:pt x="16271" y="3557"/>
                    <a:pt x="16271" y="4748"/>
                  </a:cubicBezTo>
                  <a:cubicBezTo>
                    <a:pt x="16271" y="8632"/>
                    <a:pt x="16271" y="8632"/>
                    <a:pt x="16271" y="8632"/>
                  </a:cubicBezTo>
                  <a:cubicBezTo>
                    <a:pt x="14880" y="8632"/>
                    <a:pt x="14880" y="8632"/>
                    <a:pt x="14880" y="8632"/>
                  </a:cubicBezTo>
                  <a:lnTo>
                    <a:pt x="14880" y="5612"/>
                  </a:lnTo>
                  <a:close/>
                  <a:moveTo>
                    <a:pt x="8110" y="1175"/>
                  </a:moveTo>
                  <a:cubicBezTo>
                    <a:pt x="7382" y="1175"/>
                    <a:pt x="6787" y="1728"/>
                    <a:pt x="6787" y="2397"/>
                  </a:cubicBezTo>
                  <a:cubicBezTo>
                    <a:pt x="6787" y="3075"/>
                    <a:pt x="7382" y="3627"/>
                    <a:pt x="8110" y="3627"/>
                  </a:cubicBezTo>
                  <a:cubicBezTo>
                    <a:pt x="8839" y="3627"/>
                    <a:pt x="9426" y="3075"/>
                    <a:pt x="9426" y="2397"/>
                  </a:cubicBezTo>
                  <a:cubicBezTo>
                    <a:pt x="9426" y="1728"/>
                    <a:pt x="8839" y="1175"/>
                    <a:pt x="8110" y="1175"/>
                  </a:cubicBezTo>
                  <a:close/>
                </a:path>
              </a:pathLst>
            </a:custGeom>
            <a:solidFill>
              <a:srgbClr val="F26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3100"/>
              </a:pPr>
            </a:p>
          </p:txBody>
        </p:sp>
      </p:grpSp>
      <p:sp>
        <p:nvSpPr>
          <p:cNvPr id="243" name="2"/>
          <p:cNvSpPr/>
          <p:nvPr/>
        </p:nvSpPr>
        <p:spPr>
          <a:xfrm>
            <a:off x="7995253" y="106076"/>
            <a:ext cx="1020239" cy="1008450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4" name="1"/>
          <p:cNvSpPr/>
          <p:nvPr/>
        </p:nvSpPr>
        <p:spPr>
          <a:xfrm>
            <a:off x="7027963" y="-379535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5" name="3"/>
          <p:cNvSpPr/>
          <p:nvPr/>
        </p:nvSpPr>
        <p:spPr>
          <a:xfrm>
            <a:off x="9117392" y="-761823"/>
            <a:ext cx="1262891" cy="124830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6" name="4"/>
          <p:cNvSpPr/>
          <p:nvPr/>
        </p:nvSpPr>
        <p:spPr>
          <a:xfrm>
            <a:off x="10636766" y="-159345"/>
            <a:ext cx="795353" cy="786162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7" name="6"/>
          <p:cNvSpPr/>
          <p:nvPr/>
        </p:nvSpPr>
        <p:spPr>
          <a:xfrm>
            <a:off x="11726385" y="-679850"/>
            <a:ext cx="962425" cy="951306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8" name="5"/>
          <p:cNvSpPr/>
          <p:nvPr/>
        </p:nvSpPr>
        <p:spPr>
          <a:xfrm>
            <a:off x="11527542" y="565591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49" name="8"/>
          <p:cNvSpPr/>
          <p:nvPr/>
        </p:nvSpPr>
        <p:spPr>
          <a:xfrm flipH="1">
            <a:off x="3115938" y="6653207"/>
            <a:ext cx="1020239" cy="100845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50" name="7"/>
          <p:cNvSpPr/>
          <p:nvPr/>
        </p:nvSpPr>
        <p:spPr>
          <a:xfrm flipH="1">
            <a:off x="4409213" y="6402904"/>
            <a:ext cx="694243" cy="69424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51" name="9"/>
          <p:cNvSpPr/>
          <p:nvPr/>
        </p:nvSpPr>
        <p:spPr>
          <a:xfrm flipH="1">
            <a:off x="1751122" y="6020613"/>
            <a:ext cx="1262892" cy="124830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52" name="9"/>
          <p:cNvSpPr/>
          <p:nvPr/>
        </p:nvSpPr>
        <p:spPr>
          <a:xfrm flipH="1">
            <a:off x="699311" y="6623094"/>
            <a:ext cx="795353" cy="786163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53" name="11"/>
          <p:cNvSpPr/>
          <p:nvPr/>
        </p:nvSpPr>
        <p:spPr>
          <a:xfrm flipH="1">
            <a:off x="-557396" y="6102589"/>
            <a:ext cx="962425" cy="951305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  <p:sp>
        <p:nvSpPr>
          <p:cNvPr id="254" name="10"/>
          <p:cNvSpPr/>
          <p:nvPr/>
        </p:nvSpPr>
        <p:spPr>
          <a:xfrm flipH="1">
            <a:off x="343522" y="7348918"/>
            <a:ext cx="260341" cy="260341"/>
          </a:xfrm>
          <a:prstGeom prst="ellipse">
            <a:avLst/>
          </a:prstGeom>
          <a:gradFill>
            <a:gsLst>
              <a:gs pos="0">
                <a:srgbClr val="E0E0E0"/>
              </a:gs>
              <a:gs pos="100000">
                <a:schemeClr val="accent1">
                  <a:lumOff val="44000"/>
                </a:schemeClr>
              </a:gs>
            </a:gsLst>
            <a:lin ang="8100000"/>
          </a:gradFill>
          <a:ln w="15875">
            <a:solidFill>
              <a:srgbClr val="ECECEC"/>
            </a:solidFill>
          </a:ln>
          <a:effectLst>
            <a:outerShdw blurRad="279400" dist="101600" dir="8100000" rotWithShape="0">
              <a:schemeClr val="accent6">
                <a:alpha val="40000"/>
              </a:schemeClr>
            </a:outerShdw>
          </a:effectLst>
        </p:spPr>
        <p:txBody>
          <a:bodyPr lIns="45719" rIns="45719" anchor="ctr"/>
          <a:lstStyle/>
          <a:p>
            <a:pPr algn="ctr">
              <a:defRPr sz="3100">
                <a:solidFill>
                  <a:schemeClr val="accent1">
                    <a:lumOff val="44000"/>
                  </a:schemeClr>
                </a:solidFill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dur="indefinite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1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" presetClass="entr" presetSubtype="8" fill="hold" grpId="4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dur="indefinite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indefinite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2" presetClass="entr" presetSubtype="4" fill="hold" grpId="6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indefinite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3" presetClass="entr" presetSubtype="16" fill="hold" grpId="7" nodeType="afterEffect">
                                  <p:stCondLst>
                                    <p:cond delay="2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dur="indefinite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932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32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400"/>
                            </p:stCondLst>
                            <p:childTnLst>
                              <p:par>
                                <p:cTn id="38" presetID="35" presetClass="emph" presetSubtype="0" repeatCount="3000" fill="hold" grpId="8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9" dur="25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900"/>
                            </p:stCondLst>
                            <p:childTnLst>
                              <p:par>
                                <p:cTn id="41" presetID="23" presetClass="entr" presetSubtype="16" fill="hold" grpId="9" nodeType="afterEffect">
                                  <p:stCondLst>
                                    <p:cond delay="318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indefinite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99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99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66"/>
                            </p:stCondLst>
                            <p:childTnLst>
                              <p:par>
                                <p:cTn id="46" presetID="35" presetClass="emph" presetSubtype="0" repeatCount="3000" fill="hold" grpId="10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25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8316"/>
                            </p:stCondLst>
                            <p:childTnLst>
                              <p:par>
                                <p:cTn id="49" presetID="23" presetClass="entr" presetSubtype="16" fill="hold" grpId="11" nodeType="afterEffect">
                                  <p:stCondLst>
                                    <p:cond delay="353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dur="indefinite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7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7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989"/>
                            </p:stCondLst>
                            <p:childTnLst>
                              <p:par>
                                <p:cTn id="54" presetID="35" presetClass="emph" presetSubtype="0" repeatCount="3000" fill="hold" grpId="12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5" dur="25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1739"/>
                            </p:stCondLst>
                            <p:childTnLst>
                              <p:par>
                                <p:cTn id="57" presetID="23" presetClass="entr" presetSubtype="16" fill="hold" grpId="13" nodeType="afterEffect">
                                  <p:stCondLst>
                                    <p:cond delay="32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dur="indefinite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997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97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306"/>
                            </p:stCondLst>
                            <p:childTnLst>
                              <p:par>
                                <p:cTn id="62" presetID="35" presetClass="emph" presetSubtype="0" repeatCount="3000" fill="hold" grpId="14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25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56"/>
                            </p:stCondLst>
                            <p:childTnLst>
                              <p:par>
                                <p:cTn id="65" presetID="23" presetClass="entr" presetSubtype="16" fill="hold" grpId="15" nodeType="afterEffect">
                                  <p:stCondLst>
                                    <p:cond delay="57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dur="indefinite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345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45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6230"/>
                            </p:stCondLst>
                            <p:childTnLst>
                              <p:par>
                                <p:cTn id="70" presetID="35" presetClass="emph" presetSubtype="0" repeatCount="3000" fill="hold" grpId="16" nodeType="afterEffect">
                                  <p:stCondLst>
                                    <p:cond delay="7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1" dur="25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480"/>
                            </p:stCondLst>
                            <p:childTnLst>
                              <p:par>
                                <p:cTn id="73" presetID="23" presetClass="entr" presetSubtype="16" fill="hold" grpId="17" nodeType="afterEffect">
                                  <p:stCondLst>
                                    <p:cond delay="592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dur="indefinite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6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6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382"/>
                            </p:stCondLst>
                            <p:childTnLst>
                              <p:par>
                                <p:cTn id="78" presetID="35" presetClass="emph" presetSubtype="0" repeatCount="3000" fill="hold" grpId="18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9" dur="25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1382"/>
                            </p:stCondLst>
                            <p:childTnLst>
                              <p:par>
                                <p:cTn id="81" presetID="23" presetClass="entr" presetSubtype="16" fill="hold" grpId="19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dur="indefinite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91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14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3046"/>
                            </p:stCondLst>
                            <p:childTnLst>
                              <p:par>
                                <p:cTn id="86" presetID="35" presetClass="emph" presetSubtype="0" repeatCount="3000" fill="hold" grpId="20" nodeType="afterEffect">
                                  <p:stCondLst>
                                    <p:cond delay="1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7" dur="25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46"/>
                            </p:stCondLst>
                            <p:childTnLst>
                              <p:par>
                                <p:cTn id="89" presetID="23" presetClass="entr" presetSubtype="16" fill="hold" grpId="21" nodeType="afterEffect">
                                  <p:stCondLst>
                                    <p:cond delay="36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dur="indefinite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9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91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248"/>
                            </p:stCondLst>
                            <p:childTnLst>
                              <p:par>
                                <p:cTn id="94" presetID="35" presetClass="emph" presetSubtype="0" repeatCount="3000" fill="hold" grpId="22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5" dur="25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7748"/>
                            </p:stCondLst>
                            <p:childTnLst>
                              <p:par>
                                <p:cTn id="97" presetID="23" presetClass="entr" presetSubtype="16" fill="hold" grpId="23" nodeType="afterEffect">
                                  <p:stCondLst>
                                    <p:cond delay="311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dur="indefinite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7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2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9029"/>
                            </p:stCondLst>
                            <p:childTnLst>
                              <p:par>
                                <p:cTn id="102" presetID="35" presetClass="emph" presetSubtype="0" repeatCount="3000" fill="hold" grpId="24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250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0529"/>
                            </p:stCondLst>
                            <p:childTnLst>
                              <p:par>
                                <p:cTn id="105" presetID="23" presetClass="entr" presetSubtype="16" fill="hold" grpId="25" nodeType="afterEffect">
                                  <p:stCondLst>
                                    <p:cond delay="265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343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43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1387"/>
                            </p:stCondLst>
                            <p:childTnLst>
                              <p:par>
                                <p:cTn id="110" presetID="35" presetClass="emph" presetSubtype="0" repeatCount="3000" fill="hold" grpId="26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1" dur="25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2387"/>
                            </p:stCondLst>
                            <p:childTnLst>
                              <p:par>
                                <p:cTn id="113" presetID="23" presetClass="entr" presetSubtype="16" fill="hold" grpId="27" nodeType="afterEffect">
                                  <p:stCondLst>
                                    <p:cond delay="459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dur="indefinite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74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74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3871"/>
                            </p:stCondLst>
                            <p:childTnLst>
                              <p:par>
                                <p:cTn id="118" presetID="35" presetClass="emph" presetSubtype="0" repeatCount="3000" fill="hold" grpId="28" nodeType="afterEffect">
                                  <p:stCondLst>
                                    <p:cond delay="125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25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5621"/>
                            </p:stCondLst>
                            <p:childTnLst>
                              <p:par>
                                <p:cTn id="121" presetID="23" presetClass="entr" presetSubtype="16" fill="hold" grpId="29" nodeType="afterEffect">
                                  <p:stCondLst>
                                    <p:cond delay="364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dur="indefinite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675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75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6910"/>
                            </p:stCondLst>
                            <p:childTnLst>
                              <p:par>
                                <p:cTn id="126" presetID="35" presetClass="emph" presetSubtype="0" repeatCount="3000" fill="hold" grpId="30" nodeType="afterEffect">
                                  <p:stCondLst>
                                    <p:cond delay="10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7" dur="25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16" animBg="1" advAuto="0"/>
      <p:bldP spid="250" grpId="18" animBg="1" advAuto="0"/>
      <p:bldP spid="237" grpId="4" animBg="1" advAuto="0"/>
      <p:bldP spid="252" grpId="11" animBg="1" advAuto="0"/>
      <p:bldP spid="246" grpId="26" animBg="1" advAuto="0"/>
      <p:bldP spid="248" grpId="27" animBg="1" advAuto="0"/>
      <p:bldP spid="248" grpId="28" animBg="1" advAuto="0"/>
      <p:bldP spid="247" grpId="29" animBg="1" advAuto="0"/>
      <p:bldP spid="238" grpId="5" animBg="1" advAuto="0"/>
      <p:bldP spid="239" grpId="6" animBg="1" advAuto="0"/>
      <p:bldP spid="245" grpId="19" animBg="1" advAuto="0"/>
      <p:bldP spid="245" grpId="20" animBg="1" advAuto="0"/>
      <p:bldP spid="247" grpId="30" animBg="1" advAuto="0"/>
      <p:bldP spid="235" grpId="1" animBg="1" advAuto="0"/>
      <p:bldP spid="244" grpId="21" animBg="1" advAuto="0"/>
      <p:bldP spid="244" grpId="22" animBg="1" advAuto="0"/>
      <p:bldP spid="242" grpId="2" animBg="1" advAuto="0"/>
      <p:bldP spid="243" grpId="23" animBg="1" advAuto="0"/>
      <p:bldP spid="243" grpId="24" animBg="1" advAuto="0"/>
      <p:bldP spid="251" grpId="13" animBg="1" advAuto="0"/>
      <p:bldP spid="251" grpId="14" animBg="1" advAuto="0"/>
      <p:bldP spid="254" grpId="9" animBg="1" advAuto="0"/>
      <p:bldP spid="254" grpId="10" animBg="1" advAuto="0"/>
      <p:bldP spid="246" grpId="25" animBg="1" advAuto="0"/>
      <p:bldP spid="236" grpId="3" animBg="1" advAuto="0"/>
      <p:bldP spid="250" grpId="17" animBg="1" advAuto="0"/>
      <p:bldP spid="249" grpId="15" animBg="1" advAuto="0"/>
      <p:bldP spid="253" grpId="7" animBg="1" advAuto="0"/>
      <p:bldP spid="253" grpId="8" animBg="1" advAuto="0"/>
      <p:bldP spid="252" grpId="1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33"/>
          <p:cNvSpPr txBox="1"/>
          <p:nvPr/>
        </p:nvSpPr>
        <p:spPr>
          <a:xfrm>
            <a:off x="1230608" y="171550"/>
            <a:ext cx="52717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核心结论：数据规模决定技术范式选择</a:t>
            </a:r>
            <a:endParaRPr lang="en-US" dirty="0"/>
          </a:p>
          <a:p/>
        </p:txBody>
      </p:sp>
      <p:sp>
        <p:nvSpPr>
          <p:cNvPr id="257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58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4" name="Text 2"/>
          <p:cNvSpPr/>
          <p:nvPr/>
        </p:nvSpPr>
        <p:spPr>
          <a:xfrm>
            <a:off x="545097" y="799475"/>
            <a:ext cx="11365270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0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三级递进的技术验证：从数据工程到模型选择的完整逻辑链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1473" y="1207289"/>
            <a:ext cx="3686470" cy="4086208"/>
          </a:xfrm>
          <a:custGeom>
            <a:avLst/>
            <a:gdLst/>
            <a:ahLst/>
            <a:cxnLst/>
            <a:rect l="l" t="t" r="r" b="b"/>
            <a:pathLst>
              <a:path w="3686470" h="4086208">
                <a:moveTo>
                  <a:pt x="109009" y="0"/>
                </a:moveTo>
                <a:lnTo>
                  <a:pt x="3577461" y="0"/>
                </a:lnTo>
                <a:cubicBezTo>
                  <a:pt x="3637665" y="0"/>
                  <a:pt x="3686470" y="48805"/>
                  <a:pt x="3686470" y="109009"/>
                </a:cubicBezTo>
                <a:lnTo>
                  <a:pt x="3686470" y="3977199"/>
                </a:lnTo>
                <a:cubicBezTo>
                  <a:pt x="3686470" y="4037403"/>
                  <a:pt x="3637665" y="4086208"/>
                  <a:pt x="3577461" y="4086208"/>
                </a:cubicBezTo>
                <a:lnTo>
                  <a:pt x="109009" y="4086208"/>
                </a:lnTo>
                <a:cubicBezTo>
                  <a:pt x="48805" y="4086208"/>
                  <a:pt x="0" y="4037403"/>
                  <a:pt x="0" y="3977199"/>
                </a:cubicBezTo>
                <a:lnTo>
                  <a:pt x="0" y="109009"/>
                </a:lnTo>
                <a:cubicBezTo>
                  <a:pt x="0" y="48845"/>
                  <a:pt x="48845" y="0"/>
                  <a:pt x="109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100000">
                <a:srgbClr val="E87A3D">
                  <a:alpha val="5000"/>
                </a:srgbClr>
              </a:gs>
            </a:gsLst>
            <a:lin ang="2700000" scaled="1"/>
          </a:gradFill>
          <a:ln w="22578">
            <a:solidFill>
              <a:srgbClr val="E87A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1248" y="1070005"/>
            <a:ext cx="908495" cy="254379"/>
          </a:xfrm>
          <a:custGeom>
            <a:avLst/>
            <a:gdLst/>
            <a:ahLst/>
            <a:cxnLst/>
            <a:rect l="l" t="t" r="r" b="b"/>
            <a:pathLst>
              <a:path w="908495" h="254379">
                <a:moveTo>
                  <a:pt x="127189" y="0"/>
                </a:moveTo>
                <a:lnTo>
                  <a:pt x="781306" y="0"/>
                </a:lnTo>
                <a:cubicBezTo>
                  <a:pt x="851503" y="0"/>
                  <a:pt x="908495" y="56992"/>
                  <a:pt x="908495" y="127189"/>
                </a:cubicBezTo>
                <a:lnTo>
                  <a:pt x="908495" y="127189"/>
                </a:lnTo>
                <a:cubicBezTo>
                  <a:pt x="908495" y="197387"/>
                  <a:pt x="851503" y="254379"/>
                  <a:pt x="781306" y="254379"/>
                </a:cubicBezTo>
                <a:lnTo>
                  <a:pt x="127189" y="254379"/>
                </a:lnTo>
                <a:cubicBezTo>
                  <a:pt x="56992" y="254379"/>
                  <a:pt x="0" y="197387"/>
                  <a:pt x="0" y="127189"/>
                </a:cubicBezTo>
                <a:lnTo>
                  <a:pt x="0" y="127189"/>
                </a:lnTo>
                <a:cubicBezTo>
                  <a:pt x="0" y="56992"/>
                  <a:pt x="56992" y="0"/>
                  <a:pt x="127189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8" name="Text 6"/>
          <p:cNvSpPr/>
          <p:nvPr/>
        </p:nvSpPr>
        <p:spPr>
          <a:xfrm>
            <a:off x="724777" y="1070005"/>
            <a:ext cx="808560" cy="254379"/>
          </a:xfrm>
          <a:prstGeom prst="rect">
            <a:avLst/>
          </a:prstGeom>
          <a:noFill/>
        </p:spPr>
        <p:txBody>
          <a:bodyPr wrap="square" lIns="145359" tIns="36340" rIns="145359" bIns="3634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1248" y="1506083"/>
            <a:ext cx="3397770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当前最优解：XGBoost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248" y="1833141"/>
            <a:ext cx="581437" cy="36340"/>
          </a:xfrm>
          <a:custGeom>
            <a:avLst/>
            <a:gdLst/>
            <a:ahLst/>
            <a:cxnLst/>
            <a:rect l="l" t="t" r="r" b="b"/>
            <a:pathLst>
              <a:path w="581437" h="36340">
                <a:moveTo>
                  <a:pt x="18170" y="0"/>
                </a:moveTo>
                <a:lnTo>
                  <a:pt x="563267" y="0"/>
                </a:lnTo>
                <a:cubicBezTo>
                  <a:pt x="573302" y="0"/>
                  <a:pt x="581437" y="8135"/>
                  <a:pt x="581437" y="18170"/>
                </a:cubicBezTo>
                <a:lnTo>
                  <a:pt x="581437" y="18170"/>
                </a:lnTo>
                <a:cubicBezTo>
                  <a:pt x="581437" y="28205"/>
                  <a:pt x="573302" y="36340"/>
                  <a:pt x="563267" y="36340"/>
                </a:cubicBezTo>
                <a:lnTo>
                  <a:pt x="18170" y="36340"/>
                </a:lnTo>
                <a:cubicBezTo>
                  <a:pt x="8142" y="36340"/>
                  <a:pt x="0" y="28198"/>
                  <a:pt x="0" y="18170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11" name="Shape 9"/>
          <p:cNvSpPr/>
          <p:nvPr/>
        </p:nvSpPr>
        <p:spPr>
          <a:xfrm>
            <a:off x="561248" y="1978500"/>
            <a:ext cx="3306921" cy="908495"/>
          </a:xfrm>
          <a:custGeom>
            <a:avLst/>
            <a:gdLst/>
            <a:ahLst/>
            <a:cxnLst/>
            <a:rect l="l" t="t" r="r" b="b"/>
            <a:pathLst>
              <a:path w="3306921" h="908495">
                <a:moveTo>
                  <a:pt x="72680" y="0"/>
                </a:moveTo>
                <a:lnTo>
                  <a:pt x="3234241" y="0"/>
                </a:lnTo>
                <a:cubicBezTo>
                  <a:pt x="3274381" y="0"/>
                  <a:pt x="3306921" y="32540"/>
                  <a:pt x="3306921" y="72680"/>
                </a:cubicBezTo>
                <a:lnTo>
                  <a:pt x="3306921" y="835815"/>
                </a:lnTo>
                <a:cubicBezTo>
                  <a:pt x="3306921" y="875955"/>
                  <a:pt x="3274381" y="908495"/>
                  <a:pt x="3234241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0267" y="2087519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0267" y="2341898"/>
            <a:ext cx="3161562" cy="4360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在现有数据规模（33万样本）下，特征工程+XGBoost仍是性价比最高的方案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1248" y="2996014"/>
            <a:ext cx="3306921" cy="944835"/>
          </a:xfrm>
          <a:custGeom>
            <a:avLst/>
            <a:gdLst/>
            <a:ahLst/>
            <a:cxnLst/>
            <a:rect l="l" t="t" r="r" b="b"/>
            <a:pathLst>
              <a:path w="3306921" h="944835">
                <a:moveTo>
                  <a:pt x="72677" y="0"/>
                </a:moveTo>
                <a:lnTo>
                  <a:pt x="3234244" y="0"/>
                </a:lnTo>
                <a:cubicBezTo>
                  <a:pt x="3274383" y="0"/>
                  <a:pt x="3306921" y="32538"/>
                  <a:pt x="3306921" y="72677"/>
                </a:cubicBezTo>
                <a:lnTo>
                  <a:pt x="3306921" y="872158"/>
                </a:lnTo>
                <a:cubicBezTo>
                  <a:pt x="3306921" y="912296"/>
                  <a:pt x="3274383" y="944835"/>
                  <a:pt x="3234244" y="944835"/>
                </a:cubicBezTo>
                <a:lnTo>
                  <a:pt x="72677" y="944835"/>
                </a:lnTo>
                <a:cubicBezTo>
                  <a:pt x="32538" y="944835"/>
                  <a:pt x="0" y="912296"/>
                  <a:pt x="0" y="872158"/>
                </a:cubicBezTo>
                <a:lnTo>
                  <a:pt x="0" y="72677"/>
                </a:lnTo>
                <a:cubicBezTo>
                  <a:pt x="0" y="32538"/>
                  <a:pt x="32538" y="0"/>
                  <a:pt x="72677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0267" y="3105033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数据支撑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5758" y="3359412"/>
            <a:ext cx="826730" cy="290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0.8230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8470" y="3650067"/>
            <a:ext cx="781306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75231" y="3359412"/>
            <a:ext cx="908495" cy="290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50.23%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7944" y="3650067"/>
            <a:ext cx="863070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416028" y="3359412"/>
            <a:ext cx="690456" cy="290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&gt;0.75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38741" y="3650067"/>
            <a:ext cx="645031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工业标准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1248" y="4413266"/>
            <a:ext cx="3306921" cy="690456"/>
          </a:xfrm>
          <a:custGeom>
            <a:avLst/>
            <a:gdLst/>
            <a:ahLst/>
            <a:cxnLst/>
            <a:rect l="l" t="t" r="r" b="b"/>
            <a:pathLst>
              <a:path w="3306921" h="690456">
                <a:moveTo>
                  <a:pt x="72677" y="0"/>
                </a:moveTo>
                <a:lnTo>
                  <a:pt x="3234244" y="0"/>
                </a:lnTo>
                <a:cubicBezTo>
                  <a:pt x="3274382" y="0"/>
                  <a:pt x="3306921" y="32539"/>
                  <a:pt x="3306921" y="72677"/>
                </a:cubicBezTo>
                <a:lnTo>
                  <a:pt x="3306921" y="617779"/>
                </a:lnTo>
                <a:cubicBezTo>
                  <a:pt x="3306921" y="657917"/>
                  <a:pt x="3274382" y="690456"/>
                  <a:pt x="3234244" y="690456"/>
                </a:cubicBezTo>
                <a:lnTo>
                  <a:pt x="72677" y="690456"/>
                </a:lnTo>
                <a:cubicBezTo>
                  <a:pt x="32539" y="690456"/>
                  <a:pt x="0" y="657917"/>
                  <a:pt x="0" y="617779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solidFill>
            <a:srgbClr val="E87A3D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70267" y="4522285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适用边界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0267" y="4776664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中小规模数据（&lt;100万样本）+ 静态特征建模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4405" y="1207289"/>
            <a:ext cx="3686470" cy="4086208"/>
          </a:xfrm>
          <a:custGeom>
            <a:avLst/>
            <a:gdLst/>
            <a:ahLst/>
            <a:cxnLst/>
            <a:rect l="l" t="t" r="r" b="b"/>
            <a:pathLst>
              <a:path w="3686470" h="4086208">
                <a:moveTo>
                  <a:pt x="109009" y="0"/>
                </a:moveTo>
                <a:lnTo>
                  <a:pt x="3577461" y="0"/>
                </a:lnTo>
                <a:cubicBezTo>
                  <a:pt x="3637665" y="0"/>
                  <a:pt x="3686470" y="48805"/>
                  <a:pt x="3686470" y="109009"/>
                </a:cubicBezTo>
                <a:lnTo>
                  <a:pt x="3686470" y="3977199"/>
                </a:lnTo>
                <a:cubicBezTo>
                  <a:pt x="3686470" y="4037403"/>
                  <a:pt x="3637665" y="4086208"/>
                  <a:pt x="3577461" y="4086208"/>
                </a:cubicBezTo>
                <a:lnTo>
                  <a:pt x="109009" y="4086208"/>
                </a:lnTo>
                <a:cubicBezTo>
                  <a:pt x="48805" y="4086208"/>
                  <a:pt x="0" y="4037403"/>
                  <a:pt x="0" y="3977199"/>
                </a:cubicBezTo>
                <a:lnTo>
                  <a:pt x="0" y="109009"/>
                </a:lnTo>
                <a:cubicBezTo>
                  <a:pt x="0" y="48845"/>
                  <a:pt x="48845" y="0"/>
                  <a:pt x="109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F5A623">
                  <a:alpha val="10000"/>
                </a:srgbClr>
              </a:gs>
              <a:gs pos="100000">
                <a:srgbClr val="F5A623">
                  <a:alpha val="5000"/>
                </a:srgbClr>
              </a:gs>
            </a:gsLst>
            <a:lin ang="2700000" scaled="1"/>
          </a:gradFill>
          <a:ln w="22578">
            <a:solidFill>
              <a:srgbClr val="F5A62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4180" y="1070005"/>
            <a:ext cx="908495" cy="254379"/>
          </a:xfrm>
          <a:custGeom>
            <a:avLst/>
            <a:gdLst/>
            <a:ahLst/>
            <a:cxnLst/>
            <a:rect l="l" t="t" r="r" b="b"/>
            <a:pathLst>
              <a:path w="908495" h="254379">
                <a:moveTo>
                  <a:pt x="127189" y="0"/>
                </a:moveTo>
                <a:lnTo>
                  <a:pt x="781306" y="0"/>
                </a:lnTo>
                <a:cubicBezTo>
                  <a:pt x="851503" y="0"/>
                  <a:pt x="908495" y="56992"/>
                  <a:pt x="908495" y="127189"/>
                </a:cubicBezTo>
                <a:lnTo>
                  <a:pt x="908495" y="127189"/>
                </a:lnTo>
                <a:cubicBezTo>
                  <a:pt x="908495" y="197387"/>
                  <a:pt x="851503" y="254379"/>
                  <a:pt x="781306" y="254379"/>
                </a:cubicBezTo>
                <a:lnTo>
                  <a:pt x="127189" y="254379"/>
                </a:lnTo>
                <a:cubicBezTo>
                  <a:pt x="56992" y="254379"/>
                  <a:pt x="0" y="197387"/>
                  <a:pt x="0" y="127189"/>
                </a:cubicBezTo>
                <a:lnTo>
                  <a:pt x="0" y="127189"/>
                </a:lnTo>
                <a:cubicBezTo>
                  <a:pt x="0" y="56992"/>
                  <a:pt x="56992" y="0"/>
                  <a:pt x="127189" y="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28" name="Text 26"/>
          <p:cNvSpPr/>
          <p:nvPr/>
        </p:nvSpPr>
        <p:spPr>
          <a:xfrm>
            <a:off x="4607709" y="1070005"/>
            <a:ext cx="808560" cy="254379"/>
          </a:xfrm>
          <a:prstGeom prst="rect">
            <a:avLst/>
          </a:prstGeom>
          <a:noFill/>
        </p:spPr>
        <p:txBody>
          <a:bodyPr wrap="square" lIns="145359" tIns="36340" rIns="145359" bIns="3634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结论二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4180" y="1506083"/>
            <a:ext cx="3397770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F5A62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深度学习瓶颈：SASRec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44180" y="1833141"/>
            <a:ext cx="581437" cy="36340"/>
          </a:xfrm>
          <a:custGeom>
            <a:avLst/>
            <a:gdLst/>
            <a:ahLst/>
            <a:cxnLst/>
            <a:rect l="l" t="t" r="r" b="b"/>
            <a:pathLst>
              <a:path w="581437" h="36340">
                <a:moveTo>
                  <a:pt x="18170" y="0"/>
                </a:moveTo>
                <a:lnTo>
                  <a:pt x="563267" y="0"/>
                </a:lnTo>
                <a:cubicBezTo>
                  <a:pt x="573302" y="0"/>
                  <a:pt x="581437" y="8135"/>
                  <a:pt x="581437" y="18170"/>
                </a:cubicBezTo>
                <a:lnTo>
                  <a:pt x="581437" y="18170"/>
                </a:lnTo>
                <a:cubicBezTo>
                  <a:pt x="581437" y="28205"/>
                  <a:pt x="573302" y="36340"/>
                  <a:pt x="563267" y="36340"/>
                </a:cubicBezTo>
                <a:lnTo>
                  <a:pt x="18170" y="36340"/>
                </a:lnTo>
                <a:cubicBezTo>
                  <a:pt x="8142" y="36340"/>
                  <a:pt x="0" y="28198"/>
                  <a:pt x="0" y="18170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31" name="Shape 29"/>
          <p:cNvSpPr/>
          <p:nvPr/>
        </p:nvSpPr>
        <p:spPr>
          <a:xfrm>
            <a:off x="4444180" y="1978500"/>
            <a:ext cx="3306921" cy="908495"/>
          </a:xfrm>
          <a:custGeom>
            <a:avLst/>
            <a:gdLst/>
            <a:ahLst/>
            <a:cxnLst/>
            <a:rect l="l" t="t" r="r" b="b"/>
            <a:pathLst>
              <a:path w="3306921" h="908495">
                <a:moveTo>
                  <a:pt x="72680" y="0"/>
                </a:moveTo>
                <a:lnTo>
                  <a:pt x="3234241" y="0"/>
                </a:lnTo>
                <a:cubicBezTo>
                  <a:pt x="3274381" y="0"/>
                  <a:pt x="3306921" y="32540"/>
                  <a:pt x="3306921" y="72680"/>
                </a:cubicBezTo>
                <a:lnTo>
                  <a:pt x="3306921" y="835815"/>
                </a:lnTo>
                <a:cubicBezTo>
                  <a:pt x="3306921" y="875955"/>
                  <a:pt x="3274381" y="908495"/>
                  <a:pt x="3234241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53199" y="2087519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核心问题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53199" y="2341898"/>
            <a:ext cx="3161562" cy="4360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端到端学习需要匹配的数据量，38M参数 vs 30万样本导致严重过拟合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44180" y="2996014"/>
            <a:ext cx="3306921" cy="1308232"/>
          </a:xfrm>
          <a:custGeom>
            <a:avLst/>
            <a:gdLst/>
            <a:ahLst/>
            <a:cxnLst/>
            <a:rect l="l" t="t" r="r" b="b"/>
            <a:pathLst>
              <a:path w="3306921" h="1308232">
                <a:moveTo>
                  <a:pt x="72685" y="0"/>
                </a:moveTo>
                <a:lnTo>
                  <a:pt x="3234236" y="0"/>
                </a:lnTo>
                <a:cubicBezTo>
                  <a:pt x="3274379" y="0"/>
                  <a:pt x="3306921" y="32542"/>
                  <a:pt x="3306921" y="72685"/>
                </a:cubicBezTo>
                <a:lnTo>
                  <a:pt x="3306921" y="1235547"/>
                </a:lnTo>
                <a:cubicBezTo>
                  <a:pt x="3306921" y="1275690"/>
                  <a:pt x="3274379" y="1308232"/>
                  <a:pt x="3234236" y="1308232"/>
                </a:cubicBezTo>
                <a:lnTo>
                  <a:pt x="72685" y="1308232"/>
                </a:lnTo>
                <a:cubicBezTo>
                  <a:pt x="32542" y="1308232"/>
                  <a:pt x="0" y="1275690"/>
                  <a:pt x="0" y="1235547"/>
                </a:cubicBezTo>
                <a:lnTo>
                  <a:pt x="0" y="72685"/>
                </a:lnTo>
                <a:cubicBezTo>
                  <a:pt x="0" y="32569"/>
                  <a:pt x="32569" y="0"/>
                  <a:pt x="72685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53199" y="3105033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性能表现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53199" y="3377582"/>
            <a:ext cx="681371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Test AUC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45693" y="3359412"/>
            <a:ext cx="690456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F5A62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0.7525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53199" y="3668300"/>
            <a:ext cx="1090194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较XGBoost差距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91302" y="3650130"/>
            <a:ext cx="436077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D0021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-7%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53199" y="3959018"/>
            <a:ext cx="981174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训练-验证Gap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51366" y="3940848"/>
            <a:ext cx="481502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D0021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28%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462350" y="4413266"/>
            <a:ext cx="36340" cy="690456"/>
          </a:xfrm>
          <a:custGeom>
            <a:avLst/>
            <a:gdLst/>
            <a:ahLst/>
            <a:cxnLst/>
            <a:rect l="l" t="t" r="r" b="b"/>
            <a:pathLst>
              <a:path w="36340" h="690456">
                <a:moveTo>
                  <a:pt x="36340" y="0"/>
                </a:moveTo>
                <a:lnTo>
                  <a:pt x="36340" y="0"/>
                </a:lnTo>
                <a:lnTo>
                  <a:pt x="36340" y="690456"/>
                </a:lnTo>
                <a:lnTo>
                  <a:pt x="36340" y="690456"/>
                </a:lnTo>
                <a:cubicBezTo>
                  <a:pt x="16270" y="690456"/>
                  <a:pt x="0" y="674186"/>
                  <a:pt x="0" y="654116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D0021B"/>
          </a:solidFill>
        </p:spPr>
      </p:sp>
      <p:sp>
        <p:nvSpPr>
          <p:cNvPr id="44" name="Text 42"/>
          <p:cNvSpPr/>
          <p:nvPr/>
        </p:nvSpPr>
        <p:spPr>
          <a:xfrm>
            <a:off x="4589539" y="4522285"/>
            <a:ext cx="312522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关键教训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37400" y="1207289"/>
            <a:ext cx="3686470" cy="4086208"/>
          </a:xfrm>
          <a:custGeom>
            <a:avLst/>
            <a:gdLst/>
            <a:ahLst/>
            <a:cxnLst/>
            <a:rect l="l" t="t" r="r" b="b"/>
            <a:pathLst>
              <a:path w="3686470" h="4086208">
                <a:moveTo>
                  <a:pt x="109009" y="0"/>
                </a:moveTo>
                <a:lnTo>
                  <a:pt x="3577461" y="0"/>
                </a:lnTo>
                <a:cubicBezTo>
                  <a:pt x="3637665" y="0"/>
                  <a:pt x="3686470" y="48805"/>
                  <a:pt x="3686470" y="109009"/>
                </a:cubicBezTo>
                <a:lnTo>
                  <a:pt x="3686470" y="3977199"/>
                </a:lnTo>
                <a:cubicBezTo>
                  <a:pt x="3686470" y="4037403"/>
                  <a:pt x="3637665" y="4086208"/>
                  <a:pt x="3577461" y="4086208"/>
                </a:cubicBezTo>
                <a:lnTo>
                  <a:pt x="109009" y="4086208"/>
                </a:lnTo>
                <a:cubicBezTo>
                  <a:pt x="48805" y="4086208"/>
                  <a:pt x="0" y="4037403"/>
                  <a:pt x="0" y="3977199"/>
                </a:cubicBezTo>
                <a:lnTo>
                  <a:pt x="0" y="109009"/>
                </a:lnTo>
                <a:cubicBezTo>
                  <a:pt x="0" y="48845"/>
                  <a:pt x="48845" y="0"/>
                  <a:pt x="109009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100000">
                <a:srgbClr val="E87A3D">
                  <a:alpha val="5000"/>
                </a:srgbClr>
              </a:gs>
            </a:gsLst>
            <a:lin ang="2700000" scaled="1"/>
          </a:gradFill>
          <a:ln w="22578">
            <a:solidFill>
              <a:srgbClr val="E87A3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7175" y="1070005"/>
            <a:ext cx="908495" cy="254379"/>
          </a:xfrm>
          <a:custGeom>
            <a:avLst/>
            <a:gdLst/>
            <a:ahLst/>
            <a:cxnLst/>
            <a:rect l="l" t="t" r="r" b="b"/>
            <a:pathLst>
              <a:path w="908495" h="254379">
                <a:moveTo>
                  <a:pt x="127189" y="0"/>
                </a:moveTo>
                <a:lnTo>
                  <a:pt x="781306" y="0"/>
                </a:lnTo>
                <a:cubicBezTo>
                  <a:pt x="851503" y="0"/>
                  <a:pt x="908495" y="56992"/>
                  <a:pt x="908495" y="127189"/>
                </a:cubicBezTo>
                <a:lnTo>
                  <a:pt x="908495" y="127189"/>
                </a:lnTo>
                <a:cubicBezTo>
                  <a:pt x="908495" y="197387"/>
                  <a:pt x="851503" y="254379"/>
                  <a:pt x="781306" y="254379"/>
                </a:cubicBezTo>
                <a:lnTo>
                  <a:pt x="127189" y="254379"/>
                </a:lnTo>
                <a:cubicBezTo>
                  <a:pt x="56992" y="254379"/>
                  <a:pt x="0" y="197387"/>
                  <a:pt x="0" y="127189"/>
                </a:cubicBezTo>
                <a:lnTo>
                  <a:pt x="0" y="127189"/>
                </a:lnTo>
                <a:cubicBezTo>
                  <a:pt x="0" y="56992"/>
                  <a:pt x="56992" y="0"/>
                  <a:pt x="127189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49" name="Text 47"/>
          <p:cNvSpPr/>
          <p:nvPr/>
        </p:nvSpPr>
        <p:spPr>
          <a:xfrm>
            <a:off x="8490704" y="1070005"/>
            <a:ext cx="808560" cy="254379"/>
          </a:xfrm>
          <a:prstGeom prst="rect">
            <a:avLst/>
          </a:prstGeom>
          <a:noFill/>
        </p:spPr>
        <p:txBody>
          <a:bodyPr wrap="square" lIns="145359" tIns="36340" rIns="145359" bIns="3634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结论三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27175" y="1506083"/>
            <a:ext cx="3397770" cy="2543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关键成功因素：数据工程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7175" y="1833141"/>
            <a:ext cx="581437" cy="36340"/>
          </a:xfrm>
          <a:custGeom>
            <a:avLst/>
            <a:gdLst/>
            <a:ahLst/>
            <a:cxnLst/>
            <a:rect l="l" t="t" r="r" b="b"/>
            <a:pathLst>
              <a:path w="581437" h="36340">
                <a:moveTo>
                  <a:pt x="18170" y="0"/>
                </a:moveTo>
                <a:lnTo>
                  <a:pt x="563267" y="0"/>
                </a:lnTo>
                <a:cubicBezTo>
                  <a:pt x="573302" y="0"/>
                  <a:pt x="581437" y="8135"/>
                  <a:pt x="581437" y="18170"/>
                </a:cubicBezTo>
                <a:lnTo>
                  <a:pt x="581437" y="18170"/>
                </a:lnTo>
                <a:cubicBezTo>
                  <a:pt x="581437" y="28205"/>
                  <a:pt x="573302" y="36340"/>
                  <a:pt x="563267" y="36340"/>
                </a:cubicBezTo>
                <a:lnTo>
                  <a:pt x="18170" y="36340"/>
                </a:lnTo>
                <a:cubicBezTo>
                  <a:pt x="8142" y="36340"/>
                  <a:pt x="0" y="28198"/>
                  <a:pt x="0" y="18170"/>
                </a:cubicBezTo>
                <a:lnTo>
                  <a:pt x="0" y="18170"/>
                </a:lnTo>
                <a:cubicBezTo>
                  <a:pt x="0" y="8142"/>
                  <a:pt x="8142" y="0"/>
                  <a:pt x="18170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52" name="Shape 50"/>
          <p:cNvSpPr/>
          <p:nvPr/>
        </p:nvSpPr>
        <p:spPr>
          <a:xfrm>
            <a:off x="8327175" y="1978500"/>
            <a:ext cx="3306921" cy="908495"/>
          </a:xfrm>
          <a:custGeom>
            <a:avLst/>
            <a:gdLst/>
            <a:ahLst/>
            <a:cxnLst/>
            <a:rect l="l" t="t" r="r" b="b"/>
            <a:pathLst>
              <a:path w="3306921" h="908495">
                <a:moveTo>
                  <a:pt x="72680" y="0"/>
                </a:moveTo>
                <a:lnTo>
                  <a:pt x="3234241" y="0"/>
                </a:lnTo>
                <a:cubicBezTo>
                  <a:pt x="3274381" y="0"/>
                  <a:pt x="3306921" y="32540"/>
                  <a:pt x="3306921" y="72680"/>
                </a:cubicBezTo>
                <a:lnTo>
                  <a:pt x="3306921" y="835815"/>
                </a:lnTo>
                <a:cubicBezTo>
                  <a:pt x="3306921" y="875955"/>
                  <a:pt x="3274381" y="908495"/>
                  <a:pt x="3234241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436194" y="2087519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核心要点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36194" y="2341898"/>
            <a:ext cx="3161562" cy="4360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动态负采样是三类模型共同的基础，解决类别不平衡是首要任务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27175" y="2996014"/>
            <a:ext cx="3306921" cy="1053854"/>
          </a:xfrm>
          <a:custGeom>
            <a:avLst/>
            <a:gdLst/>
            <a:ahLst/>
            <a:cxnLst/>
            <a:rect l="l" t="t" r="r" b="b"/>
            <a:pathLst>
              <a:path w="3306921" h="1053854">
                <a:moveTo>
                  <a:pt x="72684" y="0"/>
                </a:moveTo>
                <a:lnTo>
                  <a:pt x="3234237" y="0"/>
                </a:lnTo>
                <a:cubicBezTo>
                  <a:pt x="3274379" y="0"/>
                  <a:pt x="3306921" y="32542"/>
                  <a:pt x="3306921" y="72684"/>
                </a:cubicBezTo>
                <a:lnTo>
                  <a:pt x="3306921" y="981170"/>
                </a:lnTo>
                <a:cubicBezTo>
                  <a:pt x="3306921" y="1021312"/>
                  <a:pt x="3274379" y="1053854"/>
                  <a:pt x="3234237" y="1053854"/>
                </a:cubicBezTo>
                <a:lnTo>
                  <a:pt x="72684" y="1053854"/>
                </a:lnTo>
                <a:cubicBezTo>
                  <a:pt x="32542" y="1053854"/>
                  <a:pt x="0" y="1021312"/>
                  <a:pt x="0" y="981170"/>
                </a:cubicBezTo>
                <a:lnTo>
                  <a:pt x="0" y="72684"/>
                </a:lnTo>
                <a:cubicBezTo>
                  <a:pt x="0" y="32569"/>
                  <a:pt x="32569" y="0"/>
                  <a:pt x="72684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8436194" y="3105033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类别平衡改善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076746" y="3395752"/>
            <a:ext cx="772221" cy="290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333333">
                    <a:alpha val="4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0.91%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99459" y="3686407"/>
            <a:ext cx="726796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原始正样本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970667" y="3522878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14036" y="118644"/>
                </a:moveTo>
                <a:cubicBezTo>
                  <a:pt x="219359" y="113321"/>
                  <a:pt x="219359" y="104676"/>
                  <a:pt x="214036" y="99352"/>
                </a:cubicBezTo>
                <a:lnTo>
                  <a:pt x="145899" y="31215"/>
                </a:lnTo>
                <a:cubicBezTo>
                  <a:pt x="140575" y="25892"/>
                  <a:pt x="131930" y="25892"/>
                  <a:pt x="126607" y="31215"/>
                </a:cubicBezTo>
                <a:cubicBezTo>
                  <a:pt x="121284" y="36539"/>
                  <a:pt x="121284" y="45183"/>
                  <a:pt x="126607" y="50507"/>
                </a:cubicBezTo>
                <a:lnTo>
                  <a:pt x="171493" y="95392"/>
                </a:lnTo>
                <a:lnTo>
                  <a:pt x="13627" y="95392"/>
                </a:lnTo>
                <a:cubicBezTo>
                  <a:pt x="6090" y="95392"/>
                  <a:pt x="0" y="101482"/>
                  <a:pt x="0" y="109019"/>
                </a:cubicBezTo>
                <a:cubicBezTo>
                  <a:pt x="0" y="116557"/>
                  <a:pt x="6090" y="122647"/>
                  <a:pt x="13627" y="122647"/>
                </a:cubicBezTo>
                <a:lnTo>
                  <a:pt x="171493" y="122647"/>
                </a:lnTo>
                <a:lnTo>
                  <a:pt x="126607" y="167532"/>
                </a:lnTo>
                <a:cubicBezTo>
                  <a:pt x="121284" y="172855"/>
                  <a:pt x="121284" y="181500"/>
                  <a:pt x="126607" y="186823"/>
                </a:cubicBezTo>
                <a:cubicBezTo>
                  <a:pt x="131930" y="192147"/>
                  <a:pt x="140575" y="192147"/>
                  <a:pt x="145899" y="186823"/>
                </a:cubicBezTo>
                <a:lnTo>
                  <a:pt x="214036" y="118686"/>
                </a:lnTo>
                <a:close/>
              </a:path>
            </a:pathLst>
          </a:custGeom>
          <a:solidFill>
            <a:srgbClr val="E87A3D"/>
          </a:solidFill>
        </p:spPr>
      </p:sp>
      <p:sp>
        <p:nvSpPr>
          <p:cNvPr id="60" name="Text 58"/>
          <p:cNvSpPr/>
          <p:nvPr/>
        </p:nvSpPr>
        <p:spPr>
          <a:xfrm>
            <a:off x="10306810" y="3395752"/>
            <a:ext cx="572352" cy="2907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15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25%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329522" y="3686407"/>
            <a:ext cx="526927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采样后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327175" y="4195227"/>
            <a:ext cx="3306921" cy="908495"/>
          </a:xfrm>
          <a:custGeom>
            <a:avLst/>
            <a:gdLst/>
            <a:ahLst/>
            <a:cxnLst/>
            <a:rect l="l" t="t" r="r" b="b"/>
            <a:pathLst>
              <a:path w="3306921" h="908495">
                <a:moveTo>
                  <a:pt x="72680" y="0"/>
                </a:moveTo>
                <a:lnTo>
                  <a:pt x="3234241" y="0"/>
                </a:lnTo>
                <a:cubicBezTo>
                  <a:pt x="3274381" y="0"/>
                  <a:pt x="3306921" y="32540"/>
                  <a:pt x="3306921" y="72680"/>
                </a:cubicBezTo>
                <a:lnTo>
                  <a:pt x="3306921" y="835815"/>
                </a:lnTo>
                <a:cubicBezTo>
                  <a:pt x="3306921" y="875955"/>
                  <a:pt x="3274381" y="908495"/>
                  <a:pt x="3234241" y="908495"/>
                </a:cubicBezTo>
                <a:lnTo>
                  <a:pt x="72680" y="908495"/>
                </a:lnTo>
                <a:cubicBezTo>
                  <a:pt x="32540" y="908495"/>
                  <a:pt x="0" y="875955"/>
                  <a:pt x="0" y="835815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E87A3D">
              <a:alpha val="10196"/>
            </a:srgbClr>
          </a:solidFill>
        </p:spPr>
      </p:sp>
      <p:sp>
        <p:nvSpPr>
          <p:cNvPr id="63" name="Text 61"/>
          <p:cNvSpPr/>
          <p:nvPr/>
        </p:nvSpPr>
        <p:spPr>
          <a:xfrm>
            <a:off x="8436194" y="4304246"/>
            <a:ext cx="316156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验证结果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36194" y="4558625"/>
            <a:ext cx="3161562" cy="4360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未使用动态负采样时所有模型AUC&lt;0.65；使用后全部突破0.75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71473" y="5455006"/>
            <a:ext cx="11454100" cy="1033665"/>
          </a:xfrm>
          <a:custGeom>
            <a:avLst/>
            <a:gdLst/>
            <a:ahLst/>
            <a:cxnLst/>
            <a:rect l="l" t="t" r="r" b="b"/>
            <a:pathLst>
              <a:path w="11454100" h="1033665">
                <a:moveTo>
                  <a:pt x="109021" y="0"/>
                </a:moveTo>
                <a:lnTo>
                  <a:pt x="11345080" y="0"/>
                </a:lnTo>
                <a:cubicBezTo>
                  <a:pt x="11405290" y="0"/>
                  <a:pt x="11454100" y="48810"/>
                  <a:pt x="11454100" y="109021"/>
                </a:cubicBezTo>
                <a:lnTo>
                  <a:pt x="11454100" y="924645"/>
                </a:lnTo>
                <a:cubicBezTo>
                  <a:pt x="11454100" y="984855"/>
                  <a:pt x="11405290" y="1033665"/>
                  <a:pt x="11345080" y="1033665"/>
                </a:cubicBezTo>
                <a:lnTo>
                  <a:pt x="109021" y="1033665"/>
                </a:lnTo>
                <a:cubicBezTo>
                  <a:pt x="48810" y="1033665"/>
                  <a:pt x="0" y="984855"/>
                  <a:pt x="0" y="924645"/>
                </a:cubicBezTo>
                <a:lnTo>
                  <a:pt x="0" y="109021"/>
                </a:lnTo>
                <a:cubicBezTo>
                  <a:pt x="0" y="48851"/>
                  <a:pt x="48851" y="0"/>
                  <a:pt x="109021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50000">
                <a:srgbClr val="F5A623">
                  <a:alpha val="10000"/>
                </a:srgbClr>
              </a:gs>
              <a:gs pos="100000">
                <a:srgbClr val="E87A3D">
                  <a:alpha val="10000"/>
                </a:srgbClr>
              </a:gs>
            </a:gsLst>
            <a:lin ang="0" scaled="1"/>
          </a:gradFill>
          <a:ln w="22578">
            <a:solidFill>
              <a:srgbClr val="E87A3D">
                <a:alpha val="30196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90202" y="5608441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67" name="Shape 65"/>
          <p:cNvSpPr/>
          <p:nvPr/>
        </p:nvSpPr>
        <p:spPr>
          <a:xfrm>
            <a:off x="3428748" y="5735630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158987" y="73034"/>
                </a:moveTo>
                <a:cubicBezTo>
                  <a:pt x="153734" y="76512"/>
                  <a:pt x="147701" y="79316"/>
                  <a:pt x="141420" y="81552"/>
                </a:cubicBezTo>
                <a:cubicBezTo>
                  <a:pt x="124741" y="87514"/>
                  <a:pt x="102844" y="90849"/>
                  <a:pt x="79493" y="90849"/>
                </a:cubicBezTo>
                <a:cubicBezTo>
                  <a:pt x="56142" y="90849"/>
                  <a:pt x="34211" y="87478"/>
                  <a:pt x="17567" y="81552"/>
                </a:cubicBezTo>
                <a:cubicBezTo>
                  <a:pt x="11321" y="79316"/>
                  <a:pt x="5252" y="76512"/>
                  <a:pt x="0" y="73034"/>
                </a:cubicBezTo>
                <a:lnTo>
                  <a:pt x="0" y="102206"/>
                </a:lnTo>
                <a:cubicBezTo>
                  <a:pt x="0" y="117891"/>
                  <a:pt x="35595" y="130596"/>
                  <a:pt x="79493" y="130596"/>
                </a:cubicBezTo>
                <a:cubicBezTo>
                  <a:pt x="123392" y="130596"/>
                  <a:pt x="158987" y="117891"/>
                  <a:pt x="158987" y="102206"/>
                </a:cubicBezTo>
                <a:lnTo>
                  <a:pt x="158987" y="73034"/>
                </a:lnTo>
                <a:close/>
                <a:moveTo>
                  <a:pt x="158987" y="45425"/>
                </a:moveTo>
                <a:lnTo>
                  <a:pt x="158987" y="28390"/>
                </a:lnTo>
                <a:cubicBezTo>
                  <a:pt x="158987" y="12705"/>
                  <a:pt x="123392" y="0"/>
                  <a:pt x="79493" y="0"/>
                </a:cubicBezTo>
                <a:cubicBezTo>
                  <a:pt x="35595" y="0"/>
                  <a:pt x="0" y="12705"/>
                  <a:pt x="0" y="28390"/>
                </a:cubicBezTo>
                <a:lnTo>
                  <a:pt x="0" y="45425"/>
                </a:lnTo>
                <a:cubicBezTo>
                  <a:pt x="0" y="61110"/>
                  <a:pt x="35595" y="73815"/>
                  <a:pt x="79493" y="73815"/>
                </a:cubicBezTo>
                <a:cubicBezTo>
                  <a:pt x="123392" y="73815"/>
                  <a:pt x="158987" y="61110"/>
                  <a:pt x="158987" y="45425"/>
                </a:cubicBezTo>
                <a:close/>
                <a:moveTo>
                  <a:pt x="141420" y="138333"/>
                </a:moveTo>
                <a:cubicBezTo>
                  <a:pt x="124776" y="144259"/>
                  <a:pt x="102880" y="147630"/>
                  <a:pt x="79493" y="147630"/>
                </a:cubicBezTo>
                <a:cubicBezTo>
                  <a:pt x="56107" y="147630"/>
                  <a:pt x="34211" y="144259"/>
                  <a:pt x="17567" y="138333"/>
                </a:cubicBezTo>
                <a:cubicBezTo>
                  <a:pt x="11321" y="136097"/>
                  <a:pt x="5252" y="133293"/>
                  <a:pt x="0" y="129815"/>
                </a:cubicBezTo>
                <a:lnTo>
                  <a:pt x="0" y="153308"/>
                </a:lnTo>
                <a:cubicBezTo>
                  <a:pt x="0" y="168994"/>
                  <a:pt x="35595" y="181699"/>
                  <a:pt x="79493" y="181699"/>
                </a:cubicBezTo>
                <a:cubicBezTo>
                  <a:pt x="123392" y="181699"/>
                  <a:pt x="158987" y="168994"/>
                  <a:pt x="158987" y="153308"/>
                </a:cubicBezTo>
                <a:lnTo>
                  <a:pt x="158987" y="129815"/>
                </a:lnTo>
                <a:cubicBezTo>
                  <a:pt x="153734" y="133293"/>
                  <a:pt x="147701" y="136097"/>
                  <a:pt x="141420" y="13833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68" name="Text 66"/>
          <p:cNvSpPr/>
          <p:nvPr/>
        </p:nvSpPr>
        <p:spPr>
          <a:xfrm>
            <a:off x="3835299" y="5626611"/>
            <a:ext cx="944835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基础数据工程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835299" y="5844650"/>
            <a:ext cx="935750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动态负采样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484217" y="5608441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72" name="Shape 70"/>
          <p:cNvSpPr/>
          <p:nvPr/>
        </p:nvSpPr>
        <p:spPr>
          <a:xfrm>
            <a:off x="5622763" y="5735630"/>
            <a:ext cx="158987" cy="181699"/>
          </a:xfrm>
          <a:custGeom>
            <a:avLst/>
            <a:gdLst/>
            <a:ahLst/>
            <a:cxnLst/>
            <a:rect l="l" t="t" r="r" b="b"/>
            <a:pathLst>
              <a:path w="158987" h="181699">
                <a:moveTo>
                  <a:pt x="79493" y="-11356"/>
                </a:moveTo>
                <a:cubicBezTo>
                  <a:pt x="81977" y="-11356"/>
                  <a:pt x="84355" y="-10256"/>
                  <a:pt x="85988" y="-8340"/>
                </a:cubicBezTo>
                <a:lnTo>
                  <a:pt x="134251" y="48441"/>
                </a:lnTo>
                <a:cubicBezTo>
                  <a:pt x="136416" y="50961"/>
                  <a:pt x="136878" y="54510"/>
                  <a:pt x="135493" y="57526"/>
                </a:cubicBezTo>
                <a:cubicBezTo>
                  <a:pt x="134109" y="60543"/>
                  <a:pt x="131093" y="62459"/>
                  <a:pt x="127757" y="62459"/>
                </a:cubicBezTo>
                <a:lnTo>
                  <a:pt x="118921" y="62459"/>
                </a:lnTo>
                <a:lnTo>
                  <a:pt x="145608" y="93866"/>
                </a:lnTo>
                <a:cubicBezTo>
                  <a:pt x="147772" y="96386"/>
                  <a:pt x="148234" y="99934"/>
                  <a:pt x="146850" y="102951"/>
                </a:cubicBezTo>
                <a:cubicBezTo>
                  <a:pt x="145466" y="105967"/>
                  <a:pt x="142449" y="107884"/>
                  <a:pt x="139113" y="107884"/>
                </a:cubicBezTo>
                <a:lnTo>
                  <a:pt x="125450" y="107884"/>
                </a:lnTo>
                <a:lnTo>
                  <a:pt x="156964" y="144969"/>
                </a:lnTo>
                <a:cubicBezTo>
                  <a:pt x="159129" y="147488"/>
                  <a:pt x="159590" y="151037"/>
                  <a:pt x="158206" y="154054"/>
                </a:cubicBezTo>
                <a:cubicBezTo>
                  <a:pt x="156822" y="157070"/>
                  <a:pt x="153805" y="158987"/>
                  <a:pt x="150469" y="158987"/>
                </a:cubicBezTo>
                <a:lnTo>
                  <a:pt x="90849" y="158987"/>
                </a:lnTo>
                <a:lnTo>
                  <a:pt x="90849" y="181699"/>
                </a:lnTo>
                <a:cubicBezTo>
                  <a:pt x="90849" y="187980"/>
                  <a:pt x="85775" y="193055"/>
                  <a:pt x="79493" y="193055"/>
                </a:cubicBezTo>
                <a:cubicBezTo>
                  <a:pt x="73212" y="193055"/>
                  <a:pt x="68137" y="187980"/>
                  <a:pt x="68137" y="181699"/>
                </a:cubicBezTo>
                <a:lnTo>
                  <a:pt x="68137" y="158987"/>
                </a:lnTo>
                <a:lnTo>
                  <a:pt x="8517" y="158987"/>
                </a:lnTo>
                <a:cubicBezTo>
                  <a:pt x="5181" y="158987"/>
                  <a:pt x="2165" y="157070"/>
                  <a:pt x="781" y="154054"/>
                </a:cubicBezTo>
                <a:cubicBezTo>
                  <a:pt x="-603" y="151037"/>
                  <a:pt x="-142" y="147488"/>
                  <a:pt x="2023" y="144969"/>
                </a:cubicBezTo>
                <a:lnTo>
                  <a:pt x="33536" y="107884"/>
                </a:lnTo>
                <a:lnTo>
                  <a:pt x="19873" y="107884"/>
                </a:lnTo>
                <a:cubicBezTo>
                  <a:pt x="16537" y="107884"/>
                  <a:pt x="13521" y="105967"/>
                  <a:pt x="12137" y="102951"/>
                </a:cubicBezTo>
                <a:cubicBezTo>
                  <a:pt x="10753" y="99934"/>
                  <a:pt x="11214" y="96386"/>
                  <a:pt x="13379" y="93866"/>
                </a:cubicBezTo>
                <a:lnTo>
                  <a:pt x="40066" y="62459"/>
                </a:lnTo>
                <a:lnTo>
                  <a:pt x="31230" y="62459"/>
                </a:lnTo>
                <a:cubicBezTo>
                  <a:pt x="27894" y="62459"/>
                  <a:pt x="24877" y="60543"/>
                  <a:pt x="23493" y="57526"/>
                </a:cubicBezTo>
                <a:cubicBezTo>
                  <a:pt x="22109" y="54510"/>
                  <a:pt x="22570" y="50961"/>
                  <a:pt x="24735" y="48441"/>
                </a:cubicBezTo>
                <a:lnTo>
                  <a:pt x="72999" y="-8340"/>
                </a:lnTo>
                <a:cubicBezTo>
                  <a:pt x="74631" y="-10256"/>
                  <a:pt x="77009" y="-11356"/>
                  <a:pt x="79493" y="-11356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3" name="Text 71"/>
          <p:cNvSpPr/>
          <p:nvPr/>
        </p:nvSpPr>
        <p:spPr>
          <a:xfrm>
            <a:off x="6029314" y="5626611"/>
            <a:ext cx="863070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传统ML最优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029314" y="5844650"/>
            <a:ext cx="853985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XGBoost方案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595584" y="5608441"/>
            <a:ext cx="436077" cy="436077"/>
          </a:xfrm>
          <a:custGeom>
            <a:avLst/>
            <a:gdLst/>
            <a:ahLst/>
            <a:cxnLst/>
            <a:rect l="l" t="t" r="r" b="b"/>
            <a:pathLst>
              <a:path w="436077" h="436077">
                <a:moveTo>
                  <a:pt x="218039" y="0"/>
                </a:moveTo>
                <a:lnTo>
                  <a:pt x="218039" y="0"/>
                </a:lnTo>
                <a:cubicBezTo>
                  <a:pt x="338458" y="0"/>
                  <a:pt x="436077" y="97619"/>
                  <a:pt x="436077" y="218039"/>
                </a:cubicBezTo>
                <a:lnTo>
                  <a:pt x="436077" y="218039"/>
                </a:lnTo>
                <a:cubicBezTo>
                  <a:pt x="436077" y="338458"/>
                  <a:pt x="338458" y="436077"/>
                  <a:pt x="218039" y="436077"/>
                </a:cubicBezTo>
                <a:lnTo>
                  <a:pt x="218039" y="436077"/>
                </a:lnTo>
                <a:cubicBezTo>
                  <a:pt x="97619" y="436077"/>
                  <a:pt x="0" y="338458"/>
                  <a:pt x="0" y="218039"/>
                </a:cubicBezTo>
                <a:lnTo>
                  <a:pt x="0" y="218039"/>
                </a:lnTo>
                <a:cubicBezTo>
                  <a:pt x="0" y="97619"/>
                  <a:pt x="97619" y="0"/>
                  <a:pt x="218039" y="0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77" name="Shape 75"/>
          <p:cNvSpPr/>
          <p:nvPr/>
        </p:nvSpPr>
        <p:spPr>
          <a:xfrm>
            <a:off x="7722773" y="5735630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42586" y="19873"/>
                </a:moveTo>
                <a:cubicBezTo>
                  <a:pt x="42586" y="8908"/>
                  <a:pt x="51493" y="0"/>
                  <a:pt x="62459" y="0"/>
                </a:cubicBezTo>
                <a:lnTo>
                  <a:pt x="70976" y="0"/>
                </a:lnTo>
                <a:cubicBezTo>
                  <a:pt x="77258" y="0"/>
                  <a:pt x="82332" y="5075"/>
                  <a:pt x="82332" y="11356"/>
                </a:cubicBezTo>
                <a:lnTo>
                  <a:pt x="82332" y="170343"/>
                </a:lnTo>
                <a:cubicBezTo>
                  <a:pt x="82332" y="176624"/>
                  <a:pt x="77258" y="181699"/>
                  <a:pt x="70976" y="181699"/>
                </a:cubicBezTo>
                <a:lnTo>
                  <a:pt x="59620" y="181699"/>
                </a:lnTo>
                <a:cubicBezTo>
                  <a:pt x="49045" y="181699"/>
                  <a:pt x="40137" y="174459"/>
                  <a:pt x="37617" y="164665"/>
                </a:cubicBezTo>
                <a:cubicBezTo>
                  <a:pt x="37369" y="164665"/>
                  <a:pt x="37156" y="164665"/>
                  <a:pt x="36908" y="164665"/>
                </a:cubicBezTo>
                <a:cubicBezTo>
                  <a:pt x="21222" y="164665"/>
                  <a:pt x="8517" y="151960"/>
                  <a:pt x="8517" y="136274"/>
                </a:cubicBezTo>
                <a:cubicBezTo>
                  <a:pt x="8517" y="129886"/>
                  <a:pt x="10646" y="123995"/>
                  <a:pt x="14195" y="119240"/>
                </a:cubicBezTo>
                <a:cubicBezTo>
                  <a:pt x="7311" y="114059"/>
                  <a:pt x="2839" y="105825"/>
                  <a:pt x="2839" y="96528"/>
                </a:cubicBezTo>
                <a:cubicBezTo>
                  <a:pt x="2839" y="85562"/>
                  <a:pt x="9085" y="76015"/>
                  <a:pt x="18170" y="71296"/>
                </a:cubicBezTo>
                <a:cubicBezTo>
                  <a:pt x="15650" y="67037"/>
                  <a:pt x="14195" y="62069"/>
                  <a:pt x="14195" y="56781"/>
                </a:cubicBezTo>
                <a:cubicBezTo>
                  <a:pt x="14195" y="41095"/>
                  <a:pt x="26900" y="28390"/>
                  <a:pt x="42586" y="28390"/>
                </a:cubicBezTo>
                <a:lnTo>
                  <a:pt x="42586" y="19873"/>
                </a:lnTo>
                <a:close/>
                <a:moveTo>
                  <a:pt x="139113" y="19873"/>
                </a:moveTo>
                <a:lnTo>
                  <a:pt x="139113" y="28390"/>
                </a:lnTo>
                <a:cubicBezTo>
                  <a:pt x="154799" y="28390"/>
                  <a:pt x="167504" y="41095"/>
                  <a:pt x="167504" y="56781"/>
                </a:cubicBezTo>
                <a:cubicBezTo>
                  <a:pt x="167504" y="62104"/>
                  <a:pt x="166049" y="67072"/>
                  <a:pt x="163529" y="71296"/>
                </a:cubicBezTo>
                <a:cubicBezTo>
                  <a:pt x="172649" y="76015"/>
                  <a:pt x="178860" y="85526"/>
                  <a:pt x="178860" y="96528"/>
                </a:cubicBezTo>
                <a:cubicBezTo>
                  <a:pt x="178860" y="105825"/>
                  <a:pt x="174388" y="114059"/>
                  <a:pt x="167504" y="119240"/>
                </a:cubicBezTo>
                <a:cubicBezTo>
                  <a:pt x="171053" y="123995"/>
                  <a:pt x="173182" y="129886"/>
                  <a:pt x="173182" y="136274"/>
                </a:cubicBezTo>
                <a:cubicBezTo>
                  <a:pt x="173182" y="151960"/>
                  <a:pt x="160477" y="164665"/>
                  <a:pt x="144791" y="164665"/>
                </a:cubicBezTo>
                <a:cubicBezTo>
                  <a:pt x="144543" y="164665"/>
                  <a:pt x="144330" y="164665"/>
                  <a:pt x="144082" y="164665"/>
                </a:cubicBezTo>
                <a:cubicBezTo>
                  <a:pt x="141562" y="174459"/>
                  <a:pt x="132654" y="181699"/>
                  <a:pt x="122079" y="181699"/>
                </a:cubicBezTo>
                <a:lnTo>
                  <a:pt x="110723" y="181699"/>
                </a:lnTo>
                <a:cubicBezTo>
                  <a:pt x="104441" y="181699"/>
                  <a:pt x="99367" y="176624"/>
                  <a:pt x="99367" y="170343"/>
                </a:cubicBezTo>
                <a:lnTo>
                  <a:pt x="99367" y="11356"/>
                </a:lnTo>
                <a:cubicBezTo>
                  <a:pt x="99367" y="5075"/>
                  <a:pt x="104441" y="0"/>
                  <a:pt x="110723" y="0"/>
                </a:cubicBezTo>
                <a:lnTo>
                  <a:pt x="119240" y="0"/>
                </a:lnTo>
                <a:cubicBezTo>
                  <a:pt x="130206" y="0"/>
                  <a:pt x="139113" y="8908"/>
                  <a:pt x="139113" y="1987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8" name="Text 76"/>
          <p:cNvSpPr/>
          <p:nvPr/>
        </p:nvSpPr>
        <p:spPr>
          <a:xfrm>
            <a:off x="8140681" y="5626611"/>
            <a:ext cx="835815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8140681" y="5844650"/>
            <a:ext cx="826730" cy="18169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需大数据支撑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22259" y="6117198"/>
            <a:ext cx="10986220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数据规模是技术选型的决定性因素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62350" y="4413266"/>
            <a:ext cx="3288751" cy="690456"/>
          </a:xfrm>
          <a:custGeom>
            <a:avLst/>
            <a:gdLst/>
            <a:ahLst/>
            <a:cxnLst/>
            <a:rect l="l" t="t" r="r" b="b"/>
            <a:pathLst>
              <a:path w="3288751" h="690456">
                <a:moveTo>
                  <a:pt x="36340" y="0"/>
                </a:moveTo>
                <a:lnTo>
                  <a:pt x="3216074" y="0"/>
                </a:lnTo>
                <a:cubicBezTo>
                  <a:pt x="3256212" y="0"/>
                  <a:pt x="3288751" y="32539"/>
                  <a:pt x="3288751" y="72677"/>
                </a:cubicBezTo>
                <a:lnTo>
                  <a:pt x="3288751" y="617779"/>
                </a:lnTo>
                <a:cubicBezTo>
                  <a:pt x="3288751" y="657917"/>
                  <a:pt x="3256212" y="690456"/>
                  <a:pt x="3216074" y="690456"/>
                </a:cubicBezTo>
                <a:lnTo>
                  <a:pt x="36340" y="690456"/>
                </a:lnTo>
                <a:cubicBezTo>
                  <a:pt x="16270" y="690456"/>
                  <a:pt x="0" y="674186"/>
                  <a:pt x="0" y="654116"/>
                </a:cubicBezTo>
                <a:lnTo>
                  <a:pt x="0" y="36340"/>
                </a:lnTo>
                <a:cubicBezTo>
                  <a:pt x="0" y="16283"/>
                  <a:pt x="16283" y="0"/>
                  <a:pt x="36340" y="0"/>
                </a:cubicBezTo>
                <a:close/>
              </a:path>
            </a:pathLst>
          </a:custGeom>
          <a:solidFill>
            <a:srgbClr val="D0021B">
              <a:alpha val="1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4589539" y="4776664"/>
            <a:ext cx="3125222" cy="21803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参数/样本比应&lt;10:1（当前</a:t>
            </a:r>
            <a:r>
              <a:rPr lang="en-US" sz="1145" b="1" dirty="0">
                <a:solidFill>
                  <a:srgbClr val="D0021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127:1</a:t>
            </a:r>
            <a:r>
              <a:rPr lang="en-US" sz="1145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）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2" bldLvl="0" animBg="1" advAuto="0"/>
      <p:bldP spid="257" grpId="1" bldLvl="0" animBg="1" advAuto="0"/>
      <p:bldP spid="256" grpId="3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33"/>
          <p:cNvSpPr txBox="1"/>
          <p:nvPr/>
        </p:nvSpPr>
        <p:spPr>
          <a:xfrm>
            <a:off x="1230608" y="171550"/>
            <a:ext cx="4966970" cy="82994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 sz="2400">
                <a:solidFill>
                  <a:srgbClr val="3F3F3F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pPr algn="l"/>
            <a:r>
              <a:rPr>
                <a:sym typeface="+mn-ea"/>
              </a:rPr>
              <a:t>技术路线图：从精度优化到因果推断</a:t>
            </a:r>
          </a:p>
          <a:p/>
        </p:txBody>
      </p:sp>
      <p:sp>
        <p:nvSpPr>
          <p:cNvPr id="257" name="Freeform 40"/>
          <p:cNvSpPr/>
          <p:nvPr/>
        </p:nvSpPr>
        <p:spPr>
          <a:xfrm>
            <a:off x="554264" y="230813"/>
            <a:ext cx="260992" cy="389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3" h="21429" extrusionOk="0">
                <a:moveTo>
                  <a:pt x="6390" y="20446"/>
                </a:moveTo>
                <a:lnTo>
                  <a:pt x="20491" y="20446"/>
                </a:lnTo>
                <a:cubicBezTo>
                  <a:pt x="20902" y="20446"/>
                  <a:pt x="21238" y="20673"/>
                  <a:pt x="21238" y="20950"/>
                </a:cubicBezTo>
                <a:cubicBezTo>
                  <a:pt x="21238" y="21227"/>
                  <a:pt x="20902" y="21429"/>
                  <a:pt x="20491" y="21429"/>
                </a:cubicBezTo>
                <a:lnTo>
                  <a:pt x="6390" y="21429"/>
                </a:lnTo>
                <a:cubicBezTo>
                  <a:pt x="5980" y="21429"/>
                  <a:pt x="5644" y="21227"/>
                  <a:pt x="5644" y="20950"/>
                </a:cubicBezTo>
                <a:cubicBezTo>
                  <a:pt x="5644" y="20673"/>
                  <a:pt x="5980" y="20446"/>
                  <a:pt x="6390" y="20446"/>
                </a:cubicBezTo>
                <a:close/>
                <a:moveTo>
                  <a:pt x="6688" y="15758"/>
                </a:moveTo>
                <a:lnTo>
                  <a:pt x="14448" y="7138"/>
                </a:lnTo>
                <a:lnTo>
                  <a:pt x="17171" y="8247"/>
                </a:lnTo>
                <a:lnTo>
                  <a:pt x="9449" y="16867"/>
                </a:lnTo>
                <a:lnTo>
                  <a:pt x="6688" y="15758"/>
                </a:lnTo>
                <a:close/>
                <a:moveTo>
                  <a:pt x="1242" y="13515"/>
                </a:moveTo>
                <a:lnTo>
                  <a:pt x="9001" y="4895"/>
                </a:lnTo>
                <a:lnTo>
                  <a:pt x="11725" y="6004"/>
                </a:lnTo>
                <a:lnTo>
                  <a:pt x="3965" y="14624"/>
                </a:lnTo>
                <a:lnTo>
                  <a:pt x="1242" y="13515"/>
                </a:lnTo>
                <a:close/>
                <a:moveTo>
                  <a:pt x="11" y="20496"/>
                </a:moveTo>
                <a:lnTo>
                  <a:pt x="757" y="16212"/>
                </a:lnTo>
                <a:lnTo>
                  <a:pt x="6091" y="18379"/>
                </a:lnTo>
                <a:lnTo>
                  <a:pt x="831" y="20824"/>
                </a:lnTo>
                <a:cubicBezTo>
                  <a:pt x="272" y="21101"/>
                  <a:pt x="-64" y="20950"/>
                  <a:pt x="11" y="20496"/>
                </a:cubicBezTo>
                <a:close/>
                <a:moveTo>
                  <a:pt x="11090" y="2501"/>
                </a:moveTo>
                <a:lnTo>
                  <a:pt x="9971" y="3761"/>
                </a:lnTo>
                <a:lnTo>
                  <a:pt x="18141" y="7113"/>
                </a:lnTo>
                <a:lnTo>
                  <a:pt x="19298" y="5853"/>
                </a:lnTo>
                <a:lnTo>
                  <a:pt x="11090" y="2501"/>
                </a:lnTo>
                <a:close/>
                <a:moveTo>
                  <a:pt x="12844" y="585"/>
                </a:moveTo>
                <a:cubicBezTo>
                  <a:pt x="13366" y="5"/>
                  <a:pt x="14485" y="-171"/>
                  <a:pt x="15306" y="182"/>
                </a:cubicBezTo>
                <a:lnTo>
                  <a:pt x="20417" y="2274"/>
                </a:lnTo>
                <a:cubicBezTo>
                  <a:pt x="21275" y="2601"/>
                  <a:pt x="21536" y="3358"/>
                  <a:pt x="21051" y="3937"/>
                </a:cubicBezTo>
                <a:lnTo>
                  <a:pt x="20342" y="4719"/>
                </a:lnTo>
                <a:lnTo>
                  <a:pt x="12135" y="1366"/>
                </a:lnTo>
                <a:lnTo>
                  <a:pt x="12844" y="585"/>
                </a:lnTo>
                <a:close/>
              </a:path>
            </a:pathLst>
          </a:custGeom>
          <a:solidFill>
            <a:srgbClr val="7F7F7F"/>
          </a:solidFill>
          <a:ln w="12700">
            <a:miter lim="400000"/>
          </a:ln>
        </p:spPr>
        <p:txBody>
          <a:bodyPr lIns="45719" rIns="45719"/>
          <a:lstStyle/>
          <a:p/>
        </p:txBody>
      </p:sp>
      <p:sp>
        <p:nvSpPr>
          <p:cNvPr id="258" name="直接连接符 9"/>
          <p:cNvSpPr/>
          <p:nvPr/>
        </p:nvSpPr>
        <p:spPr>
          <a:xfrm flipH="1" flipV="1">
            <a:off x="985301" y="616158"/>
            <a:ext cx="10746001" cy="1"/>
          </a:xfrm>
          <a:prstGeom prst="line">
            <a:avLst/>
          </a:prstGeom>
          <a:solidFill>
            <a:schemeClr val="accent1">
              <a:lumOff val="44000"/>
            </a:schemeClr>
          </a:solidFill>
          <a:ln>
            <a:solidFill>
              <a:schemeClr val="accent3">
                <a:lumOff val="34999"/>
              </a:schemeClr>
            </a:solidFill>
          </a:ln>
        </p:spPr>
        <p:txBody>
          <a:bodyPr lIns="45719" rIns="45719"/>
          <a:lstStyle/>
          <a:p/>
        </p:txBody>
      </p:sp>
      <p:sp>
        <p:nvSpPr>
          <p:cNvPr id="5" name="Shape 3"/>
          <p:cNvSpPr/>
          <p:nvPr/>
        </p:nvSpPr>
        <p:spPr>
          <a:xfrm>
            <a:off x="330407" y="1552911"/>
            <a:ext cx="11531187" cy="33041"/>
          </a:xfrm>
          <a:custGeom>
            <a:avLst/>
            <a:gdLst/>
            <a:ahLst/>
            <a:cxnLst/>
            <a:rect l="l" t="t" r="r" b="b"/>
            <a:pathLst>
              <a:path w="11531187" h="33041">
                <a:moveTo>
                  <a:pt x="0" y="0"/>
                </a:moveTo>
                <a:lnTo>
                  <a:pt x="11531187" y="0"/>
                </a:lnTo>
                <a:lnTo>
                  <a:pt x="11531187" y="33041"/>
                </a:lnTo>
                <a:lnTo>
                  <a:pt x="0" y="3304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E87A3D"/>
              </a:gs>
              <a:gs pos="50000">
                <a:srgbClr val="F5A623"/>
              </a:gs>
              <a:gs pos="100000">
                <a:srgbClr val="E87A3D"/>
              </a:gs>
            </a:gsLst>
            <a:lin ang="0" scaled="1"/>
          </a:gradFill>
        </p:spPr>
      </p:sp>
      <p:sp>
        <p:nvSpPr>
          <p:cNvPr id="6" name="Shape 4"/>
          <p:cNvSpPr/>
          <p:nvPr/>
        </p:nvSpPr>
        <p:spPr>
          <a:xfrm>
            <a:off x="337749" y="1692416"/>
            <a:ext cx="3740018" cy="3170067"/>
          </a:xfrm>
          <a:custGeom>
            <a:avLst/>
            <a:gdLst/>
            <a:ahLst/>
            <a:cxnLst/>
            <a:rect l="l" t="t" r="r" b="b"/>
            <a:pathLst>
              <a:path w="3740018" h="3170067">
                <a:moveTo>
                  <a:pt x="99128" y="0"/>
                </a:moveTo>
                <a:lnTo>
                  <a:pt x="3640890" y="0"/>
                </a:lnTo>
                <a:cubicBezTo>
                  <a:pt x="3695637" y="0"/>
                  <a:pt x="3740018" y="44381"/>
                  <a:pt x="3740018" y="99128"/>
                </a:cubicBezTo>
                <a:lnTo>
                  <a:pt x="3740018" y="3070939"/>
                </a:lnTo>
                <a:cubicBezTo>
                  <a:pt x="3740018" y="3125686"/>
                  <a:pt x="3695637" y="3170067"/>
                  <a:pt x="3640890" y="3170067"/>
                </a:cubicBezTo>
                <a:lnTo>
                  <a:pt x="99128" y="3170067"/>
                </a:lnTo>
                <a:cubicBezTo>
                  <a:pt x="44381" y="3170067"/>
                  <a:pt x="0" y="3125686"/>
                  <a:pt x="0" y="3070939"/>
                </a:cubicBezTo>
                <a:lnTo>
                  <a:pt x="0" y="99128"/>
                </a:lnTo>
                <a:cubicBezTo>
                  <a:pt x="0" y="44418"/>
                  <a:pt x="44418" y="0"/>
                  <a:pt x="99128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22578">
            <a:solidFill>
              <a:srgbClr val="E87A3D"/>
            </a:solidFill>
            <a:prstDash val="solid"/>
          </a:ln>
          <a:effectLst>
            <a:outerShdw blurRad="123902" dist="826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15228" y="1831921"/>
            <a:ext cx="784715" cy="231285"/>
          </a:xfrm>
          <a:prstGeom prst="rect">
            <a:avLst/>
          </a:prstGeom>
          <a:noFill/>
        </p:spPr>
        <p:txBody>
          <a:bodyPr wrap="square" lIns="132163" tIns="33041" rIns="132163" bIns="33041" rtlCol="0" anchor="ctr"/>
          <a:lstStyle/>
          <a:p>
            <a:pPr algn="ctr">
              <a:lnSpc>
                <a:spcPct val="120000"/>
              </a:lnSpc>
            </a:pPr>
            <a:r>
              <a:rPr lang="en-US" sz="91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短期优化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4213" y="2129287"/>
            <a:ext cx="3527089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b="1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1-2周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5953" y="2393612"/>
            <a:ext cx="3543610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Hard Negative Mining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7254" y="2724019"/>
            <a:ext cx="3461008" cy="495610"/>
          </a:xfrm>
          <a:custGeom>
            <a:avLst/>
            <a:gdLst/>
            <a:ahLst/>
            <a:cxnLst/>
            <a:rect l="l" t="t" r="r" b="b"/>
            <a:pathLst>
              <a:path w="3461008" h="495610">
                <a:moveTo>
                  <a:pt x="66080" y="0"/>
                </a:moveTo>
                <a:lnTo>
                  <a:pt x="3394928" y="0"/>
                </a:lnTo>
                <a:cubicBezTo>
                  <a:pt x="3431423" y="0"/>
                  <a:pt x="3461008" y="29585"/>
                  <a:pt x="3461008" y="66080"/>
                </a:cubicBezTo>
                <a:lnTo>
                  <a:pt x="3461008" y="429530"/>
                </a:lnTo>
                <a:cubicBezTo>
                  <a:pt x="3461008" y="466025"/>
                  <a:pt x="3431423" y="495610"/>
                  <a:pt x="3394928" y="495610"/>
                </a:cubicBezTo>
                <a:lnTo>
                  <a:pt x="66080" y="495610"/>
                </a:lnTo>
                <a:cubicBezTo>
                  <a:pt x="29585" y="495610"/>
                  <a:pt x="0" y="466025"/>
                  <a:pt x="0" y="429530"/>
                </a:cubicBezTo>
                <a:lnTo>
                  <a:pt x="0" y="66080"/>
                </a:lnTo>
                <a:cubicBezTo>
                  <a:pt x="0" y="29585"/>
                  <a:pt x="29585" y="0"/>
                  <a:pt x="66080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3335" y="2790100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3560" y="2988310"/>
            <a:ext cx="27933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提升SASRec至0.76+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7254" y="3285710"/>
            <a:ext cx="3461008" cy="677333"/>
          </a:xfrm>
          <a:custGeom>
            <a:avLst/>
            <a:gdLst/>
            <a:ahLst/>
            <a:cxnLst/>
            <a:rect l="l" t="t" r="r" b="b"/>
            <a:pathLst>
              <a:path w="3461008" h="677333">
                <a:moveTo>
                  <a:pt x="66081" y="0"/>
                </a:moveTo>
                <a:lnTo>
                  <a:pt x="3394927" y="0"/>
                </a:lnTo>
                <a:cubicBezTo>
                  <a:pt x="3431423" y="0"/>
                  <a:pt x="3461008" y="29585"/>
                  <a:pt x="3461008" y="66081"/>
                </a:cubicBezTo>
                <a:lnTo>
                  <a:pt x="3461008" y="611253"/>
                </a:lnTo>
                <a:cubicBezTo>
                  <a:pt x="3461008" y="647748"/>
                  <a:pt x="3431423" y="677333"/>
                  <a:pt x="3394927" y="677333"/>
                </a:cubicBezTo>
                <a:lnTo>
                  <a:pt x="66081" y="677333"/>
                </a:lnTo>
                <a:cubicBezTo>
                  <a:pt x="29585" y="677333"/>
                  <a:pt x="0" y="647748"/>
                  <a:pt x="0" y="611253"/>
                </a:cubicBezTo>
                <a:lnTo>
                  <a:pt x="0" y="66081"/>
                </a:lnTo>
                <a:cubicBezTo>
                  <a:pt x="0" y="29610"/>
                  <a:pt x="29610" y="0"/>
                  <a:pt x="66081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560" y="3351530"/>
            <a:ext cx="236537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策略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3335" y="3550035"/>
            <a:ext cx="3386667" cy="34692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改进负采样策略，从"随机采样"改为"用户浏览但未购买"的硬负样本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7254" y="4029124"/>
            <a:ext cx="3461008" cy="693854"/>
          </a:xfrm>
          <a:custGeom>
            <a:avLst/>
            <a:gdLst/>
            <a:ahLst/>
            <a:cxnLst/>
            <a:rect l="l" t="t" r="r" b="b"/>
            <a:pathLst>
              <a:path w="3461008" h="693854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627771"/>
                </a:lnTo>
                <a:cubicBezTo>
                  <a:pt x="3461008" y="664267"/>
                  <a:pt x="3431422" y="693854"/>
                  <a:pt x="3394926" y="693854"/>
                </a:cubicBezTo>
                <a:lnTo>
                  <a:pt x="66083" y="693854"/>
                </a:lnTo>
                <a:cubicBezTo>
                  <a:pt x="29586" y="693854"/>
                  <a:pt x="0" y="664267"/>
                  <a:pt x="0" y="627771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E87A3D">
              <a:alpha val="10196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43560" y="4095115"/>
            <a:ext cx="2641600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预期收益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5472" y="4293449"/>
            <a:ext cx="875577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+0.01~0.03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7862" y="4524734"/>
            <a:ext cx="850797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AUC提升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436117" y="4293449"/>
            <a:ext cx="470829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0.55+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448507" y="4524734"/>
            <a:ext cx="446049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F1目标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24270" y="1692416"/>
            <a:ext cx="3740018" cy="3004864"/>
          </a:xfrm>
          <a:custGeom>
            <a:avLst/>
            <a:gdLst/>
            <a:ahLst/>
            <a:cxnLst/>
            <a:rect l="l" t="t" r="r" b="b"/>
            <a:pathLst>
              <a:path w="3740018" h="3004864">
                <a:moveTo>
                  <a:pt x="99130" y="0"/>
                </a:moveTo>
                <a:lnTo>
                  <a:pt x="3640888" y="0"/>
                </a:lnTo>
                <a:cubicBezTo>
                  <a:pt x="3695636" y="0"/>
                  <a:pt x="3740018" y="44382"/>
                  <a:pt x="3740018" y="99130"/>
                </a:cubicBezTo>
                <a:lnTo>
                  <a:pt x="3740018" y="2905733"/>
                </a:lnTo>
                <a:cubicBezTo>
                  <a:pt x="3740018" y="2960481"/>
                  <a:pt x="3695636" y="3004864"/>
                  <a:pt x="3640888" y="3004864"/>
                </a:cubicBezTo>
                <a:lnTo>
                  <a:pt x="99130" y="3004864"/>
                </a:lnTo>
                <a:cubicBezTo>
                  <a:pt x="44382" y="3004864"/>
                  <a:pt x="0" y="2960481"/>
                  <a:pt x="0" y="2905733"/>
                </a:cubicBezTo>
                <a:lnTo>
                  <a:pt x="0" y="99130"/>
                </a:lnTo>
                <a:cubicBezTo>
                  <a:pt x="0" y="44419"/>
                  <a:pt x="44419" y="0"/>
                  <a:pt x="9913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A623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22578">
            <a:solidFill>
              <a:srgbClr val="F5A623"/>
            </a:solidFill>
            <a:prstDash val="solid"/>
          </a:ln>
          <a:effectLst>
            <a:outerShdw blurRad="123902" dist="826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01749" y="1831921"/>
            <a:ext cx="784715" cy="231285"/>
          </a:xfrm>
          <a:prstGeom prst="rect">
            <a:avLst/>
          </a:prstGeom>
          <a:noFill/>
        </p:spPr>
        <p:txBody>
          <a:bodyPr wrap="square" lIns="132163" tIns="33041" rIns="132163" bIns="33041" rtlCol="0" anchor="ctr"/>
          <a:lstStyle/>
          <a:p>
            <a:pPr algn="ctr">
              <a:lnSpc>
                <a:spcPct val="120000"/>
              </a:lnSpc>
            </a:pPr>
            <a:r>
              <a:rPr lang="en-US" sz="91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中期增强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330735" y="2129287"/>
            <a:ext cx="3527089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b="1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1-3月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22474" y="2393612"/>
            <a:ext cx="3543610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5A62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数据扩充与架构升级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63775" y="2724019"/>
            <a:ext cx="3461008" cy="503870"/>
          </a:xfrm>
          <a:custGeom>
            <a:avLst/>
            <a:gdLst/>
            <a:ahLst/>
            <a:cxnLst/>
            <a:rect l="l" t="t" r="r" b="b"/>
            <a:pathLst>
              <a:path w="3461008" h="503870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437787"/>
                </a:lnTo>
                <a:cubicBezTo>
                  <a:pt x="3461008" y="474284"/>
                  <a:pt x="3431422" y="503870"/>
                  <a:pt x="3394926" y="503870"/>
                </a:cubicBezTo>
                <a:lnTo>
                  <a:pt x="66083" y="503870"/>
                </a:lnTo>
                <a:cubicBezTo>
                  <a:pt x="29586" y="503870"/>
                  <a:pt x="0" y="474284"/>
                  <a:pt x="0" y="437787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429857" y="2790100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63775" y="3293970"/>
            <a:ext cx="3461008" cy="503870"/>
          </a:xfrm>
          <a:custGeom>
            <a:avLst/>
            <a:gdLst/>
            <a:ahLst/>
            <a:cxnLst/>
            <a:rect l="l" t="t" r="r" b="b"/>
            <a:pathLst>
              <a:path w="3461008" h="503870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437787"/>
                </a:lnTo>
                <a:cubicBezTo>
                  <a:pt x="3461008" y="474284"/>
                  <a:pt x="3431422" y="503870"/>
                  <a:pt x="3394926" y="503870"/>
                </a:cubicBezTo>
                <a:lnTo>
                  <a:pt x="66083" y="503870"/>
                </a:lnTo>
                <a:cubicBezTo>
                  <a:pt x="29586" y="503870"/>
                  <a:pt x="0" y="474284"/>
                  <a:pt x="0" y="437787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29857" y="2988344"/>
            <a:ext cx="3386667" cy="173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接入90天历史数据（当前30天→90天），缓解SASRec过拟合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29857" y="3360051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模型层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29857" y="3558295"/>
            <a:ext cx="3386667" cy="173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引入ComiRec多兴趣建模，用3-5个向量表示用户多面兴趣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29857" y="3930002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目标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88556" y="4128246"/>
            <a:ext cx="3411447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F5A62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突破0.78 AUC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05076" y="4359531"/>
            <a:ext cx="3378407" cy="132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0" dirty="0">
                <a:solidFill>
                  <a:srgbClr val="333333">
                    <a:alpha val="6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追上XGBoost水平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0849" y="1692416"/>
            <a:ext cx="3740018" cy="3194847"/>
          </a:xfrm>
          <a:custGeom>
            <a:avLst/>
            <a:gdLst/>
            <a:ahLst/>
            <a:cxnLst/>
            <a:rect l="l" t="t" r="r" b="b"/>
            <a:pathLst>
              <a:path w="3740018" h="3194847">
                <a:moveTo>
                  <a:pt x="99136" y="0"/>
                </a:moveTo>
                <a:lnTo>
                  <a:pt x="3640882" y="0"/>
                </a:lnTo>
                <a:cubicBezTo>
                  <a:pt x="3695633" y="0"/>
                  <a:pt x="3740018" y="44385"/>
                  <a:pt x="3740018" y="99136"/>
                </a:cubicBezTo>
                <a:lnTo>
                  <a:pt x="3740018" y="3095711"/>
                </a:lnTo>
                <a:cubicBezTo>
                  <a:pt x="3740018" y="3150463"/>
                  <a:pt x="3695633" y="3194847"/>
                  <a:pt x="3640882" y="3194847"/>
                </a:cubicBezTo>
                <a:lnTo>
                  <a:pt x="99136" y="3194847"/>
                </a:lnTo>
                <a:cubicBezTo>
                  <a:pt x="44385" y="3194847"/>
                  <a:pt x="0" y="3150463"/>
                  <a:pt x="0" y="3095711"/>
                </a:cubicBezTo>
                <a:lnTo>
                  <a:pt x="0" y="99136"/>
                </a:lnTo>
                <a:cubicBezTo>
                  <a:pt x="0" y="44421"/>
                  <a:pt x="44421" y="0"/>
                  <a:pt x="99136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22578">
            <a:solidFill>
              <a:srgbClr val="E87A3D"/>
            </a:solidFill>
            <a:prstDash val="solid"/>
          </a:ln>
          <a:effectLst>
            <a:outerShdw blurRad="123902" dist="826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588328" y="1831921"/>
            <a:ext cx="784715" cy="231285"/>
          </a:xfrm>
          <a:prstGeom prst="rect">
            <a:avLst/>
          </a:prstGeom>
          <a:noFill/>
        </p:spPr>
        <p:txBody>
          <a:bodyPr wrap="square" lIns="132163" tIns="33041" rIns="132163" bIns="33041" rtlCol="0" anchor="ctr"/>
          <a:lstStyle/>
          <a:p>
            <a:pPr algn="ctr">
              <a:lnSpc>
                <a:spcPct val="120000"/>
              </a:lnSpc>
            </a:pPr>
            <a:r>
              <a:rPr lang="en-US" sz="91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长期探索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217313" y="2129287"/>
            <a:ext cx="3527089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b="1" dirty="0">
                <a:solidFill>
                  <a:srgbClr val="333333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3-6月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0354" y="2724019"/>
            <a:ext cx="3461008" cy="503870"/>
          </a:xfrm>
          <a:custGeom>
            <a:avLst/>
            <a:gdLst/>
            <a:ahLst/>
            <a:cxnLst/>
            <a:rect l="l" t="t" r="r" b="b"/>
            <a:pathLst>
              <a:path w="3461008" h="503870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437787"/>
                </a:lnTo>
                <a:cubicBezTo>
                  <a:pt x="3461008" y="474284"/>
                  <a:pt x="3431422" y="503870"/>
                  <a:pt x="3394926" y="503870"/>
                </a:cubicBezTo>
                <a:lnTo>
                  <a:pt x="66083" y="503870"/>
                </a:lnTo>
                <a:cubicBezTo>
                  <a:pt x="29586" y="503870"/>
                  <a:pt x="0" y="474284"/>
                  <a:pt x="0" y="437787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250354" y="3293970"/>
            <a:ext cx="3461008" cy="503870"/>
          </a:xfrm>
          <a:custGeom>
            <a:avLst/>
            <a:gdLst/>
            <a:ahLst/>
            <a:cxnLst/>
            <a:rect l="l" t="t" r="r" b="b"/>
            <a:pathLst>
              <a:path w="3461008" h="503870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437787"/>
                </a:lnTo>
                <a:cubicBezTo>
                  <a:pt x="3461008" y="474284"/>
                  <a:pt x="3431422" y="503870"/>
                  <a:pt x="3394926" y="503870"/>
                </a:cubicBezTo>
                <a:lnTo>
                  <a:pt x="66083" y="503870"/>
                </a:lnTo>
                <a:cubicBezTo>
                  <a:pt x="29586" y="503870"/>
                  <a:pt x="0" y="474284"/>
                  <a:pt x="0" y="437787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209053" y="2393612"/>
            <a:ext cx="3543610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因果推断与业务价值验证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16435" y="2790100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Uplift Modeling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16435" y="3360051"/>
            <a:ext cx="3386667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真实ROI评估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16435" y="3558295"/>
            <a:ext cx="3386667" cy="173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通过RCT（随机对照实验），精准计算模型对GMV的增量贡献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331120" y="3944687"/>
            <a:ext cx="3353626" cy="16520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终极目标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02209" y="4142931"/>
            <a:ext cx="3353626" cy="520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910" b="1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从"预测用户会买什么"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910" b="1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升级为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910" b="1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"预测营销干预能否促使用户购买"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37749" y="4964358"/>
            <a:ext cx="11512831" cy="1113286"/>
          </a:xfrm>
          <a:custGeom>
            <a:avLst/>
            <a:gdLst/>
            <a:ahLst/>
            <a:cxnLst/>
            <a:rect l="l" t="t" r="r" b="b"/>
            <a:pathLst>
              <a:path w="11512831" h="1113286">
                <a:moveTo>
                  <a:pt x="99127" y="0"/>
                </a:moveTo>
                <a:lnTo>
                  <a:pt x="11413704" y="0"/>
                </a:lnTo>
                <a:cubicBezTo>
                  <a:pt x="11468450" y="0"/>
                  <a:pt x="11512831" y="44381"/>
                  <a:pt x="11512831" y="99127"/>
                </a:cubicBezTo>
                <a:lnTo>
                  <a:pt x="11512831" y="1014159"/>
                </a:lnTo>
                <a:cubicBezTo>
                  <a:pt x="11512831" y="1068906"/>
                  <a:pt x="11468450" y="1113286"/>
                  <a:pt x="11413704" y="1113286"/>
                </a:cubicBezTo>
                <a:lnTo>
                  <a:pt x="99127" y="1113286"/>
                </a:lnTo>
                <a:cubicBezTo>
                  <a:pt x="44381" y="1113286"/>
                  <a:pt x="0" y="1068906"/>
                  <a:pt x="0" y="1014159"/>
                </a:cubicBezTo>
                <a:lnTo>
                  <a:pt x="0" y="99127"/>
                </a:lnTo>
                <a:cubicBezTo>
                  <a:pt x="0" y="44381"/>
                  <a:pt x="44381" y="0"/>
                  <a:pt x="99127" y="0"/>
                </a:cubicBezTo>
                <a:close/>
              </a:path>
            </a:pathLst>
          </a:custGeom>
          <a:gradFill flip="none" rotWithShape="1">
            <a:gsLst>
              <a:gs pos="0">
                <a:srgbClr val="E87A3D">
                  <a:alpha val="10000"/>
                </a:srgbClr>
              </a:gs>
              <a:gs pos="50000">
                <a:srgbClr val="F5A623">
                  <a:alpha val="10000"/>
                </a:srgbClr>
              </a:gs>
              <a:gs pos="100000">
                <a:srgbClr val="E87A3D">
                  <a:alpha val="10000"/>
                </a:srgbClr>
              </a:gs>
            </a:gsLst>
            <a:lin ang="0" scaled="1"/>
          </a:gradFill>
          <a:ln w="22578">
            <a:solidFill>
              <a:srgbClr val="E87A3D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4365" y="5071110"/>
            <a:ext cx="9685020" cy="2311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333333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风险与应对策略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44213" y="5368188"/>
            <a:ext cx="3675772" cy="602992"/>
          </a:xfrm>
          <a:custGeom>
            <a:avLst/>
            <a:gdLst/>
            <a:ahLst/>
            <a:cxnLst/>
            <a:rect l="l" t="t" r="r" b="b"/>
            <a:pathLst>
              <a:path w="3675772" h="602992">
                <a:moveTo>
                  <a:pt x="66082" y="0"/>
                </a:moveTo>
                <a:lnTo>
                  <a:pt x="3609690" y="0"/>
                </a:lnTo>
                <a:cubicBezTo>
                  <a:pt x="3646186" y="0"/>
                  <a:pt x="3675772" y="29586"/>
                  <a:pt x="3675772" y="66082"/>
                </a:cubicBezTo>
                <a:lnTo>
                  <a:pt x="3675772" y="536910"/>
                </a:lnTo>
                <a:cubicBezTo>
                  <a:pt x="3675772" y="573406"/>
                  <a:pt x="3646186" y="602992"/>
                  <a:pt x="3609690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68116" y="5500351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15642" y="53123"/>
                </a:moveTo>
                <a:cubicBezTo>
                  <a:pt x="111822" y="55653"/>
                  <a:pt x="107434" y="57692"/>
                  <a:pt x="102865" y="59318"/>
                </a:cubicBezTo>
                <a:cubicBezTo>
                  <a:pt x="90733" y="63655"/>
                  <a:pt x="74806" y="66081"/>
                  <a:pt x="57821" y="66081"/>
                </a:cubicBezTo>
                <a:cubicBezTo>
                  <a:pt x="40836" y="66081"/>
                  <a:pt x="24884" y="63629"/>
                  <a:pt x="12777" y="59318"/>
                </a:cubicBezTo>
                <a:cubicBezTo>
                  <a:pt x="8234" y="57692"/>
                  <a:pt x="3820" y="55653"/>
                  <a:pt x="0" y="53123"/>
                </a:cubicBezTo>
                <a:lnTo>
                  <a:pt x="0" y="74341"/>
                </a:lnTo>
                <a:cubicBezTo>
                  <a:pt x="0" y="85751"/>
                  <a:pt x="25890" y="94992"/>
                  <a:pt x="57821" y="94992"/>
                </a:cubicBezTo>
                <a:cubicBezTo>
                  <a:pt x="89752" y="94992"/>
                  <a:pt x="115642" y="85751"/>
                  <a:pt x="115642" y="74341"/>
                </a:cubicBezTo>
                <a:lnTo>
                  <a:pt x="115642" y="53123"/>
                </a:lnTo>
                <a:close/>
                <a:moveTo>
                  <a:pt x="115642" y="33041"/>
                </a:moveTo>
                <a:lnTo>
                  <a:pt x="115642" y="20650"/>
                </a:lnTo>
                <a:cubicBezTo>
                  <a:pt x="115642" y="9241"/>
                  <a:pt x="89752" y="0"/>
                  <a:pt x="57821" y="0"/>
                </a:cubicBezTo>
                <a:cubicBezTo>
                  <a:pt x="25890" y="0"/>
                  <a:pt x="0" y="9241"/>
                  <a:pt x="0" y="20650"/>
                </a:cubicBezTo>
                <a:lnTo>
                  <a:pt x="0" y="33041"/>
                </a:lnTo>
                <a:cubicBezTo>
                  <a:pt x="0" y="44450"/>
                  <a:pt x="25890" y="53691"/>
                  <a:pt x="57821" y="53691"/>
                </a:cubicBezTo>
                <a:cubicBezTo>
                  <a:pt x="89752" y="53691"/>
                  <a:pt x="115642" y="44450"/>
                  <a:pt x="115642" y="33041"/>
                </a:cubicBezTo>
                <a:close/>
                <a:moveTo>
                  <a:pt x="102865" y="100619"/>
                </a:moveTo>
                <a:cubicBezTo>
                  <a:pt x="90759" y="104930"/>
                  <a:pt x="74832" y="107382"/>
                  <a:pt x="57821" y="107382"/>
                </a:cubicBezTo>
                <a:cubicBezTo>
                  <a:pt x="40810" y="107382"/>
                  <a:pt x="24884" y="104930"/>
                  <a:pt x="12777" y="100619"/>
                </a:cubicBezTo>
                <a:cubicBezTo>
                  <a:pt x="8234" y="98993"/>
                  <a:pt x="3820" y="96954"/>
                  <a:pt x="0" y="94424"/>
                </a:cubicBezTo>
                <a:lnTo>
                  <a:pt x="0" y="111512"/>
                </a:lnTo>
                <a:cubicBezTo>
                  <a:pt x="0" y="122922"/>
                  <a:pt x="25890" y="132163"/>
                  <a:pt x="57821" y="132163"/>
                </a:cubicBezTo>
                <a:cubicBezTo>
                  <a:pt x="89752" y="132163"/>
                  <a:pt x="115642" y="122922"/>
                  <a:pt x="115642" y="111512"/>
                </a:cubicBezTo>
                <a:lnTo>
                  <a:pt x="115642" y="94424"/>
                </a:lnTo>
                <a:cubicBezTo>
                  <a:pt x="111822" y="96954"/>
                  <a:pt x="107434" y="98993"/>
                  <a:pt x="102865" y="100619"/>
                </a:cubicBezTo>
                <a:close/>
              </a:path>
            </a:pathLst>
          </a:custGeom>
          <a:solidFill>
            <a:srgbClr val="E87A3D"/>
          </a:solidFill>
        </p:spPr>
      </p:sp>
      <p:sp>
        <p:nvSpPr>
          <p:cNvPr id="57" name="Text 55"/>
          <p:cNvSpPr/>
          <p:nvPr/>
        </p:nvSpPr>
        <p:spPr>
          <a:xfrm>
            <a:off x="774620" y="5467310"/>
            <a:ext cx="59473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数据获取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543560" y="5698490"/>
            <a:ext cx="313309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90天数据存储成本↑，需评估ROI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54902" y="5368188"/>
            <a:ext cx="3675772" cy="602992"/>
          </a:xfrm>
          <a:custGeom>
            <a:avLst/>
            <a:gdLst/>
            <a:ahLst/>
            <a:cxnLst/>
            <a:rect l="l" t="t" r="r" b="b"/>
            <a:pathLst>
              <a:path w="3675772" h="602992">
                <a:moveTo>
                  <a:pt x="66082" y="0"/>
                </a:moveTo>
                <a:lnTo>
                  <a:pt x="3609690" y="0"/>
                </a:lnTo>
                <a:cubicBezTo>
                  <a:pt x="3646186" y="0"/>
                  <a:pt x="3675772" y="29586"/>
                  <a:pt x="3675772" y="66082"/>
                </a:cubicBezTo>
                <a:lnTo>
                  <a:pt x="3675772" y="536910"/>
                </a:lnTo>
                <a:cubicBezTo>
                  <a:pt x="3675772" y="573406"/>
                  <a:pt x="3646186" y="602992"/>
                  <a:pt x="3609690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378804" y="5500351"/>
            <a:ext cx="115642" cy="132163"/>
          </a:xfrm>
          <a:custGeom>
            <a:avLst/>
            <a:gdLst/>
            <a:ahLst/>
            <a:cxnLst/>
            <a:rect l="l" t="t" r="r" b="b"/>
            <a:pathLst>
              <a:path w="115642" h="132163">
                <a:moveTo>
                  <a:pt x="16520" y="8260"/>
                </a:moveTo>
                <a:cubicBezTo>
                  <a:pt x="7408" y="8260"/>
                  <a:pt x="0" y="15668"/>
                  <a:pt x="0" y="24780"/>
                </a:cubicBezTo>
                <a:lnTo>
                  <a:pt x="0" y="41301"/>
                </a:lnTo>
                <a:cubicBezTo>
                  <a:pt x="0" y="50413"/>
                  <a:pt x="7408" y="57821"/>
                  <a:pt x="16520" y="57821"/>
                </a:cubicBezTo>
                <a:lnTo>
                  <a:pt x="99122" y="57821"/>
                </a:lnTo>
                <a:cubicBezTo>
                  <a:pt x="108234" y="57821"/>
                  <a:pt x="115642" y="50413"/>
                  <a:pt x="115642" y="41301"/>
                </a:cubicBezTo>
                <a:lnTo>
                  <a:pt x="115642" y="24780"/>
                </a:lnTo>
                <a:cubicBezTo>
                  <a:pt x="115642" y="15668"/>
                  <a:pt x="108234" y="8260"/>
                  <a:pt x="99122" y="8260"/>
                </a:cubicBezTo>
                <a:lnTo>
                  <a:pt x="16520" y="8260"/>
                </a:lnTo>
                <a:close/>
                <a:moveTo>
                  <a:pt x="72276" y="26846"/>
                </a:moveTo>
                <a:cubicBezTo>
                  <a:pt x="75696" y="26846"/>
                  <a:pt x="78472" y="29621"/>
                  <a:pt x="78472" y="33041"/>
                </a:cubicBezTo>
                <a:cubicBezTo>
                  <a:pt x="78472" y="36460"/>
                  <a:pt x="75696" y="39236"/>
                  <a:pt x="72276" y="39236"/>
                </a:cubicBezTo>
                <a:cubicBezTo>
                  <a:pt x="68857" y="39236"/>
                  <a:pt x="66081" y="36460"/>
                  <a:pt x="66081" y="33041"/>
                </a:cubicBezTo>
                <a:cubicBezTo>
                  <a:pt x="66081" y="29621"/>
                  <a:pt x="68857" y="26846"/>
                  <a:pt x="72276" y="26846"/>
                </a:cubicBezTo>
                <a:close/>
                <a:moveTo>
                  <a:pt x="86732" y="33041"/>
                </a:moveTo>
                <a:cubicBezTo>
                  <a:pt x="86732" y="29621"/>
                  <a:pt x="89508" y="26846"/>
                  <a:pt x="92927" y="26846"/>
                </a:cubicBezTo>
                <a:cubicBezTo>
                  <a:pt x="96346" y="26846"/>
                  <a:pt x="99122" y="29621"/>
                  <a:pt x="99122" y="33041"/>
                </a:cubicBezTo>
                <a:cubicBezTo>
                  <a:pt x="99122" y="36460"/>
                  <a:pt x="96346" y="39236"/>
                  <a:pt x="92927" y="39236"/>
                </a:cubicBezTo>
                <a:cubicBezTo>
                  <a:pt x="89508" y="39236"/>
                  <a:pt x="86732" y="36460"/>
                  <a:pt x="86732" y="33041"/>
                </a:cubicBezTo>
                <a:close/>
                <a:moveTo>
                  <a:pt x="16520" y="74341"/>
                </a:moveTo>
                <a:cubicBezTo>
                  <a:pt x="7408" y="74341"/>
                  <a:pt x="0" y="81750"/>
                  <a:pt x="0" y="90862"/>
                </a:cubicBezTo>
                <a:lnTo>
                  <a:pt x="0" y="107382"/>
                </a:lnTo>
                <a:cubicBezTo>
                  <a:pt x="0" y="116494"/>
                  <a:pt x="7408" y="123902"/>
                  <a:pt x="16520" y="123902"/>
                </a:cubicBezTo>
                <a:lnTo>
                  <a:pt x="99122" y="123902"/>
                </a:lnTo>
                <a:cubicBezTo>
                  <a:pt x="108234" y="123902"/>
                  <a:pt x="115642" y="116494"/>
                  <a:pt x="115642" y="107382"/>
                </a:cubicBezTo>
                <a:lnTo>
                  <a:pt x="115642" y="90862"/>
                </a:lnTo>
                <a:cubicBezTo>
                  <a:pt x="115642" y="81750"/>
                  <a:pt x="108234" y="74341"/>
                  <a:pt x="99122" y="74341"/>
                </a:cubicBezTo>
                <a:lnTo>
                  <a:pt x="16520" y="74341"/>
                </a:lnTo>
                <a:close/>
                <a:moveTo>
                  <a:pt x="72276" y="92927"/>
                </a:moveTo>
                <a:cubicBezTo>
                  <a:pt x="75696" y="92927"/>
                  <a:pt x="78472" y="95703"/>
                  <a:pt x="78472" y="99122"/>
                </a:cubicBezTo>
                <a:cubicBezTo>
                  <a:pt x="78472" y="102541"/>
                  <a:pt x="75696" y="105317"/>
                  <a:pt x="72276" y="105317"/>
                </a:cubicBezTo>
                <a:cubicBezTo>
                  <a:pt x="68857" y="105317"/>
                  <a:pt x="66081" y="102541"/>
                  <a:pt x="66081" y="99122"/>
                </a:cubicBezTo>
                <a:cubicBezTo>
                  <a:pt x="66081" y="95703"/>
                  <a:pt x="68857" y="92927"/>
                  <a:pt x="72276" y="92927"/>
                </a:cubicBezTo>
                <a:close/>
                <a:moveTo>
                  <a:pt x="86732" y="99122"/>
                </a:moveTo>
                <a:cubicBezTo>
                  <a:pt x="86732" y="95703"/>
                  <a:pt x="89508" y="92927"/>
                  <a:pt x="92927" y="92927"/>
                </a:cubicBezTo>
                <a:cubicBezTo>
                  <a:pt x="96346" y="92927"/>
                  <a:pt x="99122" y="95703"/>
                  <a:pt x="99122" y="99122"/>
                </a:cubicBezTo>
                <a:cubicBezTo>
                  <a:pt x="99122" y="102541"/>
                  <a:pt x="96346" y="105317"/>
                  <a:pt x="92927" y="105317"/>
                </a:cubicBezTo>
                <a:cubicBezTo>
                  <a:pt x="89508" y="105317"/>
                  <a:pt x="86732" y="102541"/>
                  <a:pt x="86732" y="99122"/>
                </a:cubicBezTo>
                <a:close/>
              </a:path>
            </a:pathLst>
          </a:custGeom>
          <a:solidFill>
            <a:srgbClr val="F5A623"/>
          </a:solidFill>
        </p:spPr>
      </p:sp>
      <p:sp>
        <p:nvSpPr>
          <p:cNvPr id="61" name="Text 59"/>
          <p:cNvSpPr/>
          <p:nvPr/>
        </p:nvSpPr>
        <p:spPr>
          <a:xfrm>
            <a:off x="4585308" y="5467310"/>
            <a:ext cx="59473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计算资源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354195" y="5698490"/>
            <a:ext cx="266700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ComiRec计算量倍增，考虑GPU加速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065590" y="5368188"/>
            <a:ext cx="3675772" cy="602992"/>
          </a:xfrm>
          <a:custGeom>
            <a:avLst/>
            <a:gdLst/>
            <a:ahLst/>
            <a:cxnLst/>
            <a:rect l="l" t="t" r="r" b="b"/>
            <a:pathLst>
              <a:path w="3675772" h="602992">
                <a:moveTo>
                  <a:pt x="66082" y="0"/>
                </a:moveTo>
                <a:lnTo>
                  <a:pt x="3609690" y="0"/>
                </a:lnTo>
                <a:cubicBezTo>
                  <a:pt x="3646186" y="0"/>
                  <a:pt x="3675772" y="29586"/>
                  <a:pt x="3675772" y="66082"/>
                </a:cubicBezTo>
                <a:lnTo>
                  <a:pt x="3675772" y="536910"/>
                </a:lnTo>
                <a:cubicBezTo>
                  <a:pt x="3675772" y="573406"/>
                  <a:pt x="3646186" y="602992"/>
                  <a:pt x="3609690" y="602992"/>
                </a:cubicBezTo>
                <a:lnTo>
                  <a:pt x="66082" y="602992"/>
                </a:lnTo>
                <a:cubicBezTo>
                  <a:pt x="29586" y="602992"/>
                  <a:pt x="0" y="573406"/>
                  <a:pt x="0" y="536910"/>
                </a:cubicBezTo>
                <a:lnTo>
                  <a:pt x="0" y="66082"/>
                </a:lnTo>
                <a:cubicBezTo>
                  <a:pt x="0" y="29586"/>
                  <a:pt x="29586" y="0"/>
                  <a:pt x="66082" y="0"/>
                </a:cubicBezTo>
                <a:close/>
              </a:path>
            </a:pathLst>
          </a:custGeom>
          <a:solidFill>
            <a:srgbClr val="FFFFFF"/>
          </a:solidFill>
          <a:effectLst>
            <a:outerShdw blurRad="24780" dist="82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164712" y="5500351"/>
            <a:ext cx="165203" cy="132163"/>
          </a:xfrm>
          <a:custGeom>
            <a:avLst/>
            <a:gdLst/>
            <a:ahLst/>
            <a:cxnLst/>
            <a:rect l="l" t="t" r="r" b="b"/>
            <a:pathLst>
              <a:path w="165203" h="132163">
                <a:moveTo>
                  <a:pt x="82602" y="4130"/>
                </a:moveTo>
                <a:cubicBezTo>
                  <a:pt x="97418" y="4130"/>
                  <a:pt x="109447" y="16159"/>
                  <a:pt x="109447" y="30976"/>
                </a:cubicBezTo>
                <a:cubicBezTo>
                  <a:pt x="109447" y="45792"/>
                  <a:pt x="97418" y="57821"/>
                  <a:pt x="82602" y="57821"/>
                </a:cubicBezTo>
                <a:cubicBezTo>
                  <a:pt x="67785" y="57821"/>
                  <a:pt x="55756" y="45792"/>
                  <a:pt x="55756" y="30976"/>
                </a:cubicBezTo>
                <a:cubicBezTo>
                  <a:pt x="55756" y="16159"/>
                  <a:pt x="67785" y="4130"/>
                  <a:pt x="82602" y="4130"/>
                </a:cubicBezTo>
                <a:close/>
                <a:moveTo>
                  <a:pt x="24780" y="22715"/>
                </a:moveTo>
                <a:cubicBezTo>
                  <a:pt x="35038" y="22715"/>
                  <a:pt x="43366" y="31043"/>
                  <a:pt x="43366" y="41301"/>
                </a:cubicBezTo>
                <a:cubicBezTo>
                  <a:pt x="43366" y="51558"/>
                  <a:pt x="35038" y="59886"/>
                  <a:pt x="24780" y="59886"/>
                </a:cubicBezTo>
                <a:cubicBezTo>
                  <a:pt x="14523" y="59886"/>
                  <a:pt x="6195" y="51558"/>
                  <a:pt x="6195" y="41301"/>
                </a:cubicBezTo>
                <a:cubicBezTo>
                  <a:pt x="6195" y="31043"/>
                  <a:pt x="14523" y="22715"/>
                  <a:pt x="24780" y="22715"/>
                </a:cubicBezTo>
                <a:close/>
                <a:moveTo>
                  <a:pt x="0" y="107382"/>
                </a:moveTo>
                <a:cubicBezTo>
                  <a:pt x="0" y="89132"/>
                  <a:pt x="14791" y="74341"/>
                  <a:pt x="33041" y="74341"/>
                </a:cubicBezTo>
                <a:cubicBezTo>
                  <a:pt x="36345" y="74341"/>
                  <a:pt x="39546" y="74832"/>
                  <a:pt x="42566" y="75735"/>
                </a:cubicBezTo>
                <a:cubicBezTo>
                  <a:pt x="34073" y="85235"/>
                  <a:pt x="28911" y="97780"/>
                  <a:pt x="28911" y="111512"/>
                </a:cubicBezTo>
                <a:lnTo>
                  <a:pt x="28911" y="115642"/>
                </a:lnTo>
                <a:cubicBezTo>
                  <a:pt x="28911" y="118585"/>
                  <a:pt x="29530" y="121373"/>
                  <a:pt x="30640" y="123902"/>
                </a:cubicBezTo>
                <a:lnTo>
                  <a:pt x="8260" y="123902"/>
                </a:lnTo>
                <a:cubicBezTo>
                  <a:pt x="3691" y="123902"/>
                  <a:pt x="0" y="120211"/>
                  <a:pt x="0" y="115642"/>
                </a:cubicBezTo>
                <a:lnTo>
                  <a:pt x="0" y="107382"/>
                </a:lnTo>
                <a:close/>
                <a:moveTo>
                  <a:pt x="134563" y="123902"/>
                </a:moveTo>
                <a:cubicBezTo>
                  <a:pt x="135673" y="121373"/>
                  <a:pt x="136293" y="118585"/>
                  <a:pt x="136293" y="115642"/>
                </a:cubicBezTo>
                <a:lnTo>
                  <a:pt x="136293" y="111512"/>
                </a:lnTo>
                <a:cubicBezTo>
                  <a:pt x="136293" y="97780"/>
                  <a:pt x="131130" y="85235"/>
                  <a:pt x="122638" y="75735"/>
                </a:cubicBezTo>
                <a:cubicBezTo>
                  <a:pt x="125658" y="74832"/>
                  <a:pt x="128859" y="74341"/>
                  <a:pt x="132163" y="74341"/>
                </a:cubicBezTo>
                <a:cubicBezTo>
                  <a:pt x="150412" y="74341"/>
                  <a:pt x="165203" y="89132"/>
                  <a:pt x="165203" y="107382"/>
                </a:cubicBezTo>
                <a:lnTo>
                  <a:pt x="165203" y="115642"/>
                </a:lnTo>
                <a:cubicBezTo>
                  <a:pt x="165203" y="120211"/>
                  <a:pt x="161512" y="123902"/>
                  <a:pt x="156943" y="123902"/>
                </a:cubicBezTo>
                <a:lnTo>
                  <a:pt x="134563" y="123902"/>
                </a:lnTo>
                <a:close/>
                <a:moveTo>
                  <a:pt x="121837" y="41301"/>
                </a:moveTo>
                <a:cubicBezTo>
                  <a:pt x="121837" y="31043"/>
                  <a:pt x="130165" y="22715"/>
                  <a:pt x="140423" y="22715"/>
                </a:cubicBezTo>
                <a:cubicBezTo>
                  <a:pt x="150680" y="22715"/>
                  <a:pt x="159008" y="31043"/>
                  <a:pt x="159008" y="41301"/>
                </a:cubicBezTo>
                <a:cubicBezTo>
                  <a:pt x="159008" y="51558"/>
                  <a:pt x="150680" y="59886"/>
                  <a:pt x="140423" y="59886"/>
                </a:cubicBezTo>
                <a:cubicBezTo>
                  <a:pt x="130165" y="59886"/>
                  <a:pt x="121837" y="51558"/>
                  <a:pt x="121837" y="41301"/>
                </a:cubicBezTo>
                <a:close/>
                <a:moveTo>
                  <a:pt x="41301" y="111512"/>
                </a:moveTo>
                <a:cubicBezTo>
                  <a:pt x="41301" y="88693"/>
                  <a:pt x="59783" y="70211"/>
                  <a:pt x="82602" y="70211"/>
                </a:cubicBezTo>
                <a:cubicBezTo>
                  <a:pt x="105420" y="70211"/>
                  <a:pt x="123902" y="88693"/>
                  <a:pt x="123902" y="111512"/>
                </a:cubicBezTo>
                <a:lnTo>
                  <a:pt x="123902" y="115642"/>
                </a:lnTo>
                <a:cubicBezTo>
                  <a:pt x="123902" y="120211"/>
                  <a:pt x="120211" y="123902"/>
                  <a:pt x="115642" y="123902"/>
                </a:cubicBezTo>
                <a:lnTo>
                  <a:pt x="49561" y="123902"/>
                </a:lnTo>
                <a:cubicBezTo>
                  <a:pt x="44992" y="123902"/>
                  <a:pt x="41301" y="120211"/>
                  <a:pt x="41301" y="115642"/>
                </a:cubicBezTo>
                <a:lnTo>
                  <a:pt x="41301" y="111512"/>
                </a:lnTo>
                <a:close/>
              </a:path>
            </a:pathLst>
          </a:custGeom>
          <a:solidFill>
            <a:srgbClr val="E87A3D"/>
          </a:solidFill>
        </p:spPr>
      </p:sp>
      <p:sp>
        <p:nvSpPr>
          <p:cNvPr id="65" name="Text 63"/>
          <p:cNvSpPr/>
          <p:nvPr/>
        </p:nvSpPr>
        <p:spPr>
          <a:xfrm>
            <a:off x="8395996" y="5467310"/>
            <a:ext cx="594732" cy="1982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b="1" dirty="0">
                <a:solidFill>
                  <a:srgbClr val="333333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业务对接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64830" y="5698490"/>
            <a:ext cx="312801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因果推断需要AB测试平台支持，提前与产品团队对齐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26199" y="6118028"/>
            <a:ext cx="11372565" cy="2312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7A3D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从相关性到因果性，从预测到决策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2126017" y="1511610"/>
            <a:ext cx="167268" cy="148683"/>
          </a:xfrm>
          <a:custGeom>
            <a:avLst/>
            <a:gdLst/>
            <a:ahLst/>
            <a:cxnLst/>
            <a:rect l="l" t="t" r="r" b="b"/>
            <a:pathLst>
              <a:path w="167268" h="148683">
                <a:moveTo>
                  <a:pt x="147928" y="28633"/>
                </a:moveTo>
                <a:cubicBezTo>
                  <a:pt x="150135" y="26426"/>
                  <a:pt x="153823" y="26978"/>
                  <a:pt x="154926" y="29882"/>
                </a:cubicBezTo>
                <a:cubicBezTo>
                  <a:pt x="156901" y="35022"/>
                  <a:pt x="157976" y="40626"/>
                  <a:pt x="157976" y="46463"/>
                </a:cubicBezTo>
                <a:cubicBezTo>
                  <a:pt x="157976" y="72134"/>
                  <a:pt x="137183" y="92927"/>
                  <a:pt x="111512" y="92927"/>
                </a:cubicBezTo>
                <a:cubicBezTo>
                  <a:pt x="106430" y="92927"/>
                  <a:pt x="101523" y="92114"/>
                  <a:pt x="96934" y="90604"/>
                </a:cubicBezTo>
                <a:lnTo>
                  <a:pt x="42659" y="144879"/>
                </a:lnTo>
                <a:cubicBezTo>
                  <a:pt x="34499" y="153039"/>
                  <a:pt x="21257" y="153039"/>
                  <a:pt x="13097" y="144879"/>
                </a:cubicBezTo>
                <a:cubicBezTo>
                  <a:pt x="4937" y="136719"/>
                  <a:pt x="4937" y="123477"/>
                  <a:pt x="13097" y="115316"/>
                </a:cubicBezTo>
                <a:lnTo>
                  <a:pt x="67372" y="61041"/>
                </a:lnTo>
                <a:cubicBezTo>
                  <a:pt x="65862" y="56453"/>
                  <a:pt x="65049" y="51574"/>
                  <a:pt x="65049" y="46463"/>
                </a:cubicBezTo>
                <a:cubicBezTo>
                  <a:pt x="65049" y="20792"/>
                  <a:pt x="85841" y="0"/>
                  <a:pt x="111512" y="0"/>
                </a:cubicBezTo>
                <a:cubicBezTo>
                  <a:pt x="117349" y="0"/>
                  <a:pt x="122954" y="1074"/>
                  <a:pt x="128094" y="3049"/>
                </a:cubicBezTo>
                <a:cubicBezTo>
                  <a:pt x="130998" y="4153"/>
                  <a:pt x="131521" y="7841"/>
                  <a:pt x="129343" y="10048"/>
                </a:cubicBezTo>
                <a:lnTo>
                  <a:pt x="103584" y="35806"/>
                </a:lnTo>
                <a:cubicBezTo>
                  <a:pt x="102713" y="36677"/>
                  <a:pt x="102220" y="37868"/>
                  <a:pt x="102220" y="39087"/>
                </a:cubicBezTo>
                <a:lnTo>
                  <a:pt x="102220" y="51110"/>
                </a:lnTo>
                <a:cubicBezTo>
                  <a:pt x="102220" y="53665"/>
                  <a:pt x="104310" y="55756"/>
                  <a:pt x="106866" y="55756"/>
                </a:cubicBezTo>
                <a:lnTo>
                  <a:pt x="118888" y="55756"/>
                </a:lnTo>
                <a:cubicBezTo>
                  <a:pt x="120108" y="55756"/>
                  <a:pt x="121299" y="55262"/>
                  <a:pt x="122170" y="54391"/>
                </a:cubicBezTo>
                <a:lnTo>
                  <a:pt x="147928" y="28633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4363775" y="3863921"/>
            <a:ext cx="3461008" cy="693854"/>
          </a:xfrm>
          <a:custGeom>
            <a:avLst/>
            <a:gdLst/>
            <a:ahLst/>
            <a:cxnLst/>
            <a:rect l="l" t="t" r="r" b="b"/>
            <a:pathLst>
              <a:path w="3461008" h="693854">
                <a:moveTo>
                  <a:pt x="66083" y="0"/>
                </a:moveTo>
                <a:lnTo>
                  <a:pt x="3394926" y="0"/>
                </a:lnTo>
                <a:cubicBezTo>
                  <a:pt x="3431422" y="0"/>
                  <a:pt x="3461008" y="29586"/>
                  <a:pt x="3461008" y="66083"/>
                </a:cubicBezTo>
                <a:lnTo>
                  <a:pt x="3461008" y="627771"/>
                </a:lnTo>
                <a:cubicBezTo>
                  <a:pt x="3461008" y="664267"/>
                  <a:pt x="3431422" y="693854"/>
                  <a:pt x="3394926" y="693854"/>
                </a:cubicBezTo>
                <a:lnTo>
                  <a:pt x="66083" y="693854"/>
                </a:lnTo>
                <a:cubicBezTo>
                  <a:pt x="29586" y="693854"/>
                  <a:pt x="0" y="664267"/>
                  <a:pt x="0" y="627771"/>
                </a:cubicBezTo>
                <a:lnTo>
                  <a:pt x="0" y="66083"/>
                </a:lnTo>
                <a:cubicBezTo>
                  <a:pt x="0" y="29611"/>
                  <a:pt x="29611" y="0"/>
                  <a:pt x="66083" y="0"/>
                </a:cubicBezTo>
                <a:close/>
              </a:path>
            </a:pathLst>
          </a:custGeom>
          <a:solidFill>
            <a:srgbClr val="F5A623">
              <a:alpha val="10196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8316595" y="2988310"/>
            <a:ext cx="298958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910" dirty="0">
                <a:solidFill>
                  <a:srgbClr val="333333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建立因果模型，区分"自然转化"与"营销触达转化"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eelOff" invX="1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2" fill="hold" grpId="2" nodeType="afterEffect">
                                  <p:stCondLst>
                                    <p:cond delay="1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100"/>
                            </p:stCondLst>
                            <p:childTnLst>
                              <p:par>
                                <p:cTn id="14" presetID="23" presetClass="entr" presetSubtype="16" fill="hold" grpId="3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dur="indefinite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" grpId="2" bldLvl="0" animBg="1" advAuto="0"/>
      <p:bldP spid="257" grpId="1" bldLvl="0" animBg="1" advAuto="0"/>
      <p:bldP spid="256" grpId="3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矩形 26"/>
          <p:cNvSpPr txBox="1"/>
          <p:nvPr/>
        </p:nvSpPr>
        <p:spPr>
          <a:xfrm>
            <a:off x="5096135" y="4138989"/>
            <a:ext cx="2147329" cy="1971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600">
                <a:solidFill>
                  <a:srgbClr val="808080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作者：代用名</a:t>
            </a:r>
          </a:p>
        </p:txBody>
      </p:sp>
      <p:sp>
        <p:nvSpPr>
          <p:cNvPr id="261" name="矩形 29"/>
          <p:cNvSpPr txBox="1"/>
          <p:nvPr/>
        </p:nvSpPr>
        <p:spPr>
          <a:xfrm>
            <a:off x="4442826" y="4463720"/>
            <a:ext cx="3303171" cy="1971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600">
                <a:solidFill>
                  <a:srgbClr val="808080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阿里巴巴网络技术有限公司</a:t>
            </a:r>
          </a:p>
        </p:txBody>
      </p:sp>
      <p:grpSp>
        <p:nvGrpSpPr>
          <p:cNvPr id="264" name="组合 53"/>
          <p:cNvGrpSpPr/>
          <p:nvPr/>
        </p:nvGrpSpPr>
        <p:grpSpPr>
          <a:xfrm>
            <a:off x="3770805" y="4256270"/>
            <a:ext cx="1641274" cy="45708"/>
            <a:chOff x="0" y="0"/>
            <a:chExt cx="1641273" cy="45706"/>
          </a:xfrm>
        </p:grpSpPr>
        <p:sp>
          <p:nvSpPr>
            <p:cNvPr id="262" name="直接连接符 54"/>
            <p:cNvSpPr/>
            <p:nvPr/>
          </p:nvSpPr>
          <p:spPr>
            <a:xfrm>
              <a:off x="-1" y="0"/>
              <a:ext cx="1641275" cy="1"/>
            </a:xfrm>
            <a:prstGeom prst="line">
              <a:avLst/>
            </a:prstGeom>
            <a:noFill/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  <p:sp>
          <p:nvSpPr>
            <p:cNvPr id="263" name="直接连接符 55"/>
            <p:cNvSpPr/>
            <p:nvPr/>
          </p:nvSpPr>
          <p:spPr>
            <a:xfrm>
              <a:off x="-1" y="45706"/>
              <a:ext cx="1641275" cy="1"/>
            </a:xfrm>
            <a:prstGeom prst="line">
              <a:avLst/>
            </a:prstGeom>
            <a:noFill/>
            <a:ln w="28575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</p:grpSp>
      <p:grpSp>
        <p:nvGrpSpPr>
          <p:cNvPr id="267" name="组合 56"/>
          <p:cNvGrpSpPr/>
          <p:nvPr/>
        </p:nvGrpSpPr>
        <p:grpSpPr>
          <a:xfrm>
            <a:off x="6927521" y="4237542"/>
            <a:ext cx="1641274" cy="45708"/>
            <a:chOff x="0" y="0"/>
            <a:chExt cx="1641273" cy="45706"/>
          </a:xfrm>
        </p:grpSpPr>
        <p:sp>
          <p:nvSpPr>
            <p:cNvPr id="265" name="直接连接符 57"/>
            <p:cNvSpPr/>
            <p:nvPr/>
          </p:nvSpPr>
          <p:spPr>
            <a:xfrm>
              <a:off x="-1" y="0"/>
              <a:ext cx="1641275" cy="1"/>
            </a:xfrm>
            <a:prstGeom prst="line">
              <a:avLst/>
            </a:prstGeom>
            <a:noFill/>
            <a:ln w="28575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  <p:sp>
          <p:nvSpPr>
            <p:cNvPr id="266" name="直接连接符 58"/>
            <p:cNvSpPr/>
            <p:nvPr/>
          </p:nvSpPr>
          <p:spPr>
            <a:xfrm>
              <a:off x="-1" y="45706"/>
              <a:ext cx="1641275" cy="1"/>
            </a:xfrm>
            <a:prstGeom prst="line">
              <a:avLst/>
            </a:prstGeom>
            <a:noFill/>
            <a:ln w="28575" cap="flat">
              <a:solidFill>
                <a:schemeClr val="accent1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/>
          </p:txBody>
        </p:sp>
      </p:grpSp>
      <p:sp>
        <p:nvSpPr>
          <p:cNvPr id="268" name="矩形 59"/>
          <p:cNvSpPr txBox="1"/>
          <p:nvPr/>
        </p:nvSpPr>
        <p:spPr>
          <a:xfrm>
            <a:off x="4592639" y="4840385"/>
            <a:ext cx="3156717" cy="19710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>
              <a:lnSpc>
                <a:spcPct val="130000"/>
              </a:lnSpc>
              <a:defRPr sz="1600">
                <a:solidFill>
                  <a:srgbClr val="808080"/>
                </a:solidFill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t>202X-10-23</a:t>
            </a:r>
          </a:p>
        </p:txBody>
      </p:sp>
      <p:grpSp>
        <p:nvGrpSpPr>
          <p:cNvPr id="271" name="组合 60"/>
          <p:cNvGrpSpPr/>
          <p:nvPr/>
        </p:nvGrpSpPr>
        <p:grpSpPr>
          <a:xfrm>
            <a:off x="3271304" y="2085686"/>
            <a:ext cx="1595612" cy="1596189"/>
            <a:chOff x="0" y="0"/>
            <a:chExt cx="1595610" cy="1596188"/>
          </a:xfrm>
        </p:grpSpPr>
        <p:sp>
          <p:nvSpPr>
            <p:cNvPr id="269" name="同心圆 61"/>
            <p:cNvSpPr/>
            <p:nvPr/>
          </p:nvSpPr>
          <p:spPr>
            <a:xfrm>
              <a:off x="0" y="-1"/>
              <a:ext cx="1595611" cy="159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54" y="10800"/>
                  </a:moveTo>
                  <a:cubicBezTo>
                    <a:pt x="1054" y="16183"/>
                    <a:pt x="5417" y="20547"/>
                    <a:pt x="10800" y="20547"/>
                  </a:cubicBezTo>
                  <a:cubicBezTo>
                    <a:pt x="16183" y="20547"/>
                    <a:pt x="20546" y="16183"/>
                    <a:pt x="20546" y="10800"/>
                  </a:cubicBezTo>
                  <a:cubicBezTo>
                    <a:pt x="20546" y="5417"/>
                    <a:pt x="16183" y="1053"/>
                    <a:pt x="10800" y="1053"/>
                  </a:cubicBezTo>
                  <a:cubicBezTo>
                    <a:pt x="5417" y="1053"/>
                    <a:pt x="1054" y="5417"/>
                    <a:pt x="1054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5000">
                  <a:srgbClr val="F2F2F2"/>
                </a:gs>
                <a:gs pos="100000">
                  <a:schemeClr val="accent3">
                    <a:lumOff val="34999"/>
                  </a:schemeClr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70" name="椭圆 62"/>
            <p:cNvSpPr/>
            <p:nvPr/>
          </p:nvSpPr>
          <p:spPr>
            <a:xfrm>
              <a:off x="34824" y="34837"/>
              <a:ext cx="1525961" cy="152651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272" name="TextBox 50"/>
          <p:cNvSpPr txBox="1"/>
          <p:nvPr/>
        </p:nvSpPr>
        <p:spPr>
          <a:xfrm>
            <a:off x="3214423" y="2430999"/>
            <a:ext cx="1675820" cy="73990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5800"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r>
              <a:t>谢</a:t>
            </a:r>
          </a:p>
        </p:txBody>
      </p:sp>
      <p:grpSp>
        <p:nvGrpSpPr>
          <p:cNvPr id="275" name="组合 64"/>
          <p:cNvGrpSpPr/>
          <p:nvPr/>
        </p:nvGrpSpPr>
        <p:grpSpPr>
          <a:xfrm>
            <a:off x="4614929" y="2085686"/>
            <a:ext cx="1595611" cy="1596189"/>
            <a:chOff x="0" y="0"/>
            <a:chExt cx="1595610" cy="1596188"/>
          </a:xfrm>
        </p:grpSpPr>
        <p:sp>
          <p:nvSpPr>
            <p:cNvPr id="273" name="同心圆 65"/>
            <p:cNvSpPr/>
            <p:nvPr/>
          </p:nvSpPr>
          <p:spPr>
            <a:xfrm>
              <a:off x="0" y="-1"/>
              <a:ext cx="1595611" cy="159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54" y="10800"/>
                  </a:moveTo>
                  <a:cubicBezTo>
                    <a:pt x="1054" y="16183"/>
                    <a:pt x="5417" y="20547"/>
                    <a:pt x="10800" y="20547"/>
                  </a:cubicBezTo>
                  <a:cubicBezTo>
                    <a:pt x="16183" y="20547"/>
                    <a:pt x="20546" y="16183"/>
                    <a:pt x="20546" y="10800"/>
                  </a:cubicBezTo>
                  <a:cubicBezTo>
                    <a:pt x="20546" y="5417"/>
                    <a:pt x="16183" y="1053"/>
                    <a:pt x="10800" y="1053"/>
                  </a:cubicBezTo>
                  <a:cubicBezTo>
                    <a:pt x="5417" y="1053"/>
                    <a:pt x="1054" y="5417"/>
                    <a:pt x="1054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5000">
                  <a:srgbClr val="F2F2F2"/>
                </a:gs>
                <a:gs pos="100000">
                  <a:schemeClr val="accent3">
                    <a:lumOff val="34999"/>
                  </a:schemeClr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74" name="椭圆 66"/>
            <p:cNvSpPr/>
            <p:nvPr/>
          </p:nvSpPr>
          <p:spPr>
            <a:xfrm>
              <a:off x="34824" y="34837"/>
              <a:ext cx="1525961" cy="152651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276" name="TextBox 54"/>
          <p:cNvSpPr txBox="1"/>
          <p:nvPr/>
        </p:nvSpPr>
        <p:spPr>
          <a:xfrm>
            <a:off x="4558048" y="2430999"/>
            <a:ext cx="1675820" cy="73990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5800">
                <a:solidFill>
                  <a:srgbClr val="414455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r>
              <a:t>谢</a:t>
            </a:r>
          </a:p>
        </p:txBody>
      </p:sp>
      <p:grpSp>
        <p:nvGrpSpPr>
          <p:cNvPr id="279" name="组合 68"/>
          <p:cNvGrpSpPr/>
          <p:nvPr/>
        </p:nvGrpSpPr>
        <p:grpSpPr>
          <a:xfrm>
            <a:off x="5862578" y="2085686"/>
            <a:ext cx="1595612" cy="1596189"/>
            <a:chOff x="0" y="0"/>
            <a:chExt cx="1595610" cy="1596188"/>
          </a:xfrm>
        </p:grpSpPr>
        <p:sp>
          <p:nvSpPr>
            <p:cNvPr id="277" name="同心圆 69"/>
            <p:cNvSpPr/>
            <p:nvPr/>
          </p:nvSpPr>
          <p:spPr>
            <a:xfrm>
              <a:off x="0" y="-1"/>
              <a:ext cx="1595611" cy="159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54" y="10800"/>
                  </a:moveTo>
                  <a:cubicBezTo>
                    <a:pt x="1054" y="16183"/>
                    <a:pt x="5417" y="20547"/>
                    <a:pt x="10800" y="20547"/>
                  </a:cubicBezTo>
                  <a:cubicBezTo>
                    <a:pt x="16183" y="20547"/>
                    <a:pt x="20546" y="16183"/>
                    <a:pt x="20546" y="10800"/>
                  </a:cubicBezTo>
                  <a:cubicBezTo>
                    <a:pt x="20546" y="5417"/>
                    <a:pt x="16183" y="1053"/>
                    <a:pt x="10800" y="1053"/>
                  </a:cubicBezTo>
                  <a:cubicBezTo>
                    <a:pt x="5417" y="1053"/>
                    <a:pt x="1054" y="5417"/>
                    <a:pt x="1054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5000">
                  <a:srgbClr val="F2F2F2"/>
                </a:gs>
                <a:gs pos="100000">
                  <a:schemeClr val="accent3">
                    <a:lumOff val="34999"/>
                  </a:schemeClr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78" name="椭圆 70"/>
            <p:cNvSpPr/>
            <p:nvPr/>
          </p:nvSpPr>
          <p:spPr>
            <a:xfrm>
              <a:off x="34824" y="34837"/>
              <a:ext cx="1525961" cy="152651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280" name="TextBox 58"/>
          <p:cNvSpPr txBox="1"/>
          <p:nvPr/>
        </p:nvSpPr>
        <p:spPr>
          <a:xfrm>
            <a:off x="5805699" y="2430999"/>
            <a:ext cx="1675820" cy="73990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5800"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r>
              <a:t>观</a:t>
            </a:r>
          </a:p>
        </p:txBody>
      </p:sp>
      <p:grpSp>
        <p:nvGrpSpPr>
          <p:cNvPr id="283" name="组合 72"/>
          <p:cNvGrpSpPr/>
          <p:nvPr/>
        </p:nvGrpSpPr>
        <p:grpSpPr>
          <a:xfrm>
            <a:off x="7206205" y="2085686"/>
            <a:ext cx="1595611" cy="1596189"/>
            <a:chOff x="0" y="0"/>
            <a:chExt cx="1595610" cy="1596188"/>
          </a:xfrm>
        </p:grpSpPr>
        <p:sp>
          <p:nvSpPr>
            <p:cNvPr id="281" name="同心圆 73"/>
            <p:cNvSpPr/>
            <p:nvPr/>
          </p:nvSpPr>
          <p:spPr>
            <a:xfrm>
              <a:off x="0" y="-1"/>
              <a:ext cx="1595611" cy="15961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054" y="10800"/>
                  </a:moveTo>
                  <a:cubicBezTo>
                    <a:pt x="1054" y="16183"/>
                    <a:pt x="5417" y="20547"/>
                    <a:pt x="10800" y="20547"/>
                  </a:cubicBezTo>
                  <a:cubicBezTo>
                    <a:pt x="16183" y="20547"/>
                    <a:pt x="20546" y="16183"/>
                    <a:pt x="20546" y="10800"/>
                  </a:cubicBezTo>
                  <a:cubicBezTo>
                    <a:pt x="20546" y="5417"/>
                    <a:pt x="16183" y="1053"/>
                    <a:pt x="10800" y="1053"/>
                  </a:cubicBezTo>
                  <a:cubicBezTo>
                    <a:pt x="5417" y="1053"/>
                    <a:pt x="1054" y="5417"/>
                    <a:pt x="1054" y="108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5000">
                  <a:srgbClr val="F2F2F2"/>
                </a:gs>
                <a:gs pos="100000">
                  <a:schemeClr val="accent3">
                    <a:lumOff val="34999"/>
                  </a:schemeClr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282" name="椭圆 74"/>
            <p:cNvSpPr/>
            <p:nvPr/>
          </p:nvSpPr>
          <p:spPr>
            <a:xfrm>
              <a:off x="34824" y="34837"/>
              <a:ext cx="1525961" cy="1526513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Off val="44000"/>
                  </a:schemeClr>
                </a:gs>
                <a:gs pos="51000">
                  <a:srgbClr val="F2F2F2"/>
                </a:gs>
                <a:gs pos="100000">
                  <a:srgbClr val="BFBFBF"/>
                </a:gs>
              </a:gsLst>
              <a:lin ang="189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chemeClr val="accent1">
                      <a:lumOff val="44000"/>
                    </a:schemeClr>
                  </a:solidFill>
                </a:defRPr>
              </a:pPr>
            </a:p>
          </p:txBody>
        </p:sp>
      </p:grpSp>
      <p:sp>
        <p:nvSpPr>
          <p:cNvPr id="284" name="TextBox 62"/>
          <p:cNvSpPr txBox="1"/>
          <p:nvPr/>
        </p:nvSpPr>
        <p:spPr>
          <a:xfrm>
            <a:off x="7149324" y="2430999"/>
            <a:ext cx="1675820" cy="73990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>
              <a:defRPr sz="5800">
                <a:solidFill>
                  <a:srgbClr val="414455"/>
                </a:solidFill>
                <a:latin typeface="Heiti SC Medium"/>
                <a:ea typeface="Heiti SC Medium"/>
                <a:cs typeface="Heiti SC Medium"/>
                <a:sym typeface="Heiti SC Medium"/>
              </a:defRPr>
            </a:lvl1pPr>
          </a:lstStyle>
          <a:p>
            <a:r>
              <a:t>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0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2" nodeType="afterEffect">
                                  <p:stCondLst>
                                    <p:cond delay="2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indefinite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3" presetClass="entr" presetSubtype="16" fill="hold" grpId="3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indefinite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grpId="4" nodeType="afterEffect">
                                  <p:stCondLst>
                                    <p:cond delay="7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dur="indefinite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ntr" presetSubtype="4" fill="hold" grpId="5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dur="indefinite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" presetClass="entr" presetSubtype="4" fill="hold" grpId="6" nodeType="afterEffect">
                                  <p:stCondLst>
                                    <p:cond delay="2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dur="indefinite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750"/>
                            </p:stCondLst>
                            <p:childTnLst>
                              <p:par>
                                <p:cTn id="35" presetID="2" presetClass="entr" presetSubtype="4" fill="hold" grpId="7" nodeType="afterEffect">
                                  <p:stCondLst>
                                    <p:cond delay="5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dur="indefinite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50"/>
                            </p:stCondLst>
                            <p:childTnLst>
                              <p:par>
                                <p:cTn id="40" presetID="2" presetClass="entr" presetSubtype="4" fill="hold" grpId="8" nodeType="afterEffect">
                                  <p:stCondLst>
                                    <p:cond delay="75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dur="indefinite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" presetClass="entr" presetSubtype="8" fill="hold" grpId="9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dur="indefinite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500"/>
                            </p:stCondLst>
                            <p:childTnLst>
                              <p:par>
                                <p:cTn id="50" presetID="2" presetClass="entr" presetSubtype="2" fill="hold" grpId="10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8000"/>
                            </p:stCondLst>
                            <p:childTnLst>
                              <p:par>
                                <p:cTn id="55" presetID="22" presetClass="entr" presetSubtype="8" fill="hold" grpId="11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dur="indefinite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500"/>
                            </p:stCondLst>
                            <p:childTnLst>
                              <p:par>
                                <p:cTn id="59" presetID="2" presetClass="entr" presetSubtype="4" fill="hold" grpId="12" nodeType="afterEffect">
                                  <p:stCondLst>
                                    <p:cond delay="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dur="indefinite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9000"/>
                            </p:stCondLst>
                            <p:childTnLst>
                              <p:par>
                                <p:cTn id="64" presetID="10" presetClass="entr" presetSubtype="0" fill="hold" grpId="13" nodeType="afterEffect">
                                  <p:stCondLst>
                                    <p:cond delay="400"/>
                                  </p:stCondLst>
                                  <p:iterate type="el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dur="indefinite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7" animBg="1" advAuto="0"/>
      <p:bldP spid="272" grpId="5" animBg="1" advAuto="0"/>
      <p:bldP spid="260" grpId="11" animBg="1" advAuto="0"/>
      <p:bldP spid="283" grpId="4" animBg="1" advAuto="0"/>
      <p:bldP spid="276" grpId="6" animBg="1" advAuto="0"/>
      <p:bldP spid="279" grpId="3" animBg="1" advAuto="0"/>
      <p:bldP spid="267" grpId="10" animBg="1" advAuto="0"/>
      <p:bldP spid="261" grpId="12" animBg="1" advAuto="0"/>
      <p:bldP spid="264" grpId="9" animBg="1" advAuto="0"/>
      <p:bldP spid="284" grpId="8" animBg="1" advAuto="0"/>
      <p:bldP spid="271" grpId="1" animBg="1" advAuto="0"/>
      <p:bldP spid="275" grpId="2" animBg="1" advAuto="0"/>
      <p:bldP spid="268" grpId="13" animBg="1" advAuto="0"/>
    </p:bld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FFFFFF"/>
      </a:dk1>
      <a:lt1>
        <a:srgbClr val="F26F20"/>
      </a:lt1>
      <a:dk2>
        <a:srgbClr val="A7A7A7"/>
      </a:dk2>
      <a:lt2>
        <a:srgbClr val="535353"/>
      </a:lt2>
      <a:accent1>
        <a:srgbClr val="8F8F8F"/>
      </a:accent1>
      <a:accent2>
        <a:srgbClr val="6E6E6E"/>
      </a:accent2>
      <a:accent3>
        <a:srgbClr val="4D4D4D"/>
      </a:accent3>
      <a:accent4>
        <a:srgbClr val="2B2B2B"/>
      </a:accent4>
      <a:accent5>
        <a:srgbClr val="0A0A0A"/>
      </a:accent5>
      <a:accent6>
        <a:srgbClr val="000000"/>
      </a:accent6>
      <a:hlink>
        <a:srgbClr val="0000FF"/>
      </a:hlink>
      <a:folHlink>
        <a:srgbClr val="FF00FF"/>
      </a:folHlink>
    </a:clrScheme>
    <a:fontScheme name="Office 主题​​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chemeClr val="accent6">
                <a:alpha val="35000"/>
              </a:schemeClr>
            </a:outerShdw>
          </a:effectLst>
        </a:effectStyle>
        <a:effectStyle>
          <a:effectLst>
            <a:outerShdw blurRad="38100" dist="23000" dir="5400000" rotWithShape="0">
              <a:schemeClr val="accent6">
                <a:alpha val="35000"/>
              </a:schemeClr>
            </a:outerShdw>
          </a:effectLst>
        </a:effectStyle>
        <a:effectStyle>
          <a:effectLst>
            <a:outerShdw blurRad="38100" dist="20000" dir="5400000" rotWithShape="0">
              <a:schemeClr val="accent6">
                <a:alpha val="38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3000" dir="5400000" rotWithShape="0">
            <a:schemeClr val="accent6">
              <a:alpha val="35000"/>
            </a:scheme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26F2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0000" dir="5400000" rotWithShape="0">
            <a:schemeClr val="accent6">
              <a:alpha val="38000"/>
            </a:scheme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26F2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8F8F8F"/>
      </a:accent1>
      <a:accent2>
        <a:srgbClr val="6E6E6E"/>
      </a:accent2>
      <a:accent3>
        <a:srgbClr val="4D4D4D"/>
      </a:accent3>
      <a:accent4>
        <a:srgbClr val="2B2B2B"/>
      </a:accent4>
      <a:accent5>
        <a:srgbClr val="0A0A0A"/>
      </a:accent5>
      <a:accent6>
        <a:srgbClr val="000000"/>
      </a:accent6>
      <a:hlink>
        <a:srgbClr val="0000FF"/>
      </a:hlink>
      <a:folHlink>
        <a:srgbClr val="FF00FF"/>
      </a:folHlink>
    </a:clrScheme>
    <a:fontScheme name="Office 主题​​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chemeClr val="accent6">
                <a:alpha val="35000"/>
              </a:schemeClr>
            </a:outerShdw>
          </a:effectLst>
        </a:effectStyle>
        <a:effectStyle>
          <a:effectLst>
            <a:outerShdw blurRad="38100" dist="23000" dir="5400000" rotWithShape="0">
              <a:schemeClr val="accent6">
                <a:alpha val="35000"/>
              </a:schemeClr>
            </a:outerShdw>
          </a:effectLst>
        </a:effectStyle>
        <a:effectStyle>
          <a:effectLst>
            <a:outerShdw blurRad="38100" dist="20000" dir="5400000" rotWithShape="0">
              <a:schemeClr val="accent6">
                <a:alpha val="38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44000"/>
          </a:schemeClr>
        </a:solidFill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3000" dir="5400000" rotWithShape="0">
            <a:schemeClr val="accent6">
              <a:alpha val="35000"/>
            </a:scheme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26F2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>
              <a:lumOff val="44000"/>
            </a:schemeClr>
          </a:solidFill>
          <a:prstDash val="solid"/>
          <a:round/>
        </a:ln>
        <a:effectLst>
          <a:outerShdw blurRad="38100" dist="20000" dir="5400000" rotWithShape="0">
            <a:schemeClr val="accent6">
              <a:alpha val="38000"/>
            </a:scheme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F26F2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4143</Words>
  <Application>WPS 演示</Application>
  <PresentationFormat/>
  <Paragraphs>834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53" baseType="lpstr">
      <vt:lpstr>Arial</vt:lpstr>
      <vt:lpstr>宋体</vt:lpstr>
      <vt:lpstr>Wingdings</vt:lpstr>
      <vt:lpstr>Calibri</vt:lpstr>
      <vt:lpstr>Arial</vt:lpstr>
      <vt:lpstr>Calibri Light</vt:lpstr>
      <vt:lpstr>Heiti SC Light</vt:lpstr>
      <vt:lpstr>微软雅黑</vt:lpstr>
      <vt:lpstr>Heiti SC Medium</vt:lpstr>
      <vt:lpstr>MiSans</vt:lpstr>
      <vt:lpstr>MiSans</vt:lpstr>
      <vt:lpstr>Noto Sans SC</vt:lpstr>
      <vt:lpstr>Noto Sans SC</vt:lpstr>
      <vt:lpstr>微软雅黑</vt:lpstr>
      <vt:lpstr>Liter</vt:lpstr>
      <vt:lpstr>Liter</vt:lpstr>
      <vt:lpstr>Liter</vt:lpstr>
      <vt:lpstr>Arial Unicode MS</vt:lpstr>
      <vt:lpstr>Alimama ShuHeiTi</vt:lpstr>
      <vt:lpstr>Alimama ShuHeiTi</vt:lpstr>
      <vt:lpstr>DejaVu Math TeX Gyre</vt:lpstr>
      <vt:lpstr>MingLiU-ExtB</vt:lpstr>
      <vt:lpstr>Helvetica</vt:lpstr>
      <vt:lpstr>PMingLiU-ExtB</vt:lpstr>
      <vt:lpstr>Alimama ShuHeiTi</vt:lpstr>
      <vt:lpstr>Calibri</vt:lpstr>
      <vt:lpstr>Calibri Light</vt:lpstr>
      <vt:lpstr>Heiti SC Light</vt:lpstr>
      <vt:lpstr>Heiti SC Medium</vt:lpstr>
      <vt:lpstr>MiSans</vt:lpstr>
      <vt:lpstr>Segoe Print</vt:lpstr>
      <vt:lpstr>Windsor Std Light</vt:lpstr>
      <vt:lpstr>Mona Medium</vt:lpstr>
      <vt:lpstr>Helvetica LT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tay</cp:lastModifiedBy>
  <cp:revision>15</cp:revision>
  <dcterms:created xsi:type="dcterms:W3CDTF">2026-04-01T04:39:00Z</dcterms:created>
  <dcterms:modified xsi:type="dcterms:W3CDTF">2026-04-06T15:04:21Z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119C5065409C430188F478F148C347E1_13</vt:lpwstr>
  </property>
</Properties>
</file>